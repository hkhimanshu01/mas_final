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09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7150" cy="6096000"/>
          </a:xfrm>
          <a:prstGeom prst="rect">
            <a:avLst/>
          </a:prstGeom>
          <a:gradFill flip="none" rotWithShape="1">
            <a:gsLst>
              <a:gs pos="0">
                <a:srgbClr val="44546A"/>
              </a:gs>
              <a:gs pos="100000">
                <a:srgbClr val="4472C4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3400" y="304800"/>
            <a:ext cx="66675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>
                <a:solidFill>
                  <a:srgbClr val="44546A"/>
                </a:solidFill>
                <a:latin typeface="Inter"/>
              </a:rPr>
              <a:t>RCA Multi-Agent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09600"/>
            <a:ext cx="85725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dirty="0">
                <a:solidFill>
                  <a:srgbClr val="7B8794"/>
                </a:solidFill>
                <a:latin typeface="Inter"/>
              </a:rPr>
              <a:t>Diagnoses bugs, proposes the fix, verifies with tests. Projected savings: </a:t>
            </a:r>
            <a:r>
              <a:rPr sz="1100" b="1" dirty="0">
                <a:solidFill>
                  <a:srgbClr val="2E5BAC"/>
                </a:solidFill>
                <a:latin typeface="Inter"/>
              </a:rPr>
              <a:t>~15% of a developer's annual salary</a:t>
            </a:r>
            <a:r>
              <a:rPr sz="1100" dirty="0">
                <a:solidFill>
                  <a:srgbClr val="7B8794"/>
                </a:solidFill>
                <a:latin typeface="Inter"/>
              </a:rPr>
              <a:t>.</a:t>
            </a:r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2FF8B669-BA2B-F88C-D7C7-05B1290BADB9}"/>
              </a:ext>
            </a:extLst>
          </p:cNvPr>
          <p:cNvGrpSpPr/>
          <p:nvPr/>
        </p:nvGrpSpPr>
        <p:grpSpPr>
          <a:xfrm>
            <a:off x="8989565" y="365973"/>
            <a:ext cx="2769695" cy="342900"/>
            <a:chOff x="9001957" y="419100"/>
            <a:chExt cx="2769695" cy="342900"/>
          </a:xfrm>
        </p:grpSpPr>
        <p:sp>
          <p:nvSpPr>
            <p:cNvPr id="5" name="Rounded Rectangle 4"/>
            <p:cNvSpPr/>
            <p:nvPr/>
          </p:nvSpPr>
          <p:spPr>
            <a:xfrm>
              <a:off x="9001957" y="419100"/>
              <a:ext cx="2656643" cy="342900"/>
            </a:xfrm>
            <a:prstGeom prst="roundRect">
              <a:avLst>
                <a:gd name="adj" fmla="val 16666"/>
              </a:avLst>
            </a:prstGeom>
            <a:gradFill flip="none" rotWithShape="1">
              <a:gsLst>
                <a:gs pos="0">
                  <a:srgbClr val="EAF1FB"/>
                </a:gs>
                <a:gs pos="100000">
                  <a:srgbClr val="D9E6F7"/>
                </a:gs>
              </a:gsLst>
              <a:lin ang="8100000" scaled="0"/>
            </a:gradFill>
            <a:ln w="12700"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>
                <a:latin typeface="Inter"/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9088654" y="561745"/>
              <a:ext cx="57150" cy="57150"/>
            </a:xfrm>
            <a:prstGeom prst="ellipse">
              <a:avLst/>
            </a:prstGeom>
            <a:solidFill>
              <a:srgbClr val="70AD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>
                <a:latin typeface="Inter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27229" y="467511"/>
              <a:ext cx="2544423" cy="2385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700" b="1" spc="150" dirty="0">
                  <a:solidFill>
                    <a:srgbClr val="4472C4"/>
                  </a:solidFill>
                  <a:latin typeface="Inter"/>
                </a:rPr>
                <a:t>VALIDATED</a:t>
              </a:r>
            </a:p>
            <a:p>
              <a:pPr algn="l"/>
              <a:r>
                <a:rPr sz="850" b="1" dirty="0">
                  <a:solidFill>
                    <a:srgbClr val="44546A"/>
                  </a:solidFill>
                  <a:latin typeface="Inter"/>
                </a:rPr>
                <a:t>Tested on complex, buggy</a:t>
              </a:r>
              <a:r>
                <a:rPr lang="en-US" sz="850" b="1" dirty="0">
                  <a:solidFill>
                    <a:srgbClr val="44546A"/>
                  </a:solidFill>
                  <a:latin typeface="Inter"/>
                </a:rPr>
                <a:t> </a:t>
              </a:r>
              <a:r>
                <a:rPr sz="850" b="1" dirty="0">
                  <a:solidFill>
                    <a:srgbClr val="44546A"/>
                  </a:solidFill>
                  <a:latin typeface="Inter"/>
                </a:rPr>
                <a:t>open-source GitHub repos</a:t>
              </a:r>
            </a:p>
          </p:txBody>
        </p:sp>
      </p:grpSp>
      <p:sp>
        <p:nvSpPr>
          <p:cNvPr id="8" name="Rounded Rectangle 7"/>
          <p:cNvSpPr/>
          <p:nvPr/>
        </p:nvSpPr>
        <p:spPr>
          <a:xfrm>
            <a:off x="533400" y="838200"/>
            <a:ext cx="2895600" cy="4381500"/>
          </a:xfrm>
          <a:prstGeom prst="roundRect">
            <a:avLst>
              <a:gd name="adj" fmla="val 3947"/>
            </a:avLst>
          </a:prstGeom>
          <a:gradFill flip="none" rotWithShape="1">
            <a:gsLst>
              <a:gs pos="0">
                <a:srgbClr val="F3F4F8"/>
              </a:gs>
              <a:gs pos="100000">
                <a:srgbClr val="FFFFFF"/>
              </a:gs>
            </a:gsLst>
            <a:lin ang="10800000" scaled="0"/>
          </a:gradFill>
          <a:ln w="19050">
            <a:solidFill>
              <a:srgbClr val="B4B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990600"/>
            <a:ext cx="2590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spc="150">
                <a:solidFill>
                  <a:srgbClr val="6B7280"/>
                </a:solidFill>
                <a:latin typeface="Inter"/>
              </a:rPr>
              <a:t>OPTION 1: 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143000"/>
            <a:ext cx="1600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44546A"/>
                </a:solidFill>
                <a:latin typeface="Inter"/>
              </a:rPr>
              <a:t>Developer alone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052096"/>
            <a:ext cx="762000" cy="33855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200" b="1">
                <a:solidFill>
                  <a:srgbClr val="6B7280"/>
                </a:solidFill>
                <a:latin typeface="Inter"/>
              </a:rPr>
              <a:t>75</a:t>
            </a:r>
            <a:r>
              <a:rPr sz="900" b="1">
                <a:solidFill>
                  <a:srgbClr val="7B8794"/>
                </a:solidFill>
                <a:latin typeface="Inter"/>
              </a:rPr>
              <a:t>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6750" y="1409700"/>
            <a:ext cx="26289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562350" y="838200"/>
            <a:ext cx="2895600" cy="4381500"/>
          </a:xfrm>
          <a:prstGeom prst="roundRect">
            <a:avLst>
              <a:gd name="adj" fmla="val 3947"/>
            </a:avLst>
          </a:prstGeom>
          <a:gradFill flip="none" rotWithShape="1">
            <a:gsLst>
              <a:gs pos="0">
                <a:srgbClr val="EEF3FB"/>
              </a:gs>
              <a:gs pos="100000">
                <a:srgbClr val="FFFFFF"/>
              </a:gs>
            </a:gsLst>
            <a:lin ang="10800000" scaled="0"/>
          </a:gradFill>
          <a:ln w="19050"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14750" y="990600"/>
            <a:ext cx="2590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spc="150">
                <a:solidFill>
                  <a:srgbClr val="5B7CB8"/>
                </a:solidFill>
                <a:latin typeface="Inter"/>
              </a:rPr>
              <a:t>OPTION 2: VIBE 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4750" y="1143000"/>
            <a:ext cx="16002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44546A"/>
                </a:solidFill>
                <a:latin typeface="Inter"/>
              </a:rPr>
              <a:t>Dev + Claude Code (free-form)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43550" y="1052096"/>
            <a:ext cx="762000" cy="33855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200" b="1">
                <a:solidFill>
                  <a:srgbClr val="5B7CB8"/>
                </a:solidFill>
                <a:latin typeface="Inter"/>
              </a:rPr>
              <a:t>40</a:t>
            </a:r>
            <a:r>
              <a:rPr sz="900" b="1">
                <a:solidFill>
                  <a:srgbClr val="7B8794"/>
                </a:solidFill>
                <a:latin typeface="Inter"/>
              </a:rPr>
              <a:t>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95700" y="1409700"/>
            <a:ext cx="26289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591300" y="838200"/>
            <a:ext cx="5067300" cy="4381500"/>
          </a:xfrm>
          <a:prstGeom prst="roundRect">
            <a:avLst>
              <a:gd name="adj" fmla="val 2608"/>
            </a:avLst>
          </a:prstGeom>
          <a:gradFill flip="none" rotWithShape="1">
            <a:gsLst>
              <a:gs pos="0">
                <a:srgbClr val="DCE7F7"/>
              </a:gs>
              <a:gs pos="100000">
                <a:srgbClr val="FFFFFF"/>
              </a:gs>
            </a:gsLst>
            <a:lin ang="10800000" scaled="0"/>
          </a:gra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43700" y="990600"/>
            <a:ext cx="47625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spc="150">
                <a:solidFill>
                  <a:srgbClr val="2E5BAC"/>
                </a:solidFill>
                <a:latin typeface="Inter"/>
              </a:rPr>
              <a:t>OPTION 3: AGENTIC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3700" y="1143000"/>
            <a:ext cx="295275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44546A"/>
                </a:solidFill>
                <a:latin typeface="Inter"/>
              </a:rPr>
              <a:t>Purpose-built RCA multi-agent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1052096"/>
            <a:ext cx="762000" cy="33855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200" b="1">
                <a:solidFill>
                  <a:srgbClr val="2E5BAC"/>
                </a:solidFill>
                <a:latin typeface="Inter"/>
              </a:rPr>
              <a:t>5</a:t>
            </a:r>
            <a:r>
              <a:rPr sz="900" b="1">
                <a:solidFill>
                  <a:srgbClr val="7B8794"/>
                </a:solidFill>
                <a:latin typeface="Inter"/>
              </a:rPr>
              <a:t> min dev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4650" y="1409700"/>
            <a:ext cx="4800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743700" y="1485900"/>
            <a:ext cx="1085850" cy="171450"/>
          </a:xfrm>
          <a:prstGeom prst="roundRect">
            <a:avLst>
              <a:gd name="adj" fmla="val 22222"/>
            </a:avLst>
          </a:prstGeom>
          <a:solidFill>
            <a:srgbClr val="DCE7F7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43700" y="1513917"/>
            <a:ext cx="108585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spc="40">
                <a:solidFill>
                  <a:srgbClr val="2E5BAC"/>
                </a:solidFill>
                <a:latin typeface="Inter"/>
              </a:rPr>
              <a:t>Auto-Triggered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7650" y="1485900"/>
            <a:ext cx="1352550" cy="171450"/>
          </a:xfrm>
          <a:prstGeom prst="roundRect">
            <a:avLst>
              <a:gd name="adj" fmla="val 22222"/>
            </a:avLst>
          </a:prstGeom>
          <a:solidFill>
            <a:srgbClr val="DCE7F7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67650" y="1513917"/>
            <a:ext cx="135255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spc="40">
                <a:solidFill>
                  <a:srgbClr val="2E5BAC"/>
                </a:solidFill>
                <a:latin typeface="Inter"/>
              </a:rPr>
              <a:t>Engineered Context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58300" y="1485900"/>
            <a:ext cx="1352550" cy="171450"/>
          </a:xfrm>
          <a:prstGeom prst="roundRect">
            <a:avLst>
              <a:gd name="adj" fmla="val 22222"/>
            </a:avLst>
          </a:prstGeom>
          <a:solidFill>
            <a:srgbClr val="DCE7F7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258300" y="1513917"/>
            <a:ext cx="135255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spc="40">
                <a:solidFill>
                  <a:srgbClr val="2E5BAC"/>
                </a:solidFill>
                <a:latin typeface="Inter"/>
              </a:rPr>
              <a:t>Specialised Agents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43700" y="1695450"/>
            <a:ext cx="1419225" cy="171450"/>
          </a:xfrm>
          <a:prstGeom prst="roundRect">
            <a:avLst>
              <a:gd name="adj" fmla="val 22222"/>
            </a:avLst>
          </a:prstGeom>
          <a:solidFill>
            <a:srgbClr val="DCE7F7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43700" y="1723467"/>
            <a:ext cx="1419225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spc="40">
                <a:solidFill>
                  <a:srgbClr val="2E5BAC"/>
                </a:solidFill>
                <a:latin typeface="Inter"/>
              </a:rPr>
              <a:t>Built-in Guardrails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6750" y="1485900"/>
            <a:ext cx="26289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23900" y="153352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23900" y="1559153"/>
            <a:ext cx="2667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Inter"/>
              </a:rPr>
              <a:t>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6800" y="1533525"/>
            <a:ext cx="156210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Read bug report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6800" y="166687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Inter"/>
              </a:rPr>
              <a:t>Pick up the QA ticket.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62250" y="158115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F3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762250" y="1597625"/>
            <a:ext cx="47625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Inter"/>
              </a:rPr>
              <a:t>5 min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6750" y="1924050"/>
            <a:ext cx="26289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23900" y="197167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23900" y="1997303"/>
            <a:ext cx="2667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Inter"/>
              </a:rPr>
              <a:t>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6800" y="1971675"/>
            <a:ext cx="156210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Investigate codebase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6800" y="210502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Inter"/>
              </a:rPr>
              <a:t>Hunts the cause across files.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62250" y="201930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F3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762250" y="2035775"/>
            <a:ext cx="47625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Inter"/>
              </a:rPr>
              <a:t>45 min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6750" y="2362200"/>
            <a:ext cx="26289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723900" y="240982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23900" y="2435453"/>
            <a:ext cx="2667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Inter"/>
              </a:rPr>
              <a:t>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6800" y="2409825"/>
            <a:ext cx="156210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Write the fix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6800" y="254317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Inter"/>
              </a:rPr>
              <a:t>Makes the code change.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62250" y="245745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F3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762250" y="2473925"/>
            <a:ext cx="47625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Inter"/>
              </a:rPr>
              <a:t>15 min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6750" y="2800350"/>
            <a:ext cx="26289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723900" y="284797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23900" y="2873603"/>
            <a:ext cx="2667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Inter"/>
              </a:rPr>
              <a:t>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6800" y="2847975"/>
            <a:ext cx="156210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Test the fix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6800" y="298132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Inter"/>
              </a:rPr>
              <a:t>Runs tests to confirm.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62250" y="289560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F3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762250" y="2912075"/>
            <a:ext cx="47625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Inter"/>
              </a:rPr>
              <a:t>10 min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695700" y="1485900"/>
            <a:ext cx="26289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3752850" y="153352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D9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752850" y="1559153"/>
            <a:ext cx="2667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Inter"/>
              </a:rPr>
              <a:t>📝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95750" y="1533525"/>
            <a:ext cx="156210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Read bug report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95750" y="166687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Inter"/>
              </a:rPr>
              <a:t>Pick up the QA ticket.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791200" y="158115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791200" y="1597625"/>
            <a:ext cx="47625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5B7CB8"/>
                </a:solidFill>
                <a:latin typeface="Inter"/>
              </a:rPr>
              <a:t>3 min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695700" y="1924050"/>
            <a:ext cx="26289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3752850" y="197167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D9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752850" y="1997303"/>
            <a:ext cx="2667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Inter"/>
              </a:rPr>
              <a:t>💬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95750" y="1971675"/>
            <a:ext cx="156210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Prompt &amp; investigate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95750" y="210502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Inter"/>
              </a:rPr>
              <a:t>Dev guides the AI turn by turn.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791200" y="201930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791200" y="2035775"/>
            <a:ext cx="47625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5B7CB8"/>
                </a:solidFill>
                <a:latin typeface="Inter"/>
              </a:rPr>
              <a:t>25 min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695700" y="2362200"/>
            <a:ext cx="26289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3752850" y="240982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D9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752850" y="2435453"/>
            <a:ext cx="2667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Inter"/>
              </a:rPr>
              <a:t>🔧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95750" y="2409825"/>
            <a:ext cx="156210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dirty="0">
                <a:solidFill>
                  <a:srgbClr val="44546A"/>
                </a:solidFill>
                <a:latin typeface="Inter"/>
              </a:rPr>
              <a:t>Write the fix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95750" y="254317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Inter"/>
              </a:rPr>
              <a:t>Dev refines the AI draft.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791200" y="245745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5791200" y="2473925"/>
            <a:ext cx="47625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5B7CB8"/>
                </a:solidFill>
                <a:latin typeface="Inter"/>
              </a:rPr>
              <a:t>7 min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213EE59D-93DF-164B-C3CB-62BAEFA682AE}"/>
              </a:ext>
            </a:extLst>
          </p:cNvPr>
          <p:cNvGrpSpPr/>
          <p:nvPr/>
        </p:nvGrpSpPr>
        <p:grpSpPr>
          <a:xfrm>
            <a:off x="3695700" y="3276600"/>
            <a:ext cx="2628900" cy="304800"/>
            <a:chOff x="3695700" y="3276600"/>
            <a:chExt cx="2628900" cy="304800"/>
          </a:xfrm>
        </p:grpSpPr>
        <p:sp>
          <p:nvSpPr>
            <p:cNvPr id="87" name="Rounded Rectangle 86"/>
            <p:cNvSpPr/>
            <p:nvPr/>
          </p:nvSpPr>
          <p:spPr>
            <a:xfrm>
              <a:off x="3695700" y="3276600"/>
              <a:ext cx="2628900" cy="304800"/>
            </a:xfrm>
            <a:prstGeom prst="roundRect">
              <a:avLst>
                <a:gd name="adj" fmla="val 12500"/>
              </a:avLst>
            </a:prstGeom>
            <a:solidFill>
              <a:srgbClr val="EEF3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>
                <a:latin typeface="Inter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3771900" y="3314700"/>
              <a:ext cx="2495550" cy="2476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1" dirty="0">
                  <a:solidFill>
                    <a:srgbClr val="44546A"/>
                  </a:solidFill>
                  <a:latin typeface="Inter"/>
                </a:rPr>
                <a:t>The catch: </a:t>
              </a:r>
              <a:r>
                <a:rPr sz="800" dirty="0">
                  <a:solidFill>
                    <a:srgbClr val="44546A"/>
                  </a:solidFill>
                  <a:latin typeface="Inter"/>
                </a:rPr>
                <a:t>dev prompts ad-hoc, AI has no structure. On large repos it wanders and stalls.</a:t>
              </a:r>
            </a:p>
          </p:txBody>
        </p:sp>
      </p:grpSp>
      <p:sp>
        <p:nvSpPr>
          <p:cNvPr id="90" name="Rounded Rectangle 89"/>
          <p:cNvSpPr/>
          <p:nvPr/>
        </p:nvSpPr>
        <p:spPr>
          <a:xfrm>
            <a:off x="6724650" y="1943100"/>
            <a:ext cx="48006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6781800" y="199072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6781800" y="2016353"/>
            <a:ext cx="2667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Inter"/>
              </a:rPr>
              <a:t>📝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124700" y="1990725"/>
            <a:ext cx="373380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Hand bug to the agent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124700" y="21240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Inter"/>
              </a:rPr>
              <a:t>Drop the QA report into the tool.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991850" y="203835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DCE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991850" y="2054825"/>
            <a:ext cx="47625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5BAC"/>
                </a:solidFill>
                <a:latin typeface="Inter"/>
              </a:rPr>
              <a:t>1 min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724650" y="2381250"/>
            <a:ext cx="4800600" cy="1333500"/>
          </a:xfrm>
          <a:prstGeom prst="roundRect">
            <a:avLst>
              <a:gd name="adj" fmla="val 5714"/>
            </a:avLst>
          </a:prstGeom>
          <a:solidFill>
            <a:srgbClr val="EAF1FB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6781800" y="242887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781800" y="2454503"/>
            <a:ext cx="2667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Inter"/>
              </a:rPr>
              <a:t>🤖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124700" y="2438400"/>
            <a:ext cx="384810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Agent investigates, fixes &amp; tests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0991850" y="245745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DCE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10991850" y="2473925"/>
            <a:ext cx="47625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5BAC"/>
                </a:solidFill>
                <a:latin typeface="Inter"/>
              </a:rPr>
              <a:t>9 min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838950" y="2667000"/>
            <a:ext cx="4572000" cy="1905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BDD7EE"/>
              </a:gs>
              <a:gs pos="100000">
                <a:srgbClr val="8FAADC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6934200" y="2696847"/>
            <a:ext cx="438150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44546A"/>
                </a:solidFill>
                <a:latin typeface="Inter"/>
              </a:rPr>
              <a:t>QA Bug › Investigate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934200" y="2704542"/>
            <a:ext cx="438150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>
                <a:solidFill>
                  <a:srgbClr val="44546A"/>
                </a:solidFill>
                <a:latin typeface="Inter"/>
              </a:rPr>
              <a:t>whole repo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343775" y="2876550"/>
            <a:ext cx="3562350" cy="1905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8FAADC"/>
              </a:gs>
              <a:gs pos="100000">
                <a:srgbClr val="5B9BD5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7439025" y="2906397"/>
            <a:ext cx="337185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Inter"/>
              </a:rPr>
              <a:t>Diagnose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439025" y="2914092"/>
            <a:ext cx="337185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>
                <a:solidFill>
                  <a:srgbClr val="FFFFFF"/>
                </a:solidFill>
                <a:latin typeface="Inter"/>
              </a:rPr>
              <a:t>suspect files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658100" y="3086100"/>
            <a:ext cx="2924175" cy="1905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5B9BD5"/>
              </a:gs>
              <a:gs pos="100000">
                <a:srgbClr val="4472C4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7753350" y="3115947"/>
            <a:ext cx="2733675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Inter"/>
              </a:rPr>
              <a:t>Fix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753350" y="3123642"/>
            <a:ext cx="2733675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>
                <a:solidFill>
                  <a:srgbClr val="FFFFFF"/>
                </a:solidFill>
                <a:latin typeface="Inter"/>
              </a:rPr>
              <a:t>root cause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981950" y="3295650"/>
            <a:ext cx="2286000" cy="1905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4472C4"/>
              </a:gs>
              <a:gs pos="100000">
                <a:srgbClr val="2E5BAC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8077200" y="3325497"/>
            <a:ext cx="209550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Inter"/>
              </a:rPr>
              <a:t>Verify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77200" y="3333192"/>
            <a:ext cx="209550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>
                <a:solidFill>
                  <a:srgbClr val="FFFFFF"/>
                </a:solidFill>
                <a:latin typeface="Inter"/>
              </a:rPr>
              <a:t>tests pass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724650" y="3790950"/>
            <a:ext cx="48006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116" name="Rounded Rectangle 115"/>
          <p:cNvSpPr/>
          <p:nvPr/>
        </p:nvSpPr>
        <p:spPr>
          <a:xfrm>
            <a:off x="6781800" y="383857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6781800" y="3864203"/>
            <a:ext cx="2667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Inter"/>
              </a:rPr>
              <a:t>📋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124700" y="3838575"/>
            <a:ext cx="373380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dirty="0">
                <a:solidFill>
                  <a:srgbClr val="44546A"/>
                </a:solidFill>
                <a:latin typeface="Inter"/>
              </a:rPr>
              <a:t>Dev reviews the report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124700" y="397192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dirty="0">
                <a:solidFill>
                  <a:srgbClr val="7B8794"/>
                </a:solidFill>
                <a:latin typeface="Inter"/>
              </a:rPr>
              <a:t>Reads findings, approves the fix.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0991850" y="388620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DCE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10991850" y="3902675"/>
            <a:ext cx="47625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5BAC"/>
                </a:solidFill>
                <a:latin typeface="Inter"/>
              </a:rPr>
              <a:t>3 min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781800" y="427672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127" name="Rounded Rectangle 126"/>
          <p:cNvSpPr/>
          <p:nvPr/>
        </p:nvSpPr>
        <p:spPr>
          <a:xfrm>
            <a:off x="10991850" y="432435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DCE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F6E70DFA-29AE-0DC0-1DE3-95EA2BE11C68}"/>
              </a:ext>
            </a:extLst>
          </p:cNvPr>
          <p:cNvGrpSpPr/>
          <p:nvPr/>
        </p:nvGrpSpPr>
        <p:grpSpPr>
          <a:xfrm>
            <a:off x="6724650" y="4229100"/>
            <a:ext cx="4800600" cy="361950"/>
            <a:chOff x="6724650" y="4229100"/>
            <a:chExt cx="4800600" cy="361950"/>
          </a:xfrm>
        </p:grpSpPr>
        <p:sp>
          <p:nvSpPr>
            <p:cNvPr id="122" name="Rounded Rectangle 121"/>
            <p:cNvSpPr/>
            <p:nvPr/>
          </p:nvSpPr>
          <p:spPr>
            <a:xfrm>
              <a:off x="6724650" y="4229100"/>
              <a:ext cx="4800600" cy="361950"/>
            </a:xfrm>
            <a:prstGeom prst="roundRect">
              <a:avLst>
                <a:gd name="adj" fmla="val 21052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>
                <a:latin typeface="Inter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6781800" y="4302353"/>
              <a:ext cx="266700" cy="2154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>
                  <a:latin typeface="Inter"/>
                </a:rPr>
                <a:t>✅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7124700" y="4276725"/>
              <a:ext cx="3733800" cy="14619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50" b="1">
                  <a:solidFill>
                    <a:srgbClr val="44546A"/>
                  </a:solidFill>
                  <a:latin typeface="Inter"/>
                </a:rPr>
                <a:t>Approve &amp; ship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7124700" y="4410075"/>
              <a:ext cx="3733800" cy="1333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50">
                  <a:solidFill>
                    <a:srgbClr val="7B8794"/>
                  </a:solidFill>
                  <a:latin typeface="Inter"/>
                </a:rPr>
                <a:t>Tests already passed in the agent run.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10991850" y="4340825"/>
              <a:ext cx="476250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>
                  <a:solidFill>
                    <a:srgbClr val="2E5BAC"/>
                  </a:solidFill>
                  <a:latin typeface="Inter"/>
                </a:rPr>
                <a:t>2 min</a:t>
              </a:r>
            </a:p>
          </p:txBody>
        </p:sp>
      </p:grpSp>
      <p:sp>
        <p:nvSpPr>
          <p:cNvPr id="129" name="Rounded Rectangle 128"/>
          <p:cNvSpPr/>
          <p:nvPr/>
        </p:nvSpPr>
        <p:spPr>
          <a:xfrm>
            <a:off x="533400" y="5295900"/>
            <a:ext cx="11125200" cy="666750"/>
          </a:xfrm>
          <a:prstGeom prst="roundRect">
            <a:avLst>
              <a:gd name="adj" fmla="val 17142"/>
            </a:avLst>
          </a:prstGeom>
          <a:gradFill flip="none" rotWithShape="1">
            <a:gsLst>
              <a:gs pos="0">
                <a:srgbClr val="44546A"/>
              </a:gs>
              <a:gs pos="100000">
                <a:srgbClr val="4472C4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3314700" y="5410200"/>
            <a:ext cx="9525" cy="438150"/>
          </a:xfrm>
          <a:prstGeom prst="rect">
            <a:avLst/>
          </a:prstGeom>
          <a:solidFill>
            <a:srgbClr val="6682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6096000" y="5410200"/>
            <a:ext cx="9525" cy="438150"/>
          </a:xfrm>
          <a:prstGeom prst="rect">
            <a:avLst/>
          </a:prstGeom>
          <a:solidFill>
            <a:srgbClr val="6682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8877300" y="5410200"/>
            <a:ext cx="9525" cy="438150"/>
          </a:xfrm>
          <a:prstGeom prst="rect">
            <a:avLst/>
          </a:prstGeom>
          <a:solidFill>
            <a:srgbClr val="6682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Inter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533400" y="5391150"/>
            <a:ext cx="27813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spc="150">
                <a:solidFill>
                  <a:srgbClr val="BDD7EE"/>
                </a:solidFill>
                <a:latin typeface="Inter"/>
              </a:rPr>
              <a:t>COST / BUG: MANUAL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33400" y="5505450"/>
            <a:ext cx="27813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Inter"/>
              </a:rPr>
              <a:t>$60.00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33400" y="5772150"/>
            <a:ext cx="27813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BDD7EE"/>
                </a:solidFill>
                <a:latin typeface="Inter"/>
              </a:rPr>
              <a:t>75 min × $48/hr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314700" y="5391150"/>
            <a:ext cx="27813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spc="150">
                <a:solidFill>
                  <a:srgbClr val="BDD7EE"/>
                </a:solidFill>
                <a:latin typeface="Inter"/>
              </a:rPr>
              <a:t>COST / BUG: VIBE CODING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314700" y="5505450"/>
            <a:ext cx="27813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Inter"/>
              </a:rPr>
              <a:t>$36.00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314700" y="5772150"/>
            <a:ext cx="27813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BDD7EE"/>
                </a:solidFill>
                <a:latin typeface="Inter"/>
              </a:rPr>
              <a:t>40 min dev + ~$4 AI tokens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096000" y="5391150"/>
            <a:ext cx="27813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spc="150">
                <a:solidFill>
                  <a:srgbClr val="BDD7EE"/>
                </a:solidFill>
                <a:latin typeface="Inter"/>
              </a:rPr>
              <a:t>COST / BUG: AGENTIC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096000" y="5505450"/>
            <a:ext cx="27813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D966"/>
                </a:solidFill>
                <a:latin typeface="Inter"/>
              </a:rPr>
              <a:t>$6.00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096000" y="5772150"/>
            <a:ext cx="27813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BDD7EE"/>
                </a:solidFill>
                <a:latin typeface="Inter"/>
              </a:rPr>
              <a:t>5 min dev time + ~$2 agent run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877300" y="5391150"/>
            <a:ext cx="27813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spc="150">
                <a:solidFill>
                  <a:srgbClr val="BDD7EE"/>
                </a:solidFill>
                <a:latin typeface="Inter"/>
              </a:rPr>
              <a:t>NET SAVINGS: AGENTIC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877300" y="5505450"/>
            <a:ext cx="27813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C000"/>
                </a:solidFill>
                <a:latin typeface="Inter"/>
              </a:rPr>
              <a:t>$30.00</a:t>
            </a:r>
            <a:r>
              <a:rPr sz="800" b="1">
                <a:solidFill>
                  <a:srgbClr val="DBE5F1"/>
                </a:solidFill>
                <a:latin typeface="Inter"/>
              </a:rPr>
              <a:t> vs Vibe Coding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877300" y="5772150"/>
            <a:ext cx="27813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FFD966"/>
                </a:solidFill>
                <a:latin typeface="Inter"/>
              </a:rPr>
              <a:t>$54</a:t>
            </a:r>
            <a:r>
              <a:rPr sz="800" dirty="0">
                <a:solidFill>
                  <a:srgbClr val="BDD7EE"/>
                </a:solidFill>
                <a:latin typeface="Inter"/>
              </a:rPr>
              <a:t> vs manual · At 500 bugs/yr → </a:t>
            </a:r>
            <a:r>
              <a:rPr sz="800" b="1" dirty="0">
                <a:solidFill>
                  <a:srgbClr val="FFFFFF"/>
                </a:solidFill>
                <a:latin typeface="Inter"/>
              </a:rPr>
              <a:t>~$15K saved</a:t>
            </a: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B9BEE07C-B4B8-3100-FC8D-D05CD6AE6A1E}"/>
              </a:ext>
            </a:extLst>
          </p:cNvPr>
          <p:cNvGrpSpPr/>
          <p:nvPr/>
        </p:nvGrpSpPr>
        <p:grpSpPr>
          <a:xfrm>
            <a:off x="3714750" y="2794000"/>
            <a:ext cx="2628900" cy="361950"/>
            <a:chOff x="3695700" y="4410074"/>
            <a:chExt cx="2628900" cy="361950"/>
          </a:xfrm>
        </p:grpSpPr>
        <p:sp>
          <p:nvSpPr>
            <p:cNvPr id="80" name="Rounded Rectangle 79"/>
            <p:cNvSpPr/>
            <p:nvPr/>
          </p:nvSpPr>
          <p:spPr>
            <a:xfrm>
              <a:off x="3695700" y="4410074"/>
              <a:ext cx="2628900" cy="361950"/>
            </a:xfrm>
            <a:prstGeom prst="roundRect">
              <a:avLst>
                <a:gd name="adj" fmla="val 21052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>
                <a:latin typeface="Inter"/>
              </a:endParaRPr>
            </a:p>
          </p:txBody>
        </p: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13FCD9F-5810-F112-F29B-396344012B76}"/>
                </a:ext>
              </a:extLst>
            </p:cNvPr>
            <p:cNvGrpSpPr/>
            <p:nvPr/>
          </p:nvGrpSpPr>
          <p:grpSpPr>
            <a:xfrm>
              <a:off x="3733800" y="4457699"/>
              <a:ext cx="266700" cy="266700"/>
              <a:chOff x="3810000" y="3886200"/>
              <a:chExt cx="266700" cy="266700"/>
            </a:xfrm>
          </p:grpSpPr>
          <p:sp>
            <p:nvSpPr>
              <p:cNvPr id="81" name="Rounded Rectangle 80"/>
              <p:cNvSpPr/>
              <p:nvPr/>
            </p:nvSpPr>
            <p:spPr>
              <a:xfrm>
                <a:off x="3810000" y="3886200"/>
                <a:ext cx="266700" cy="266700"/>
              </a:xfrm>
              <a:prstGeom prst="roundRect">
                <a:avLst>
                  <a:gd name="adj" fmla="val 21428"/>
                </a:avLst>
              </a:prstGeom>
              <a:solidFill>
                <a:srgbClr val="D9E2F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>
                  <a:latin typeface="Inter"/>
                </a:endParaRPr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3810000" y="3908653"/>
                <a:ext cx="26670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400" dirty="0">
                    <a:latin typeface="Inter"/>
                  </a:rPr>
                  <a:t>✅</a:t>
                </a: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4095750" y="4457699"/>
              <a:ext cx="1562100" cy="14619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50" b="1" dirty="0">
                  <a:solidFill>
                    <a:srgbClr val="44546A"/>
                  </a:solidFill>
                  <a:latin typeface="Inter"/>
                </a:rPr>
                <a:t>Test the fix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095750" y="4591049"/>
              <a:ext cx="1562100" cy="1333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50" dirty="0">
                  <a:solidFill>
                    <a:srgbClr val="7B8794"/>
                  </a:solidFill>
                  <a:latin typeface="Inter"/>
                </a:rPr>
                <a:t>Runs tests to confirm.</a:t>
              </a:r>
            </a:p>
          </p:txBody>
        </p: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A1822E17-CDF1-6568-BD97-0714CC9D94F4}"/>
                </a:ext>
              </a:extLst>
            </p:cNvPr>
            <p:cNvGrpSpPr/>
            <p:nvPr/>
          </p:nvGrpSpPr>
          <p:grpSpPr>
            <a:xfrm>
              <a:off x="5743575" y="4505325"/>
              <a:ext cx="504825" cy="171450"/>
              <a:chOff x="5419725" y="3933825"/>
              <a:chExt cx="504825" cy="171450"/>
            </a:xfrm>
          </p:grpSpPr>
          <p:sp>
            <p:nvSpPr>
              <p:cNvPr id="85" name="Rounded Rectangle 84"/>
              <p:cNvSpPr/>
              <p:nvPr/>
            </p:nvSpPr>
            <p:spPr>
              <a:xfrm>
                <a:off x="5419725" y="3933825"/>
                <a:ext cx="476250" cy="171450"/>
              </a:xfrm>
              <a:prstGeom prst="roundRect">
                <a:avLst>
                  <a:gd name="adj" fmla="val 27777"/>
                </a:avLst>
              </a:prstGeom>
              <a:solidFill>
                <a:srgbClr val="EEF3F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>
                  <a:latin typeface="Inter"/>
                </a:endParaRP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5448300" y="3947126"/>
                <a:ext cx="47625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900" b="1" dirty="0">
                    <a:solidFill>
                      <a:srgbClr val="5B7CB8"/>
                    </a:solidFill>
                    <a:latin typeface="Inter"/>
                  </a:rPr>
                  <a:t>5 min</a:t>
                </a: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1F0DD-C3F4-0558-F979-0FAF501F1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F88CC1-1EA3-3E2E-A6A3-53AAB532A307}"/>
              </a:ext>
            </a:extLst>
          </p:cNvPr>
          <p:cNvSpPr txBox="1"/>
          <p:nvPr/>
        </p:nvSpPr>
        <p:spPr>
          <a:xfrm>
            <a:off x="533400" y="304800"/>
            <a:ext cx="66675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>
                <a:solidFill>
                  <a:srgbClr val="44546A"/>
                </a:solidFill>
                <a:latin typeface="Graphik" panose="020B0503030202060203" pitchFamily="34" charset="0"/>
              </a:rPr>
              <a:t>RCA Multi-Agent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1E904E-87CF-F547-41B4-49EB363D444E}"/>
              </a:ext>
            </a:extLst>
          </p:cNvPr>
          <p:cNvSpPr txBox="1"/>
          <p:nvPr/>
        </p:nvSpPr>
        <p:spPr>
          <a:xfrm>
            <a:off x="533400" y="671743"/>
            <a:ext cx="85725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dirty="0">
                <a:solidFill>
                  <a:srgbClr val="7B8794"/>
                </a:solidFill>
                <a:latin typeface="Graphik" panose="020B0503030202060203" pitchFamily="34" charset="0"/>
              </a:rPr>
              <a:t>Diagnoses bugs, proposes the fix, verifies with tests. Projected savings: </a:t>
            </a:r>
            <a:r>
              <a:rPr lang="en-US" sz="1100" b="1" dirty="0">
                <a:solidFill>
                  <a:srgbClr val="2E5BAC"/>
                </a:solidFill>
                <a:latin typeface="Graphik Semibold" panose="020B0703030202060203" pitchFamily="34" charset="0"/>
              </a:rPr>
              <a:t>$15K per developer</a:t>
            </a:r>
            <a:r>
              <a:rPr sz="1100" dirty="0">
                <a:solidFill>
                  <a:srgbClr val="7B8794"/>
                </a:solidFill>
                <a:latin typeface="Graphik" panose="020B0503030202060203" pitchFamily="34" charset="0"/>
              </a:rPr>
              <a:t>.</a:t>
            </a: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7A3A4200-8043-EE93-5C58-9581A24725A1}"/>
              </a:ext>
            </a:extLst>
          </p:cNvPr>
          <p:cNvGrpSpPr/>
          <p:nvPr/>
        </p:nvGrpSpPr>
        <p:grpSpPr>
          <a:xfrm>
            <a:off x="9001957" y="710214"/>
            <a:ext cx="2757303" cy="291626"/>
            <a:chOff x="9001957" y="710214"/>
            <a:chExt cx="2757303" cy="291626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8F229E5D-D7FC-0D80-428E-E4458397DAAB}"/>
                </a:ext>
              </a:extLst>
            </p:cNvPr>
            <p:cNvSpPr/>
            <p:nvPr/>
          </p:nvSpPr>
          <p:spPr>
            <a:xfrm>
              <a:off x="9001957" y="710214"/>
              <a:ext cx="2656643" cy="291626"/>
            </a:xfrm>
            <a:prstGeom prst="roundRect">
              <a:avLst>
                <a:gd name="adj" fmla="val 16666"/>
              </a:avLst>
            </a:prstGeom>
            <a:gradFill flip="none" rotWithShape="1">
              <a:gsLst>
                <a:gs pos="0">
                  <a:srgbClr val="EAF1FB"/>
                </a:gs>
                <a:gs pos="100000">
                  <a:srgbClr val="D9E6F7"/>
                </a:gs>
              </a:gsLst>
              <a:lin ang="8100000" scaled="0"/>
            </a:gradFill>
            <a:ln w="12700"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>
                <a:latin typeface="Graphik Semibold" panose="020B0703030202060203" pitchFamily="34" charset="0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2582F4E-859C-199E-7675-D536404247D9}"/>
                </a:ext>
              </a:extLst>
            </p:cNvPr>
            <p:cNvSpPr/>
            <p:nvPr/>
          </p:nvSpPr>
          <p:spPr>
            <a:xfrm>
              <a:off x="9076262" y="845975"/>
              <a:ext cx="57150" cy="57150"/>
            </a:xfrm>
            <a:prstGeom prst="ellipse">
              <a:avLst/>
            </a:prstGeom>
            <a:solidFill>
              <a:srgbClr val="70AD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>
                <a:latin typeface="Graphik Semibold" panose="020B070303020206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BF0BCF9-3F8A-1CF7-325D-B9AE88115B96}"/>
                </a:ext>
              </a:extLst>
            </p:cNvPr>
            <p:cNvSpPr txBox="1"/>
            <p:nvPr/>
          </p:nvSpPr>
          <p:spPr>
            <a:xfrm>
              <a:off x="9214837" y="769497"/>
              <a:ext cx="2544423" cy="20005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600" b="1" spc="150" dirty="0">
                  <a:solidFill>
                    <a:srgbClr val="4472C4"/>
                  </a:solidFill>
                  <a:latin typeface="Graphik Semibold" panose="020B0703030202060203" pitchFamily="34" charset="0"/>
                </a:rPr>
                <a:t>VALIDATED</a:t>
              </a:r>
            </a:p>
            <a:p>
              <a:pPr algn="l"/>
              <a:r>
                <a:rPr sz="700" b="1" dirty="0">
                  <a:solidFill>
                    <a:srgbClr val="44546A"/>
                  </a:solidFill>
                  <a:latin typeface="Graphik Semibold" panose="020B0703030202060203" pitchFamily="34" charset="0"/>
                </a:rPr>
                <a:t>Tested on complex, buggy</a:t>
              </a:r>
              <a:r>
                <a:rPr lang="en-US" sz="700" b="1" dirty="0">
                  <a:solidFill>
                    <a:srgbClr val="44546A"/>
                  </a:solidFill>
                  <a:latin typeface="Graphik Semibold" panose="020B0703030202060203" pitchFamily="34" charset="0"/>
                </a:rPr>
                <a:t> </a:t>
              </a:r>
              <a:r>
                <a:rPr sz="700" b="1" dirty="0">
                  <a:solidFill>
                    <a:srgbClr val="44546A"/>
                  </a:solidFill>
                  <a:latin typeface="Graphik Semibold" panose="020B0703030202060203" pitchFamily="34" charset="0"/>
                </a:rPr>
                <a:t>open-source GitHub repos</a:t>
              </a:r>
            </a:p>
          </p:txBody>
        </p:sp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D0D93F9-C244-915C-E673-DBE480E5E5B7}"/>
              </a:ext>
            </a:extLst>
          </p:cNvPr>
          <p:cNvSpPr/>
          <p:nvPr/>
        </p:nvSpPr>
        <p:spPr>
          <a:xfrm>
            <a:off x="533400" y="1122290"/>
            <a:ext cx="2895600" cy="3817352"/>
          </a:xfrm>
          <a:prstGeom prst="roundRect">
            <a:avLst>
              <a:gd name="adj" fmla="val 3947"/>
            </a:avLst>
          </a:prstGeom>
          <a:gradFill flip="none" rotWithShape="1">
            <a:gsLst>
              <a:gs pos="0">
                <a:srgbClr val="F3F4F8"/>
              </a:gs>
              <a:gs pos="100000">
                <a:srgbClr val="FFFFFF"/>
              </a:gs>
            </a:gsLst>
            <a:lin ang="10800000" scaled="0"/>
          </a:gradFill>
          <a:ln w="19050">
            <a:solidFill>
              <a:srgbClr val="B4B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>
              <a:latin typeface="Graphik" panose="020B050303020206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E5B638-189A-6C00-9E4F-8507BA97B9DD}"/>
              </a:ext>
            </a:extLst>
          </p:cNvPr>
          <p:cNvSpPr txBox="1"/>
          <p:nvPr/>
        </p:nvSpPr>
        <p:spPr>
          <a:xfrm>
            <a:off x="685800" y="1274690"/>
            <a:ext cx="2590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spc="150">
                <a:solidFill>
                  <a:srgbClr val="6B7280"/>
                </a:solidFill>
                <a:latin typeface="Graphik Semibold" panose="020B0703030202060203" pitchFamily="34" charset="0"/>
              </a:rPr>
              <a:t>OPTION 1: MANUAL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9B5718-D837-BC4A-83C6-AB20B4D06112}"/>
              </a:ext>
            </a:extLst>
          </p:cNvPr>
          <p:cNvSpPr txBox="1"/>
          <p:nvPr/>
        </p:nvSpPr>
        <p:spPr>
          <a:xfrm>
            <a:off x="685800" y="1427090"/>
            <a:ext cx="1600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44546A"/>
                </a:solidFill>
                <a:latin typeface="Graphik Semibold" panose="020B0703030202060203" pitchFamily="34" charset="0"/>
              </a:rPr>
              <a:t>Developer alone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EFC16B-4F19-E6BA-AF0B-9C1966015AD6}"/>
              </a:ext>
            </a:extLst>
          </p:cNvPr>
          <p:cNvSpPr txBox="1"/>
          <p:nvPr/>
        </p:nvSpPr>
        <p:spPr>
          <a:xfrm>
            <a:off x="2514600" y="1336186"/>
            <a:ext cx="762000" cy="33855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200" b="1">
                <a:solidFill>
                  <a:srgbClr val="6B7280"/>
                </a:solidFill>
                <a:latin typeface="Graphik" panose="020B0503030202060203" pitchFamily="34" charset="0"/>
              </a:rPr>
              <a:t>75</a:t>
            </a:r>
            <a:r>
              <a:rPr sz="900" b="1">
                <a:solidFill>
                  <a:srgbClr val="7B8794"/>
                </a:solidFill>
                <a:latin typeface="Graphik" panose="020B0503030202060203" pitchFamily="34" charset="0"/>
              </a:rPr>
              <a:t> min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A854F75-A8B2-BF55-B495-345077EC1274}"/>
              </a:ext>
            </a:extLst>
          </p:cNvPr>
          <p:cNvSpPr/>
          <p:nvPr/>
        </p:nvSpPr>
        <p:spPr>
          <a:xfrm>
            <a:off x="3562350" y="1122290"/>
            <a:ext cx="2895600" cy="3817352"/>
          </a:xfrm>
          <a:prstGeom prst="roundRect">
            <a:avLst>
              <a:gd name="adj" fmla="val 3947"/>
            </a:avLst>
          </a:prstGeom>
          <a:gradFill flip="none" rotWithShape="1">
            <a:gsLst>
              <a:gs pos="0">
                <a:srgbClr val="EEF3FB"/>
              </a:gs>
              <a:gs pos="100000">
                <a:srgbClr val="FFFFFF"/>
              </a:gs>
            </a:gsLst>
            <a:lin ang="10800000" scaled="0"/>
          </a:gradFill>
          <a:ln w="19050"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>
              <a:latin typeface="Graphik" panose="020B050303020206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4FF939-CA0B-EBA0-0E0B-4901E593C0F3}"/>
              </a:ext>
            </a:extLst>
          </p:cNvPr>
          <p:cNvSpPr txBox="1"/>
          <p:nvPr/>
        </p:nvSpPr>
        <p:spPr>
          <a:xfrm>
            <a:off x="3714750" y="1274690"/>
            <a:ext cx="2590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spc="150" dirty="0">
                <a:solidFill>
                  <a:srgbClr val="5B7CB8"/>
                </a:solidFill>
                <a:latin typeface="Graphik Semibold" panose="020B0703030202060203" pitchFamily="34" charset="0"/>
              </a:rPr>
              <a:t>OPTION 2: VIBE CODING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2B1F20-AFDD-C18F-FACE-67AD45FF5F16}"/>
              </a:ext>
            </a:extLst>
          </p:cNvPr>
          <p:cNvSpPr txBox="1"/>
          <p:nvPr/>
        </p:nvSpPr>
        <p:spPr>
          <a:xfrm>
            <a:off x="3714750" y="1427090"/>
            <a:ext cx="1828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44546A"/>
                </a:solidFill>
                <a:latin typeface="Graphik Semibold" panose="020B0703030202060203" pitchFamily="34" charset="0"/>
              </a:rPr>
              <a:t>Dev + Claude Code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F870E8-644F-8583-6C2A-51C3D349C460}"/>
              </a:ext>
            </a:extLst>
          </p:cNvPr>
          <p:cNvSpPr txBox="1"/>
          <p:nvPr/>
        </p:nvSpPr>
        <p:spPr>
          <a:xfrm>
            <a:off x="5543550" y="1336186"/>
            <a:ext cx="762000" cy="33855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200" b="1">
                <a:solidFill>
                  <a:srgbClr val="5B7CB8"/>
                </a:solidFill>
                <a:latin typeface="Graphik" panose="020B0503030202060203" pitchFamily="34" charset="0"/>
              </a:rPr>
              <a:t>40</a:t>
            </a:r>
            <a:r>
              <a:rPr sz="900" b="1">
                <a:solidFill>
                  <a:srgbClr val="7B8794"/>
                </a:solidFill>
                <a:latin typeface="Graphik" panose="020B0503030202060203" pitchFamily="34" charset="0"/>
              </a:rPr>
              <a:t> min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FA95411-14CD-A606-42DB-577B9AD98C30}"/>
              </a:ext>
            </a:extLst>
          </p:cNvPr>
          <p:cNvSpPr/>
          <p:nvPr/>
        </p:nvSpPr>
        <p:spPr>
          <a:xfrm>
            <a:off x="6591300" y="1122290"/>
            <a:ext cx="5067300" cy="3817352"/>
          </a:xfrm>
          <a:prstGeom prst="roundRect">
            <a:avLst>
              <a:gd name="adj" fmla="val 2608"/>
            </a:avLst>
          </a:prstGeom>
          <a:gradFill flip="none" rotWithShape="1">
            <a:gsLst>
              <a:gs pos="0">
                <a:srgbClr val="DCE7F7"/>
              </a:gs>
              <a:gs pos="100000">
                <a:srgbClr val="FFFFFF"/>
              </a:gs>
            </a:gsLst>
            <a:lin ang="10800000" scaled="0"/>
          </a:gra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>
              <a:latin typeface="Graphik" panose="020B050303020206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3BB9C0-630E-C394-036A-044A95D5F986}"/>
              </a:ext>
            </a:extLst>
          </p:cNvPr>
          <p:cNvSpPr txBox="1"/>
          <p:nvPr/>
        </p:nvSpPr>
        <p:spPr>
          <a:xfrm>
            <a:off x="6743700" y="1274690"/>
            <a:ext cx="47625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spc="150" dirty="0">
                <a:solidFill>
                  <a:srgbClr val="2E5BAC"/>
                </a:solidFill>
                <a:latin typeface="Graphik Semibold" panose="020B0703030202060203" pitchFamily="34" charset="0"/>
              </a:rPr>
              <a:t>OPTION 3: AGENTIC WORKFLOW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472C6A-B2FA-0B6C-DA97-73CE3BACE84B}"/>
              </a:ext>
            </a:extLst>
          </p:cNvPr>
          <p:cNvSpPr txBox="1"/>
          <p:nvPr/>
        </p:nvSpPr>
        <p:spPr>
          <a:xfrm>
            <a:off x="6743700" y="1427090"/>
            <a:ext cx="295275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44546A"/>
                </a:solidFill>
                <a:latin typeface="Graphik Semibold" panose="020B0703030202060203" pitchFamily="34" charset="0"/>
              </a:rPr>
              <a:t>Purpose-built RCA multi-agent system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6E0722-CC26-3E04-098E-9A2DFF4AA246}"/>
              </a:ext>
            </a:extLst>
          </p:cNvPr>
          <p:cNvSpPr txBox="1"/>
          <p:nvPr/>
        </p:nvSpPr>
        <p:spPr>
          <a:xfrm>
            <a:off x="10744200" y="1336186"/>
            <a:ext cx="762000" cy="33855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200" b="1" dirty="0">
                <a:solidFill>
                  <a:srgbClr val="2E5BAC"/>
                </a:solidFill>
                <a:latin typeface="Graphik" panose="020B0503030202060203" pitchFamily="34" charset="0"/>
              </a:rPr>
              <a:t>5</a:t>
            </a:r>
            <a:r>
              <a:rPr sz="900" b="1" dirty="0">
                <a:solidFill>
                  <a:srgbClr val="7B8794"/>
                </a:solidFill>
                <a:latin typeface="Graphik" panose="020B0503030202060203" pitchFamily="34" charset="0"/>
              </a:rPr>
              <a:t> min dev</a:t>
            </a:r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99AB6A06-4AC9-A401-419F-6838CC3ECB64}"/>
              </a:ext>
            </a:extLst>
          </p:cNvPr>
          <p:cNvGrpSpPr/>
          <p:nvPr/>
        </p:nvGrpSpPr>
        <p:grpSpPr>
          <a:xfrm>
            <a:off x="6743700" y="1776340"/>
            <a:ext cx="1085850" cy="171450"/>
            <a:chOff x="6743700" y="1485900"/>
            <a:chExt cx="1085850" cy="17145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6CAC3F81-7B1B-0EFF-DE73-C834EC70B07A}"/>
                </a:ext>
              </a:extLst>
            </p:cNvPr>
            <p:cNvSpPr/>
            <p:nvPr/>
          </p:nvSpPr>
          <p:spPr>
            <a:xfrm>
              <a:off x="6743700" y="1485900"/>
              <a:ext cx="1085850" cy="171450"/>
            </a:xfrm>
            <a:prstGeom prst="roundRect">
              <a:avLst>
                <a:gd name="adj" fmla="val 22222"/>
              </a:avLst>
            </a:prstGeom>
            <a:solidFill>
              <a:srgbClr val="DCE7F7"/>
            </a:solidFill>
            <a:ln w="9525">
              <a:solidFill>
                <a:srgbClr val="BDD7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>
                <a:latin typeface="Graphik" panose="020B0503030202060203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C20A948-8DD8-C956-E364-1ADB5F40455C}"/>
                </a:ext>
              </a:extLst>
            </p:cNvPr>
            <p:cNvSpPr txBox="1"/>
            <p:nvPr/>
          </p:nvSpPr>
          <p:spPr>
            <a:xfrm>
              <a:off x="6743700" y="1513917"/>
              <a:ext cx="1085850" cy="1154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750" b="1" spc="40" dirty="0">
                  <a:solidFill>
                    <a:srgbClr val="2E5BAC"/>
                  </a:solidFill>
                  <a:latin typeface="Graphik Semibold" panose="020B0703030202060203" pitchFamily="34" charset="0"/>
                </a:rPr>
                <a:t>Auto-Triggered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6862A1AE-22A9-B913-D26F-32B081F4C7A4}"/>
              </a:ext>
            </a:extLst>
          </p:cNvPr>
          <p:cNvGrpSpPr/>
          <p:nvPr/>
        </p:nvGrpSpPr>
        <p:grpSpPr>
          <a:xfrm>
            <a:off x="7902673" y="1776340"/>
            <a:ext cx="1121915" cy="171450"/>
            <a:chOff x="7867650" y="1485900"/>
            <a:chExt cx="1352550" cy="171450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FA88CF69-0B33-F37E-8A26-8B8D62D7E454}"/>
                </a:ext>
              </a:extLst>
            </p:cNvPr>
            <p:cNvSpPr/>
            <p:nvPr/>
          </p:nvSpPr>
          <p:spPr>
            <a:xfrm>
              <a:off x="7867650" y="1485900"/>
              <a:ext cx="1352550" cy="171450"/>
            </a:xfrm>
            <a:prstGeom prst="roundRect">
              <a:avLst>
                <a:gd name="adj" fmla="val 22222"/>
              </a:avLst>
            </a:prstGeom>
            <a:solidFill>
              <a:srgbClr val="DCE7F7"/>
            </a:solidFill>
            <a:ln w="9525">
              <a:solidFill>
                <a:srgbClr val="BDD7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>
                <a:latin typeface="Graphik Semibold" panose="020B0703030202060203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E74AA01-40D7-66F7-BB98-CB70826E5F5C}"/>
                </a:ext>
              </a:extLst>
            </p:cNvPr>
            <p:cNvSpPr txBox="1"/>
            <p:nvPr/>
          </p:nvSpPr>
          <p:spPr>
            <a:xfrm>
              <a:off x="7867650" y="1513917"/>
              <a:ext cx="1352550" cy="1154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750" b="1" spc="40" dirty="0">
                  <a:solidFill>
                    <a:srgbClr val="2E5BAC"/>
                  </a:solidFill>
                  <a:latin typeface="Graphik Semibold" panose="020B0703030202060203" pitchFamily="34" charset="0"/>
                </a:rPr>
                <a:t>Engineered Context</a:t>
              </a: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D8005A15-2873-CA4A-AC08-8FAC5D102771}"/>
              </a:ext>
            </a:extLst>
          </p:cNvPr>
          <p:cNvGrpSpPr/>
          <p:nvPr/>
        </p:nvGrpSpPr>
        <p:grpSpPr>
          <a:xfrm>
            <a:off x="9097711" y="1776340"/>
            <a:ext cx="1092200" cy="171450"/>
            <a:chOff x="9258300" y="1485900"/>
            <a:chExt cx="1352550" cy="171450"/>
          </a:xfrm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10C9BE60-6ED9-0ABF-A8F2-D45DBEEF089B}"/>
                </a:ext>
              </a:extLst>
            </p:cNvPr>
            <p:cNvSpPr/>
            <p:nvPr/>
          </p:nvSpPr>
          <p:spPr>
            <a:xfrm>
              <a:off x="9258300" y="1485900"/>
              <a:ext cx="1352550" cy="171450"/>
            </a:xfrm>
            <a:prstGeom prst="roundRect">
              <a:avLst>
                <a:gd name="adj" fmla="val 22222"/>
              </a:avLst>
            </a:prstGeom>
            <a:solidFill>
              <a:srgbClr val="DCE7F7"/>
            </a:solidFill>
            <a:ln w="9525">
              <a:solidFill>
                <a:srgbClr val="BDD7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>
                <a:latin typeface="Graphik Semibold" panose="020B0703030202060203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8560697-1054-BF5D-A0F7-F2C7E0A8D79B}"/>
                </a:ext>
              </a:extLst>
            </p:cNvPr>
            <p:cNvSpPr txBox="1"/>
            <p:nvPr/>
          </p:nvSpPr>
          <p:spPr>
            <a:xfrm>
              <a:off x="9258300" y="1513917"/>
              <a:ext cx="1352550" cy="1154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750" b="1" spc="40">
                  <a:solidFill>
                    <a:srgbClr val="2E5BAC"/>
                  </a:solidFill>
                  <a:latin typeface="Graphik Semibold" panose="020B0703030202060203" pitchFamily="34" charset="0"/>
                </a:rPr>
                <a:t>Specialised Agents</a:t>
              </a: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1ED87B33-4592-3F29-4E8C-EF2EDD26C7C0}"/>
              </a:ext>
            </a:extLst>
          </p:cNvPr>
          <p:cNvGrpSpPr/>
          <p:nvPr/>
        </p:nvGrpSpPr>
        <p:grpSpPr>
          <a:xfrm>
            <a:off x="10263033" y="1776340"/>
            <a:ext cx="1190933" cy="171450"/>
            <a:chOff x="6743700" y="1695450"/>
            <a:chExt cx="1419225" cy="171450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E4669F68-CB92-B9EC-2055-74EFFA6772A3}"/>
                </a:ext>
              </a:extLst>
            </p:cNvPr>
            <p:cNvSpPr/>
            <p:nvPr/>
          </p:nvSpPr>
          <p:spPr>
            <a:xfrm>
              <a:off x="6743700" y="1695450"/>
              <a:ext cx="1419225" cy="171450"/>
            </a:xfrm>
            <a:prstGeom prst="roundRect">
              <a:avLst>
                <a:gd name="adj" fmla="val 22222"/>
              </a:avLst>
            </a:prstGeom>
            <a:solidFill>
              <a:srgbClr val="DCE7F7"/>
            </a:solidFill>
            <a:ln w="9525">
              <a:solidFill>
                <a:srgbClr val="BDD7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>
                <a:latin typeface="Graphik Semibold" panose="020B0703030202060203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233ECA9-D201-6E78-6248-F5C61797BAF4}"/>
                </a:ext>
              </a:extLst>
            </p:cNvPr>
            <p:cNvSpPr txBox="1"/>
            <p:nvPr/>
          </p:nvSpPr>
          <p:spPr>
            <a:xfrm>
              <a:off x="6743700" y="1723467"/>
              <a:ext cx="1419225" cy="1154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750" b="1" spc="40" dirty="0">
                  <a:solidFill>
                    <a:srgbClr val="2E5BAC"/>
                  </a:solidFill>
                  <a:latin typeface="Graphik Semibold" panose="020B0703030202060203" pitchFamily="34" charset="0"/>
                </a:rPr>
                <a:t>Built-in Guardrails</a:t>
              </a:r>
            </a:p>
          </p:txBody>
        </p:sp>
      </p:grp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6074C07-4006-032B-6021-E86E2C21EDCD}"/>
              </a:ext>
            </a:extLst>
          </p:cNvPr>
          <p:cNvSpPr/>
          <p:nvPr/>
        </p:nvSpPr>
        <p:spPr>
          <a:xfrm>
            <a:off x="666750" y="1769990"/>
            <a:ext cx="26289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Graphik" panose="020B0503030202060203" pitchFamily="34" charset="0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43C43C5-D904-2023-832F-74C3742DF0F4}"/>
              </a:ext>
            </a:extLst>
          </p:cNvPr>
          <p:cNvSpPr/>
          <p:nvPr/>
        </p:nvSpPr>
        <p:spPr>
          <a:xfrm>
            <a:off x="723900" y="181761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Graphik" panose="020B050303020206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A16D65E-AECA-2C76-005B-3CFFAD9D0245}"/>
              </a:ext>
            </a:extLst>
          </p:cNvPr>
          <p:cNvSpPr txBox="1"/>
          <p:nvPr/>
        </p:nvSpPr>
        <p:spPr>
          <a:xfrm>
            <a:off x="723900" y="1843243"/>
            <a:ext cx="2667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Graphik" panose="020B0503030202060203" pitchFamily="34" charset="0"/>
              </a:rPr>
              <a:t>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EA295B-42B0-9112-1870-9401070895AB}"/>
              </a:ext>
            </a:extLst>
          </p:cNvPr>
          <p:cNvSpPr txBox="1"/>
          <p:nvPr/>
        </p:nvSpPr>
        <p:spPr>
          <a:xfrm>
            <a:off x="1066800" y="1817615"/>
            <a:ext cx="156210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Graphik Semibold" panose="020B0703030202060203" pitchFamily="34" charset="0"/>
              </a:rPr>
              <a:t>Read bug report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4918EE-3641-89FF-78A4-BCCF27D5266D}"/>
              </a:ext>
            </a:extLst>
          </p:cNvPr>
          <p:cNvSpPr txBox="1"/>
          <p:nvPr/>
        </p:nvSpPr>
        <p:spPr>
          <a:xfrm>
            <a:off x="1066800" y="195096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Graphik" panose="020B0503030202060203" pitchFamily="34" charset="0"/>
              </a:rPr>
              <a:t>Pick up the QA ticket.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24AC01E2-5CEB-E50D-1892-091F8A612B28}"/>
              </a:ext>
            </a:extLst>
          </p:cNvPr>
          <p:cNvSpPr/>
          <p:nvPr/>
        </p:nvSpPr>
        <p:spPr>
          <a:xfrm>
            <a:off x="2762250" y="186524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F3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Graphik" panose="020B050303020206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C7DCD0-4BFA-B261-6F62-959CADBE8371}"/>
              </a:ext>
            </a:extLst>
          </p:cNvPr>
          <p:cNvSpPr txBox="1"/>
          <p:nvPr/>
        </p:nvSpPr>
        <p:spPr>
          <a:xfrm>
            <a:off x="2762250" y="1881715"/>
            <a:ext cx="47625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Graphik Semibold" panose="020B0703030202060203" pitchFamily="34" charset="0"/>
              </a:rPr>
              <a:t>5 min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9B6A24A-822D-8D24-4477-005EED0CC6EB}"/>
              </a:ext>
            </a:extLst>
          </p:cNvPr>
          <p:cNvSpPr/>
          <p:nvPr/>
        </p:nvSpPr>
        <p:spPr>
          <a:xfrm>
            <a:off x="666750" y="2208140"/>
            <a:ext cx="26289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Graphik" panose="020B0503030202060203" pitchFamily="34" charset="0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B645188E-7A0D-B816-7F05-4657FD577192}"/>
              </a:ext>
            </a:extLst>
          </p:cNvPr>
          <p:cNvSpPr/>
          <p:nvPr/>
        </p:nvSpPr>
        <p:spPr>
          <a:xfrm>
            <a:off x="723900" y="225576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Graphik" panose="020B0503030202060203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9733C76-C8C5-DF99-E6C2-AB0174158CB8}"/>
              </a:ext>
            </a:extLst>
          </p:cNvPr>
          <p:cNvSpPr txBox="1"/>
          <p:nvPr/>
        </p:nvSpPr>
        <p:spPr>
          <a:xfrm>
            <a:off x="723900" y="2281393"/>
            <a:ext cx="2667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Graphik" panose="020B0503030202060203" pitchFamily="34" charset="0"/>
              </a:rPr>
              <a:t>🔍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36092D-5969-67D0-7BEA-60B72E784BF6}"/>
              </a:ext>
            </a:extLst>
          </p:cNvPr>
          <p:cNvSpPr txBox="1"/>
          <p:nvPr/>
        </p:nvSpPr>
        <p:spPr>
          <a:xfrm>
            <a:off x="1066800" y="2255765"/>
            <a:ext cx="156210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Graphik Semibold" panose="020B0703030202060203" pitchFamily="34" charset="0"/>
              </a:rPr>
              <a:t>Investigate codebase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5A8643-F463-A2CE-9F15-037A352B495D}"/>
              </a:ext>
            </a:extLst>
          </p:cNvPr>
          <p:cNvSpPr txBox="1"/>
          <p:nvPr/>
        </p:nvSpPr>
        <p:spPr>
          <a:xfrm>
            <a:off x="1066800" y="238911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Graphik" panose="020B0503030202060203" pitchFamily="34" charset="0"/>
              </a:rPr>
              <a:t>Hunts the cause across files.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63BCAF59-6326-CF28-DD7D-A8EA43A59859}"/>
              </a:ext>
            </a:extLst>
          </p:cNvPr>
          <p:cNvSpPr/>
          <p:nvPr/>
        </p:nvSpPr>
        <p:spPr>
          <a:xfrm>
            <a:off x="2762250" y="230339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F3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Graphik" panose="020B050303020206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A47C479-BCCE-2376-3006-D280814CA39E}"/>
              </a:ext>
            </a:extLst>
          </p:cNvPr>
          <p:cNvSpPr txBox="1"/>
          <p:nvPr/>
        </p:nvSpPr>
        <p:spPr>
          <a:xfrm>
            <a:off x="2762250" y="2319865"/>
            <a:ext cx="47625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Graphik Semibold" panose="020B0703030202060203" pitchFamily="34" charset="0"/>
              </a:rPr>
              <a:t>45 min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DE207DA3-3C87-C732-4D1E-4CA5F5880C93}"/>
              </a:ext>
            </a:extLst>
          </p:cNvPr>
          <p:cNvSpPr/>
          <p:nvPr/>
        </p:nvSpPr>
        <p:spPr>
          <a:xfrm>
            <a:off x="666750" y="2646290"/>
            <a:ext cx="26289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Graphik" panose="020B0503030202060203" pitchFamily="34" charset="0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DBD24EBB-3DEA-73A1-9E11-07AF0C73726F}"/>
              </a:ext>
            </a:extLst>
          </p:cNvPr>
          <p:cNvSpPr/>
          <p:nvPr/>
        </p:nvSpPr>
        <p:spPr>
          <a:xfrm>
            <a:off x="723900" y="269391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Graphik" panose="020B0503030202060203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29FF9D4-8A74-F03B-FAC4-4DF3E9035433}"/>
              </a:ext>
            </a:extLst>
          </p:cNvPr>
          <p:cNvSpPr txBox="1"/>
          <p:nvPr/>
        </p:nvSpPr>
        <p:spPr>
          <a:xfrm>
            <a:off x="723900" y="2719543"/>
            <a:ext cx="2667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Graphik" panose="020B0503030202060203" pitchFamily="34" charset="0"/>
              </a:rPr>
              <a:t>🔧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3ECD211-72DC-48CC-0E37-0CCE49E80EE6}"/>
              </a:ext>
            </a:extLst>
          </p:cNvPr>
          <p:cNvSpPr txBox="1"/>
          <p:nvPr/>
        </p:nvSpPr>
        <p:spPr>
          <a:xfrm>
            <a:off x="1066800" y="2693915"/>
            <a:ext cx="156210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Graphik Semibold" panose="020B0703030202060203" pitchFamily="34" charset="0"/>
              </a:rPr>
              <a:t>Write the fix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3501F1-9937-3E4C-FD6A-1F80B0E71F8C}"/>
              </a:ext>
            </a:extLst>
          </p:cNvPr>
          <p:cNvSpPr txBox="1"/>
          <p:nvPr/>
        </p:nvSpPr>
        <p:spPr>
          <a:xfrm>
            <a:off x="1066800" y="282726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Graphik" panose="020B0503030202060203" pitchFamily="34" charset="0"/>
              </a:rPr>
              <a:t>Makes the code change.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D050340F-279B-1246-5066-65DF463E706E}"/>
              </a:ext>
            </a:extLst>
          </p:cNvPr>
          <p:cNvSpPr/>
          <p:nvPr/>
        </p:nvSpPr>
        <p:spPr>
          <a:xfrm>
            <a:off x="2762250" y="274154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F3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Graphik" panose="020B050303020206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D2556FB-7C0E-D614-E0FD-03091456C1F1}"/>
              </a:ext>
            </a:extLst>
          </p:cNvPr>
          <p:cNvSpPr txBox="1"/>
          <p:nvPr/>
        </p:nvSpPr>
        <p:spPr>
          <a:xfrm>
            <a:off x="2762250" y="2758015"/>
            <a:ext cx="47625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dirty="0">
                <a:solidFill>
                  <a:srgbClr val="6B7280"/>
                </a:solidFill>
                <a:latin typeface="Graphik Semibold" panose="020B0703030202060203" pitchFamily="34" charset="0"/>
              </a:rPr>
              <a:t>15 min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CED074E9-CBB3-CD69-1389-536160C72185}"/>
              </a:ext>
            </a:extLst>
          </p:cNvPr>
          <p:cNvSpPr/>
          <p:nvPr/>
        </p:nvSpPr>
        <p:spPr>
          <a:xfrm>
            <a:off x="666750" y="3084440"/>
            <a:ext cx="26289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Graphik" panose="020B050303020206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67F37CE-E2D7-FF59-2940-85452379E3A5}"/>
              </a:ext>
            </a:extLst>
          </p:cNvPr>
          <p:cNvSpPr txBox="1"/>
          <p:nvPr/>
        </p:nvSpPr>
        <p:spPr>
          <a:xfrm>
            <a:off x="1066800" y="3132065"/>
            <a:ext cx="156210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Graphik Semibold" panose="020B0703030202060203" pitchFamily="34" charset="0"/>
              </a:rPr>
              <a:t>Test the fix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576B6BA-55DB-DCB5-FDF8-68C739AF76DF}"/>
              </a:ext>
            </a:extLst>
          </p:cNvPr>
          <p:cNvSpPr txBox="1"/>
          <p:nvPr/>
        </p:nvSpPr>
        <p:spPr>
          <a:xfrm>
            <a:off x="1066800" y="326541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Graphik" panose="020B0503030202060203" pitchFamily="34" charset="0"/>
              </a:rPr>
              <a:t>Runs tests to confirm.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216775BC-42AB-FBE1-E723-D919482788A1}"/>
              </a:ext>
            </a:extLst>
          </p:cNvPr>
          <p:cNvSpPr/>
          <p:nvPr/>
        </p:nvSpPr>
        <p:spPr>
          <a:xfrm>
            <a:off x="2762250" y="317969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F3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Graphik" panose="020B0503030202060203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6589745-3963-262F-7B5C-AD9FAC900155}"/>
              </a:ext>
            </a:extLst>
          </p:cNvPr>
          <p:cNvSpPr txBox="1"/>
          <p:nvPr/>
        </p:nvSpPr>
        <p:spPr>
          <a:xfrm>
            <a:off x="2762250" y="3196165"/>
            <a:ext cx="47625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dirty="0">
                <a:solidFill>
                  <a:srgbClr val="6B7280"/>
                </a:solidFill>
                <a:latin typeface="Graphik Semibold" panose="020B0703030202060203" pitchFamily="34" charset="0"/>
              </a:rPr>
              <a:t>10 min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EB573D3A-A067-29D7-1036-ADD5D690A912}"/>
              </a:ext>
            </a:extLst>
          </p:cNvPr>
          <p:cNvSpPr/>
          <p:nvPr/>
        </p:nvSpPr>
        <p:spPr>
          <a:xfrm>
            <a:off x="3695700" y="1769990"/>
            <a:ext cx="26289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Graphik" panose="020B0503030202060203" pitchFamily="34" charset="0"/>
            </a:endParaRP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395BEB2F-FE34-ECE0-5EC8-69E2D6298F27}"/>
              </a:ext>
            </a:extLst>
          </p:cNvPr>
          <p:cNvSpPr/>
          <p:nvPr/>
        </p:nvSpPr>
        <p:spPr>
          <a:xfrm>
            <a:off x="3752850" y="181761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D9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Graphik" panose="020B0503030202060203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61A52B0-3515-8A18-3857-FD5AFD01E875}"/>
              </a:ext>
            </a:extLst>
          </p:cNvPr>
          <p:cNvSpPr txBox="1"/>
          <p:nvPr/>
        </p:nvSpPr>
        <p:spPr>
          <a:xfrm>
            <a:off x="3752850" y="1843243"/>
            <a:ext cx="2667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Graphik" panose="020B0503030202060203" pitchFamily="34" charset="0"/>
              </a:rPr>
              <a:t>📝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A53B5C-1378-AC91-F926-C9E61FEF2DFB}"/>
              </a:ext>
            </a:extLst>
          </p:cNvPr>
          <p:cNvSpPr txBox="1"/>
          <p:nvPr/>
        </p:nvSpPr>
        <p:spPr>
          <a:xfrm>
            <a:off x="4095750" y="1817615"/>
            <a:ext cx="156210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Graphik Semibold" panose="020B0703030202060203" pitchFamily="34" charset="0"/>
              </a:rPr>
              <a:t>Read bug report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0B20DF8-3FC5-59BC-AB78-18E6365600F8}"/>
              </a:ext>
            </a:extLst>
          </p:cNvPr>
          <p:cNvSpPr txBox="1"/>
          <p:nvPr/>
        </p:nvSpPr>
        <p:spPr>
          <a:xfrm>
            <a:off x="4095750" y="195096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dirty="0">
                <a:solidFill>
                  <a:srgbClr val="7B8794"/>
                </a:solidFill>
                <a:latin typeface="Graphik" panose="020B0503030202060203" pitchFamily="34" charset="0"/>
              </a:rPr>
              <a:t>Pick up the QA ticket.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F12931F1-B555-EA64-B0DA-07F5D28C0660}"/>
              </a:ext>
            </a:extLst>
          </p:cNvPr>
          <p:cNvSpPr/>
          <p:nvPr/>
        </p:nvSpPr>
        <p:spPr>
          <a:xfrm>
            <a:off x="5791200" y="186524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Graphik" panose="020B0503030202060203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3A4BB43-26AD-7123-CF27-454B5C7A0FA5}"/>
              </a:ext>
            </a:extLst>
          </p:cNvPr>
          <p:cNvSpPr txBox="1"/>
          <p:nvPr/>
        </p:nvSpPr>
        <p:spPr>
          <a:xfrm>
            <a:off x="5791200" y="1881715"/>
            <a:ext cx="47625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5B7CB8"/>
                </a:solidFill>
                <a:latin typeface="Graphik Semibold" panose="020B0703030202060203" pitchFamily="34" charset="0"/>
              </a:rPr>
              <a:t>3 min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6550739E-92CE-9564-D073-3383ACC6B99B}"/>
              </a:ext>
            </a:extLst>
          </p:cNvPr>
          <p:cNvSpPr/>
          <p:nvPr/>
        </p:nvSpPr>
        <p:spPr>
          <a:xfrm>
            <a:off x="3695700" y="2200519"/>
            <a:ext cx="2628900" cy="511403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Graphik" panose="020B0503030202060203" pitchFamily="34" charset="0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E8F730F9-FDDE-4AC0-9FF6-F7EA40B2E3EF}"/>
              </a:ext>
            </a:extLst>
          </p:cNvPr>
          <p:cNvSpPr/>
          <p:nvPr/>
        </p:nvSpPr>
        <p:spPr>
          <a:xfrm>
            <a:off x="3752850" y="225576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D9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Graphik" panose="020B0503030202060203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1DF8782-1707-E5B4-34A2-25A2F607F019}"/>
              </a:ext>
            </a:extLst>
          </p:cNvPr>
          <p:cNvSpPr txBox="1"/>
          <p:nvPr/>
        </p:nvSpPr>
        <p:spPr>
          <a:xfrm>
            <a:off x="3752850" y="2281393"/>
            <a:ext cx="2667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Graphik" panose="020B0503030202060203" pitchFamily="34" charset="0"/>
              </a:rPr>
              <a:t>💬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CF49BDD-997B-6BFF-99E0-E7125121B86C}"/>
              </a:ext>
            </a:extLst>
          </p:cNvPr>
          <p:cNvSpPr txBox="1"/>
          <p:nvPr/>
        </p:nvSpPr>
        <p:spPr>
          <a:xfrm>
            <a:off x="4095750" y="2255765"/>
            <a:ext cx="156210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Graphik Semibold" panose="020B0703030202060203" pitchFamily="34" charset="0"/>
              </a:rPr>
              <a:t>Prompt &amp; investigate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8D43F47-7553-6C32-2549-C86BED65246A}"/>
              </a:ext>
            </a:extLst>
          </p:cNvPr>
          <p:cNvSpPr txBox="1"/>
          <p:nvPr/>
        </p:nvSpPr>
        <p:spPr>
          <a:xfrm>
            <a:off x="4095750" y="2389115"/>
            <a:ext cx="15621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dirty="0">
                <a:solidFill>
                  <a:srgbClr val="7B8794"/>
                </a:solidFill>
                <a:latin typeface="Graphik" panose="020B0503030202060203" pitchFamily="34" charset="0"/>
              </a:rPr>
              <a:t>Dev guides the AI turn by turn.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01E902FA-8B6C-8FC1-F96F-103511C0BC86}"/>
              </a:ext>
            </a:extLst>
          </p:cNvPr>
          <p:cNvSpPr/>
          <p:nvPr/>
        </p:nvSpPr>
        <p:spPr>
          <a:xfrm>
            <a:off x="5791200" y="230339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Graphik" panose="020B0503030202060203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B00CDF4-FD86-1120-ED80-945A6336B357}"/>
              </a:ext>
            </a:extLst>
          </p:cNvPr>
          <p:cNvSpPr txBox="1"/>
          <p:nvPr/>
        </p:nvSpPr>
        <p:spPr>
          <a:xfrm>
            <a:off x="5791200" y="2319865"/>
            <a:ext cx="47625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dirty="0">
                <a:solidFill>
                  <a:srgbClr val="5B7CB8"/>
                </a:solidFill>
                <a:latin typeface="Graphik Semibold" panose="020B0703030202060203" pitchFamily="34" charset="0"/>
              </a:rPr>
              <a:t>25 min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1BB7D693-BB6F-8096-9EC2-A595E2E3C475}"/>
              </a:ext>
            </a:extLst>
          </p:cNvPr>
          <p:cNvGrpSpPr/>
          <p:nvPr/>
        </p:nvGrpSpPr>
        <p:grpSpPr>
          <a:xfrm>
            <a:off x="3695700" y="4538590"/>
            <a:ext cx="2628900" cy="304800"/>
            <a:chOff x="3695700" y="3276600"/>
            <a:chExt cx="2628900" cy="304800"/>
          </a:xfrm>
        </p:grpSpPr>
        <p:sp>
          <p:nvSpPr>
            <p:cNvPr id="87" name="Rounded Rectangle 86">
              <a:extLst>
                <a:ext uri="{FF2B5EF4-FFF2-40B4-BE49-F238E27FC236}">
                  <a16:creationId xmlns:a16="http://schemas.microsoft.com/office/drawing/2014/main" id="{27D8C97B-0962-03E5-DD7E-36682BE2E6DD}"/>
                </a:ext>
              </a:extLst>
            </p:cNvPr>
            <p:cNvSpPr/>
            <p:nvPr/>
          </p:nvSpPr>
          <p:spPr>
            <a:xfrm>
              <a:off x="3695700" y="3276600"/>
              <a:ext cx="2628900" cy="304800"/>
            </a:xfrm>
            <a:prstGeom prst="roundRect">
              <a:avLst>
                <a:gd name="adj" fmla="val 12500"/>
              </a:avLst>
            </a:prstGeom>
            <a:solidFill>
              <a:srgbClr val="EEF3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>
                <a:latin typeface="Graphik" panose="020B0503030202060203" pitchFamily="34" charset="0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E336AE6-1A7D-645A-E4AE-426E3CEE26D4}"/>
                </a:ext>
              </a:extLst>
            </p:cNvPr>
            <p:cNvSpPr txBox="1"/>
            <p:nvPr/>
          </p:nvSpPr>
          <p:spPr>
            <a:xfrm>
              <a:off x="3771900" y="3314700"/>
              <a:ext cx="2495550" cy="2476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1" dirty="0">
                  <a:solidFill>
                    <a:srgbClr val="44546A"/>
                  </a:solidFill>
                  <a:latin typeface="Graphik" panose="020B0503030202060203" pitchFamily="34" charset="0"/>
                </a:rPr>
                <a:t>The catch: </a:t>
              </a:r>
              <a:r>
                <a:rPr sz="800" dirty="0">
                  <a:solidFill>
                    <a:srgbClr val="44546A"/>
                  </a:solidFill>
                  <a:latin typeface="Graphik" panose="020B0503030202060203" pitchFamily="34" charset="0"/>
                </a:rPr>
                <a:t>dev prompts ad-hoc, AI has no structure. On large repos it wanders and stalls.</a:t>
              </a:r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C1F60F1D-1F61-4925-8181-2DBCFF279FAE}"/>
              </a:ext>
            </a:extLst>
          </p:cNvPr>
          <p:cNvGrpSpPr/>
          <p:nvPr/>
        </p:nvGrpSpPr>
        <p:grpSpPr>
          <a:xfrm>
            <a:off x="6724650" y="2133492"/>
            <a:ext cx="4800600" cy="361950"/>
            <a:chOff x="6737350" y="4226181"/>
            <a:chExt cx="4800600" cy="361950"/>
          </a:xfrm>
        </p:grpSpPr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C71665FE-788F-9ABD-0363-A0578CDBB7F6}"/>
                </a:ext>
              </a:extLst>
            </p:cNvPr>
            <p:cNvGrpSpPr/>
            <p:nvPr/>
          </p:nvGrpSpPr>
          <p:grpSpPr>
            <a:xfrm>
              <a:off x="6737350" y="4226181"/>
              <a:ext cx="4800600" cy="361950"/>
              <a:chOff x="6762750" y="4681954"/>
              <a:chExt cx="4800600" cy="361950"/>
            </a:xfrm>
          </p:grpSpPr>
          <p:sp>
            <p:nvSpPr>
              <p:cNvPr id="172" name="Rounded Rectangle 121">
                <a:extLst>
                  <a:ext uri="{FF2B5EF4-FFF2-40B4-BE49-F238E27FC236}">
                    <a16:creationId xmlns:a16="http://schemas.microsoft.com/office/drawing/2014/main" id="{115610E0-20B8-EAC2-38B0-C6C7B075354F}"/>
                  </a:ext>
                </a:extLst>
              </p:cNvPr>
              <p:cNvSpPr/>
              <p:nvPr/>
            </p:nvSpPr>
            <p:spPr>
              <a:xfrm>
                <a:off x="6762750" y="4681954"/>
                <a:ext cx="4800600" cy="361950"/>
              </a:xfrm>
              <a:prstGeom prst="roundRect">
                <a:avLst>
                  <a:gd name="adj" fmla="val 21052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>
                  <a:latin typeface="Graphik Semibold" panose="020B0703030202060203" pitchFamily="34" charset="0"/>
                </a:endParaRPr>
              </a:p>
            </p:txBody>
          </p:sp>
          <p:sp>
            <p:nvSpPr>
              <p:cNvPr id="179" name="Rounded Rectangle 122">
                <a:extLst>
                  <a:ext uri="{FF2B5EF4-FFF2-40B4-BE49-F238E27FC236}">
                    <a16:creationId xmlns:a16="http://schemas.microsoft.com/office/drawing/2014/main" id="{1E6C50F3-75B1-13E6-F55E-C929D893EC08}"/>
                  </a:ext>
                </a:extLst>
              </p:cNvPr>
              <p:cNvSpPr/>
              <p:nvPr/>
            </p:nvSpPr>
            <p:spPr>
              <a:xfrm>
                <a:off x="6819900" y="4723229"/>
                <a:ext cx="266700" cy="266700"/>
              </a:xfrm>
              <a:prstGeom prst="roundRect">
                <a:avLst>
                  <a:gd name="adj" fmla="val 21428"/>
                </a:avLst>
              </a:prstGeom>
              <a:solidFill>
                <a:srgbClr val="BDD7E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>
                  <a:latin typeface="Graphik Semibold" panose="020B0703030202060203" pitchFamily="34" charset="0"/>
                </a:endParaRP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CA1208CC-6D98-BD02-67CA-565DC6A06717}"/>
                  </a:ext>
                </a:extLst>
              </p:cNvPr>
              <p:cNvSpPr txBox="1"/>
              <p:nvPr/>
            </p:nvSpPr>
            <p:spPr>
              <a:xfrm>
                <a:off x="7162800" y="4729579"/>
                <a:ext cx="3733800" cy="14619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US" sz="950" b="1" dirty="0">
                    <a:solidFill>
                      <a:srgbClr val="44546A"/>
                    </a:solidFill>
                    <a:latin typeface="Graphik Semibold" panose="020B0703030202060203" pitchFamily="34" charset="0"/>
                  </a:rPr>
                  <a:t>Hand bug to the agent</a:t>
                </a:r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F3E0B51-42F6-BBE4-020E-F9654A57FFAE}"/>
                  </a:ext>
                </a:extLst>
              </p:cNvPr>
              <p:cNvSpPr txBox="1"/>
              <p:nvPr/>
            </p:nvSpPr>
            <p:spPr>
              <a:xfrm>
                <a:off x="7162800" y="4862929"/>
                <a:ext cx="3733800" cy="1333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US" sz="850" dirty="0">
                    <a:solidFill>
                      <a:srgbClr val="7B8794"/>
                    </a:solidFill>
                    <a:latin typeface="Graphik Semibold" panose="020B0703030202060203" pitchFamily="34" charset="0"/>
                  </a:rPr>
                  <a:t>QA report dropped into the tool.</a:t>
                </a:r>
              </a:p>
            </p:txBody>
          </p: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150E5950-6E26-5B8B-F993-B9BF2C9F18E4}"/>
                  </a:ext>
                </a:extLst>
              </p:cNvPr>
              <p:cNvGrpSpPr/>
              <p:nvPr/>
            </p:nvGrpSpPr>
            <p:grpSpPr>
              <a:xfrm>
                <a:off x="10991850" y="4767906"/>
                <a:ext cx="476250" cy="171450"/>
                <a:chOff x="10991850" y="4324350"/>
                <a:chExt cx="476250" cy="171450"/>
              </a:xfrm>
            </p:grpSpPr>
            <p:sp>
              <p:nvSpPr>
                <p:cNvPr id="177" name="Rounded Rectangle 126">
                  <a:extLst>
                    <a:ext uri="{FF2B5EF4-FFF2-40B4-BE49-F238E27FC236}">
                      <a16:creationId xmlns:a16="http://schemas.microsoft.com/office/drawing/2014/main" id="{994A194A-1502-26D6-73D6-0E3336C0C16C}"/>
                    </a:ext>
                  </a:extLst>
                </p:cNvPr>
                <p:cNvSpPr/>
                <p:nvPr/>
              </p:nvSpPr>
              <p:spPr>
                <a:xfrm>
                  <a:off x="10991850" y="4324350"/>
                  <a:ext cx="476250" cy="171450"/>
                </a:xfrm>
                <a:prstGeom prst="roundRect">
                  <a:avLst>
                    <a:gd name="adj" fmla="val 27777"/>
                  </a:avLst>
                </a:prstGeom>
                <a:solidFill>
                  <a:srgbClr val="DCE7F7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/>
                <a:lstStyle/>
                <a:p>
                  <a:pPr algn="ctr"/>
                  <a:endParaRPr>
                    <a:latin typeface="Graphik Semibold" panose="020B0703030202060203" pitchFamily="34" charset="0"/>
                  </a:endParaRPr>
                </a:p>
              </p:txBody>
            </p:sp>
            <p:sp>
              <p:nvSpPr>
                <p:cNvPr id="178" name="TextBox 177">
                  <a:extLst>
                    <a:ext uri="{FF2B5EF4-FFF2-40B4-BE49-F238E27FC236}">
                      <a16:creationId xmlns:a16="http://schemas.microsoft.com/office/drawing/2014/main" id="{80CD2393-A82E-5D43-31ED-605845E09B59}"/>
                    </a:ext>
                  </a:extLst>
                </p:cNvPr>
                <p:cNvSpPr txBox="1"/>
                <p:nvPr/>
              </p:nvSpPr>
              <p:spPr>
                <a:xfrm>
                  <a:off x="10991850" y="4328725"/>
                  <a:ext cx="476250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lang="en-US" sz="900" b="1" dirty="0">
                      <a:solidFill>
                        <a:srgbClr val="2E5BAC"/>
                      </a:solidFill>
                      <a:latin typeface="Graphik Semibold" panose="020B0703030202060203" pitchFamily="34" charset="0"/>
                    </a:rPr>
                    <a:t>1</a:t>
                  </a:r>
                  <a:r>
                    <a:rPr sz="900" b="1" dirty="0">
                      <a:solidFill>
                        <a:srgbClr val="2E5BAC"/>
                      </a:solidFill>
                      <a:latin typeface="Graphik Semibold" panose="020B0703030202060203" pitchFamily="34" charset="0"/>
                    </a:rPr>
                    <a:t> min</a:t>
                  </a:r>
                </a:p>
              </p:txBody>
            </p:sp>
          </p:grp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36CA0C1-D7CD-FE7C-88D0-B891E4E15A44}"/>
                </a:ext>
              </a:extLst>
            </p:cNvPr>
            <p:cNvSpPr txBox="1"/>
            <p:nvPr/>
          </p:nvSpPr>
          <p:spPr>
            <a:xfrm>
              <a:off x="6794500" y="4304839"/>
              <a:ext cx="266700" cy="2154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 dirty="0">
                  <a:latin typeface="Graphik Semibold" panose="020B0703030202060203" pitchFamily="34" charset="0"/>
                </a:rPr>
                <a:t>📝</a:t>
              </a:r>
            </a:p>
          </p:txBody>
        </p:sp>
      </p:grp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0DD6BE40-0F27-7F2F-73E0-F3BAA8730F04}"/>
              </a:ext>
            </a:extLst>
          </p:cNvPr>
          <p:cNvSpPr/>
          <p:nvPr/>
        </p:nvSpPr>
        <p:spPr>
          <a:xfrm>
            <a:off x="6781800" y="2608214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Graphik" panose="020B0503030202060203" pitchFamily="34" charset="0"/>
            </a:endParaRP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6CC89431-8768-8899-C551-5D0A8561EA12}"/>
              </a:ext>
            </a:extLst>
          </p:cNvPr>
          <p:cNvSpPr/>
          <p:nvPr/>
        </p:nvSpPr>
        <p:spPr>
          <a:xfrm>
            <a:off x="10991850" y="2636789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DCE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Graphik" panose="020B0503030202060203" pitchFamily="34" charset="0"/>
            </a:endParaRPr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21275A93-D8D9-7511-62D5-AE7717D3F349}"/>
              </a:ext>
            </a:extLst>
          </p:cNvPr>
          <p:cNvGrpSpPr/>
          <p:nvPr/>
        </p:nvGrpSpPr>
        <p:grpSpPr>
          <a:xfrm>
            <a:off x="6724650" y="2560589"/>
            <a:ext cx="4800600" cy="1333500"/>
            <a:chOff x="6724650" y="2276499"/>
            <a:chExt cx="4800600" cy="1333500"/>
          </a:xfrm>
        </p:grpSpPr>
        <p:sp>
          <p:nvSpPr>
            <p:cNvPr id="97" name="Rounded Rectangle 96">
              <a:extLst>
                <a:ext uri="{FF2B5EF4-FFF2-40B4-BE49-F238E27FC236}">
                  <a16:creationId xmlns:a16="http://schemas.microsoft.com/office/drawing/2014/main" id="{5654903E-B5E1-56B8-A69C-09831697198B}"/>
                </a:ext>
              </a:extLst>
            </p:cNvPr>
            <p:cNvSpPr/>
            <p:nvPr/>
          </p:nvSpPr>
          <p:spPr>
            <a:xfrm>
              <a:off x="6724650" y="2276499"/>
              <a:ext cx="4800600" cy="1333500"/>
            </a:xfrm>
            <a:prstGeom prst="roundRect">
              <a:avLst>
                <a:gd name="adj" fmla="val 5714"/>
              </a:avLst>
            </a:prstGeom>
            <a:solidFill>
              <a:srgbClr val="EAF1FB"/>
            </a:solidFill>
            <a:ln w="12700"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>
                <a:latin typeface="Graphik" panose="020B0503030202060203" pitchFamily="34" charset="0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A17D5658-6B91-DD6D-401C-390006F59906}"/>
                </a:ext>
              </a:extLst>
            </p:cNvPr>
            <p:cNvSpPr txBox="1"/>
            <p:nvPr/>
          </p:nvSpPr>
          <p:spPr>
            <a:xfrm>
              <a:off x="7124700" y="2386917"/>
              <a:ext cx="3848100" cy="14619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50" b="1" dirty="0">
                  <a:solidFill>
                    <a:srgbClr val="44546A"/>
                  </a:solidFill>
                  <a:latin typeface="Graphik Semibold" panose="020B0703030202060203" pitchFamily="34" charset="0"/>
                </a:rPr>
                <a:t>Agent investigates, </a:t>
              </a:r>
              <a:r>
                <a:rPr lang="en-US" sz="950" b="1" dirty="0">
                  <a:solidFill>
                    <a:srgbClr val="44546A"/>
                  </a:solidFill>
                  <a:latin typeface="Graphik Semibold" panose="020B0703030202060203" pitchFamily="34" charset="0"/>
                </a:rPr>
                <a:t>finds </a:t>
              </a:r>
              <a:r>
                <a:rPr sz="950" b="1" dirty="0">
                  <a:solidFill>
                    <a:srgbClr val="44546A"/>
                  </a:solidFill>
                  <a:latin typeface="Graphik Semibold" panose="020B0703030202060203" pitchFamily="34" charset="0"/>
                </a:rPr>
                <a:t>fixes &amp; tests</a:t>
              </a:r>
            </a:p>
          </p:txBody>
        </p: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48B69A6C-68D7-830A-6756-815560B56511}"/>
                </a:ext>
              </a:extLst>
            </p:cNvPr>
            <p:cNvGrpSpPr/>
            <p:nvPr/>
          </p:nvGrpSpPr>
          <p:grpSpPr>
            <a:xfrm>
              <a:off x="6851650" y="2682971"/>
              <a:ext cx="4572000" cy="819078"/>
              <a:chOff x="6851650" y="2682971"/>
              <a:chExt cx="4572000" cy="819078"/>
            </a:xfrm>
          </p:grpSpPr>
          <p:grpSp>
            <p:nvGrpSpPr>
              <p:cNvPr id="184" name="Group 183">
                <a:extLst>
                  <a:ext uri="{FF2B5EF4-FFF2-40B4-BE49-F238E27FC236}">
                    <a16:creationId xmlns:a16="http://schemas.microsoft.com/office/drawing/2014/main" id="{131FC62B-F39E-C176-6203-8734E3614C5B}"/>
                  </a:ext>
                </a:extLst>
              </p:cNvPr>
              <p:cNvGrpSpPr/>
              <p:nvPr/>
            </p:nvGrpSpPr>
            <p:grpSpPr>
              <a:xfrm>
                <a:off x="7658100" y="3104139"/>
                <a:ext cx="2924175" cy="190500"/>
                <a:chOff x="7658100" y="3092450"/>
                <a:chExt cx="2924175" cy="190500"/>
              </a:xfrm>
            </p:grpSpPr>
            <p:sp>
              <p:nvSpPr>
                <p:cNvPr id="109" name="Rounded Rectangle 108">
                  <a:extLst>
                    <a:ext uri="{FF2B5EF4-FFF2-40B4-BE49-F238E27FC236}">
                      <a16:creationId xmlns:a16="http://schemas.microsoft.com/office/drawing/2014/main" id="{96D15C28-95D9-0991-4BDA-1740F72BAA33}"/>
                    </a:ext>
                  </a:extLst>
                </p:cNvPr>
                <p:cNvSpPr/>
                <p:nvPr/>
              </p:nvSpPr>
              <p:spPr>
                <a:xfrm>
                  <a:off x="7658100" y="3092450"/>
                  <a:ext cx="2924175" cy="190500"/>
                </a:xfrm>
                <a:prstGeom prst="roundRect">
                  <a:avLst>
                    <a:gd name="adj" fmla="val 20000"/>
                  </a:avLst>
                </a:prstGeom>
                <a:gradFill flip="none" rotWithShape="1">
                  <a:gsLst>
                    <a:gs pos="0">
                      <a:srgbClr val="5B9BD5"/>
                    </a:gs>
                    <a:gs pos="100000">
                      <a:srgbClr val="4472C4"/>
                    </a:gs>
                  </a:gsLst>
                  <a:lin ang="5400000" scaled="0"/>
                </a:gra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>
                    <a:latin typeface="Graphik Semibold" panose="020B0703030202060203" pitchFamily="34" charset="0"/>
                  </a:endParaRPr>
                </a:p>
              </p:txBody>
            </p: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91F46BF0-8B87-555B-367A-9062204B2C71}"/>
                    </a:ext>
                  </a:extLst>
                </p:cNvPr>
                <p:cNvSpPr txBox="1"/>
                <p:nvPr/>
              </p:nvSpPr>
              <p:spPr>
                <a:xfrm>
                  <a:off x="7753351" y="3122297"/>
                  <a:ext cx="2305050" cy="13080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l"/>
                  <a:r>
                    <a:rPr lang="en-US" sz="850" b="1" dirty="0">
                      <a:solidFill>
                        <a:srgbClr val="FFFFFF"/>
                      </a:solidFill>
                      <a:latin typeface="Graphik Semibold" panose="020B0703030202060203" pitchFamily="34" charset="0"/>
                    </a:rPr>
                    <a:t>Finds </a:t>
                  </a:r>
                  <a:r>
                    <a:rPr sz="850" b="1" dirty="0">
                      <a:solidFill>
                        <a:srgbClr val="FFFFFF"/>
                      </a:solidFill>
                      <a:latin typeface="Graphik Semibold" panose="020B0703030202060203" pitchFamily="34" charset="0"/>
                    </a:rPr>
                    <a:t>Fix</a:t>
                  </a:r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03AC2531-736C-6F99-5AED-2C1132AA5C93}"/>
                    </a:ext>
                  </a:extLst>
                </p:cNvPr>
                <p:cNvSpPr txBox="1"/>
                <p:nvPr/>
              </p:nvSpPr>
              <p:spPr>
                <a:xfrm>
                  <a:off x="8077200" y="3137686"/>
                  <a:ext cx="2409825" cy="11541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r"/>
                  <a:r>
                    <a:rPr sz="750" b="1">
                      <a:solidFill>
                        <a:srgbClr val="FFFFFF"/>
                      </a:solidFill>
                      <a:latin typeface="Graphik Semibold" panose="020B0703030202060203" pitchFamily="34" charset="0"/>
                    </a:rPr>
                    <a:t>root cause</a:t>
                  </a:r>
                </a:p>
              </p:txBody>
            </p:sp>
          </p:grpSp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B5A81A1E-B132-1A8F-E75B-473B85F0BC6C}"/>
                  </a:ext>
                </a:extLst>
              </p:cNvPr>
              <p:cNvGrpSpPr/>
              <p:nvPr/>
            </p:nvGrpSpPr>
            <p:grpSpPr>
              <a:xfrm>
                <a:off x="7981950" y="3311549"/>
                <a:ext cx="2286000" cy="190500"/>
                <a:chOff x="7981950" y="3302000"/>
                <a:chExt cx="2286000" cy="190500"/>
              </a:xfrm>
            </p:grpSpPr>
            <p:sp>
              <p:nvSpPr>
                <p:cNvPr id="112" name="Rounded Rectangle 111">
                  <a:extLst>
                    <a:ext uri="{FF2B5EF4-FFF2-40B4-BE49-F238E27FC236}">
                      <a16:creationId xmlns:a16="http://schemas.microsoft.com/office/drawing/2014/main" id="{AB211752-27ED-12F8-8AE8-DC9E2A881F7F}"/>
                    </a:ext>
                  </a:extLst>
                </p:cNvPr>
                <p:cNvSpPr/>
                <p:nvPr/>
              </p:nvSpPr>
              <p:spPr>
                <a:xfrm>
                  <a:off x="7981950" y="3302000"/>
                  <a:ext cx="2286000" cy="190500"/>
                </a:xfrm>
                <a:prstGeom prst="roundRect">
                  <a:avLst>
                    <a:gd name="adj" fmla="val 20000"/>
                  </a:avLst>
                </a:prstGeom>
                <a:gradFill flip="none" rotWithShape="1">
                  <a:gsLst>
                    <a:gs pos="0">
                      <a:srgbClr val="4472C4"/>
                    </a:gs>
                    <a:gs pos="100000">
                      <a:srgbClr val="2E5BAC"/>
                    </a:gs>
                  </a:gsLst>
                  <a:lin ang="5400000" scaled="0"/>
                </a:gra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>
                    <a:latin typeface="Graphik" panose="020B0503030202060203" pitchFamily="34" charset="0"/>
                  </a:endParaRPr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CECC3F44-75DD-3DC5-ABD7-447476F9D252}"/>
                    </a:ext>
                  </a:extLst>
                </p:cNvPr>
                <p:cNvSpPr txBox="1"/>
                <p:nvPr/>
              </p:nvSpPr>
              <p:spPr>
                <a:xfrm>
                  <a:off x="8077200" y="3337387"/>
                  <a:ext cx="1619250" cy="13080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l"/>
                  <a:r>
                    <a:rPr sz="850" b="1" dirty="0">
                      <a:solidFill>
                        <a:srgbClr val="FFFFFF"/>
                      </a:solidFill>
                      <a:latin typeface="Graphik Semibold" panose="020B0703030202060203" pitchFamily="34" charset="0"/>
                    </a:rPr>
                    <a:t>Verify</a:t>
                  </a: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6F09F3F1-D057-5A72-F015-39E58150163B}"/>
                    </a:ext>
                  </a:extLst>
                </p:cNvPr>
                <p:cNvSpPr txBox="1"/>
                <p:nvPr/>
              </p:nvSpPr>
              <p:spPr>
                <a:xfrm>
                  <a:off x="8426450" y="3343389"/>
                  <a:ext cx="1746250" cy="11541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r"/>
                  <a:r>
                    <a:rPr sz="750" b="1" dirty="0">
                      <a:solidFill>
                        <a:srgbClr val="FFFFFF"/>
                      </a:solidFill>
                      <a:latin typeface="Graphik Semibold" panose="020B0703030202060203" pitchFamily="34" charset="0"/>
                    </a:rPr>
                    <a:t>tests pass</a:t>
                  </a:r>
                </a:p>
              </p:txBody>
            </p:sp>
          </p:grpSp>
          <p:grpSp>
            <p:nvGrpSpPr>
              <p:cNvPr id="183" name="Group 182">
                <a:extLst>
                  <a:ext uri="{FF2B5EF4-FFF2-40B4-BE49-F238E27FC236}">
                    <a16:creationId xmlns:a16="http://schemas.microsoft.com/office/drawing/2014/main" id="{EA751C8A-1D86-D9EA-A117-3E21A2BF516D}"/>
                  </a:ext>
                </a:extLst>
              </p:cNvPr>
              <p:cNvGrpSpPr/>
              <p:nvPr/>
            </p:nvGrpSpPr>
            <p:grpSpPr>
              <a:xfrm>
                <a:off x="7343775" y="2896730"/>
                <a:ext cx="3562350" cy="190500"/>
                <a:chOff x="7343775" y="2882900"/>
                <a:chExt cx="3562350" cy="190500"/>
              </a:xfrm>
            </p:grpSpPr>
            <p:sp>
              <p:nvSpPr>
                <p:cNvPr id="106" name="Rounded Rectangle 105">
                  <a:extLst>
                    <a:ext uri="{FF2B5EF4-FFF2-40B4-BE49-F238E27FC236}">
                      <a16:creationId xmlns:a16="http://schemas.microsoft.com/office/drawing/2014/main" id="{2125E53B-0004-3BF8-EBE2-B326C46C9DA7}"/>
                    </a:ext>
                  </a:extLst>
                </p:cNvPr>
                <p:cNvSpPr/>
                <p:nvPr/>
              </p:nvSpPr>
              <p:spPr>
                <a:xfrm>
                  <a:off x="7343775" y="2882900"/>
                  <a:ext cx="3562350" cy="190500"/>
                </a:xfrm>
                <a:prstGeom prst="roundRect">
                  <a:avLst>
                    <a:gd name="adj" fmla="val 20000"/>
                  </a:avLst>
                </a:prstGeom>
                <a:gradFill flip="none" rotWithShape="1">
                  <a:gsLst>
                    <a:gs pos="0">
                      <a:srgbClr val="8FAADC"/>
                    </a:gs>
                    <a:gs pos="100000">
                      <a:srgbClr val="5B9BD5"/>
                    </a:gs>
                  </a:gsLst>
                  <a:lin ang="5400000" scaled="0"/>
                </a:gra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>
                    <a:latin typeface="Graphik Semibold" panose="020B0703030202060203" pitchFamily="34" charset="0"/>
                  </a:endParaRPr>
                </a:p>
              </p:txBody>
            </p: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F3B034C3-5395-67DA-EC01-0B5DB4CFF4CC}"/>
                    </a:ext>
                  </a:extLst>
                </p:cNvPr>
                <p:cNvSpPr txBox="1"/>
                <p:nvPr/>
              </p:nvSpPr>
              <p:spPr>
                <a:xfrm>
                  <a:off x="7931149" y="2930975"/>
                  <a:ext cx="2879725" cy="11541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r"/>
                  <a:r>
                    <a:rPr sz="750" b="1" dirty="0">
                      <a:solidFill>
                        <a:srgbClr val="FFFFFF"/>
                      </a:solidFill>
                      <a:latin typeface="Graphik" panose="020B0503030202060203" pitchFamily="34" charset="0"/>
                    </a:rPr>
                    <a:t>suspect files</a:t>
                  </a:r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F69A276A-FDCD-2429-9185-556FD2BF9DFF}"/>
                    </a:ext>
                  </a:extLst>
                </p:cNvPr>
                <p:cNvSpPr txBox="1"/>
                <p:nvPr/>
              </p:nvSpPr>
              <p:spPr>
                <a:xfrm>
                  <a:off x="7439025" y="2905053"/>
                  <a:ext cx="2879725" cy="13080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l"/>
                  <a:r>
                    <a:rPr sz="850" b="1" dirty="0">
                      <a:solidFill>
                        <a:srgbClr val="FFFFFF"/>
                      </a:solidFill>
                      <a:latin typeface="Graphik Semibold" panose="020B0703030202060203" pitchFamily="34" charset="0"/>
                    </a:rPr>
                    <a:t>Diagnose</a:t>
                  </a:r>
                </a:p>
              </p:txBody>
            </p:sp>
          </p:grpSp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F0402E41-7AA2-6DBB-A192-AA23FDE6BB73}"/>
                  </a:ext>
                </a:extLst>
              </p:cNvPr>
              <p:cNvGrpSpPr/>
              <p:nvPr/>
            </p:nvGrpSpPr>
            <p:grpSpPr>
              <a:xfrm>
                <a:off x="6851650" y="2682971"/>
                <a:ext cx="4572000" cy="190500"/>
                <a:chOff x="6851650" y="2825822"/>
                <a:chExt cx="4572000" cy="190500"/>
              </a:xfrm>
            </p:grpSpPr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72104F1F-BA8D-1D83-73F5-D7FB69C91D41}"/>
                    </a:ext>
                  </a:extLst>
                </p:cNvPr>
                <p:cNvGrpSpPr/>
                <p:nvPr/>
              </p:nvGrpSpPr>
              <p:grpSpPr>
                <a:xfrm>
                  <a:off x="6851650" y="2825822"/>
                  <a:ext cx="4572000" cy="190500"/>
                  <a:chOff x="6838950" y="2667000"/>
                  <a:chExt cx="4572000" cy="190500"/>
                </a:xfrm>
              </p:grpSpPr>
              <p:sp>
                <p:nvSpPr>
                  <p:cNvPr id="103" name="Rounded Rectangle 102">
                    <a:extLst>
                      <a:ext uri="{FF2B5EF4-FFF2-40B4-BE49-F238E27FC236}">
                        <a16:creationId xmlns:a16="http://schemas.microsoft.com/office/drawing/2014/main" id="{AB2E6471-D594-BF76-6CE6-1E4653D14C9F}"/>
                      </a:ext>
                    </a:extLst>
                  </p:cNvPr>
                  <p:cNvSpPr/>
                  <p:nvPr/>
                </p:nvSpPr>
                <p:spPr>
                  <a:xfrm>
                    <a:off x="6838950" y="2667000"/>
                    <a:ext cx="4572000" cy="190500"/>
                  </a:xfrm>
                  <a:prstGeom prst="roundRect">
                    <a:avLst>
                      <a:gd name="adj" fmla="val 20000"/>
                    </a:avLst>
                  </a:prstGeom>
                  <a:gradFill flip="none" rotWithShape="1">
                    <a:gsLst>
                      <a:gs pos="0">
                        <a:srgbClr val="BDD7EE"/>
                      </a:gs>
                      <a:gs pos="100000">
                        <a:srgbClr val="8FAADC"/>
                      </a:gs>
                    </a:gsLst>
                    <a:lin ang="5400000" scaled="0"/>
                  </a:gra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>
                      <a:latin typeface="Graphik" panose="020B0503030202060203" pitchFamily="34" charset="0"/>
                    </a:endParaRPr>
                  </a:p>
                </p:txBody>
              </p:sp>
              <p:sp>
                <p:nvSpPr>
                  <p:cNvPr id="105" name="TextBox 104">
                    <a:extLst>
                      <a:ext uri="{FF2B5EF4-FFF2-40B4-BE49-F238E27FC236}">
                        <a16:creationId xmlns:a16="http://schemas.microsoft.com/office/drawing/2014/main" id="{7EAF1186-6B11-75E8-E426-330B1E085442}"/>
                      </a:ext>
                    </a:extLst>
                  </p:cNvPr>
                  <p:cNvSpPr txBox="1"/>
                  <p:nvPr/>
                </p:nvSpPr>
                <p:spPr>
                  <a:xfrm>
                    <a:off x="6934200" y="2704542"/>
                    <a:ext cx="4381500" cy="11541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r"/>
                    <a:r>
                      <a:rPr sz="750" b="1" dirty="0">
                        <a:solidFill>
                          <a:srgbClr val="44546A"/>
                        </a:solidFill>
                        <a:latin typeface="Graphik Semibold" panose="020B0703030202060203" pitchFamily="34" charset="0"/>
                      </a:rPr>
                      <a:t>whole repo</a:t>
                    </a:r>
                  </a:p>
                </p:txBody>
              </p:sp>
            </p:grp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580D7419-3851-6A47-F775-C06B458293E8}"/>
                    </a:ext>
                  </a:extLst>
                </p:cNvPr>
                <p:cNvSpPr txBox="1"/>
                <p:nvPr/>
              </p:nvSpPr>
              <p:spPr>
                <a:xfrm>
                  <a:off x="6940550" y="2846074"/>
                  <a:ext cx="3870324" cy="13080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l"/>
                  <a:r>
                    <a:rPr sz="850" b="1" dirty="0">
                      <a:solidFill>
                        <a:srgbClr val="44546A"/>
                      </a:solidFill>
                      <a:latin typeface="Graphik Semibold" panose="020B0703030202060203" pitchFamily="34" charset="0"/>
                    </a:rPr>
                    <a:t>QA Bug › Investigate</a:t>
                  </a:r>
                </a:p>
              </p:txBody>
            </p:sp>
          </p:grpSp>
        </p:grp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49464254-984B-9098-DCA5-B322DBEA38D8}"/>
                </a:ext>
              </a:extLst>
            </p:cNvPr>
            <p:cNvSpPr txBox="1"/>
            <p:nvPr/>
          </p:nvSpPr>
          <p:spPr>
            <a:xfrm>
              <a:off x="6781800" y="2349752"/>
              <a:ext cx="266700" cy="2154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 dirty="0">
                  <a:latin typeface="Graphik" panose="020B0503030202060203" pitchFamily="34" charset="0"/>
                </a:rPr>
                <a:t>🤖</a:t>
              </a:r>
            </a:p>
          </p:txBody>
        </p:sp>
      </p:grp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5A95848A-2C4E-6142-81D8-0085625A0286}"/>
              </a:ext>
            </a:extLst>
          </p:cNvPr>
          <p:cNvSpPr/>
          <p:nvPr/>
        </p:nvSpPr>
        <p:spPr>
          <a:xfrm>
            <a:off x="6724650" y="4386334"/>
            <a:ext cx="48006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Graphik" panose="020B0503030202060203" pitchFamily="34" charset="0"/>
            </a:endParaRP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F3789F4E-0F4B-29AC-0C44-C6FA377880E1}"/>
              </a:ext>
            </a:extLst>
          </p:cNvPr>
          <p:cNvGrpSpPr/>
          <p:nvPr/>
        </p:nvGrpSpPr>
        <p:grpSpPr>
          <a:xfrm>
            <a:off x="6781800" y="4427609"/>
            <a:ext cx="266700" cy="266700"/>
            <a:chOff x="6819900" y="4314826"/>
            <a:chExt cx="266700" cy="266700"/>
          </a:xfrm>
        </p:grpSpPr>
        <p:sp>
          <p:nvSpPr>
            <p:cNvPr id="123" name="Rounded Rectangle 122">
              <a:extLst>
                <a:ext uri="{FF2B5EF4-FFF2-40B4-BE49-F238E27FC236}">
                  <a16:creationId xmlns:a16="http://schemas.microsoft.com/office/drawing/2014/main" id="{5C22F76C-5310-CA42-AEA6-2A2CB0BDF37A}"/>
                </a:ext>
              </a:extLst>
            </p:cNvPr>
            <p:cNvSpPr/>
            <p:nvPr/>
          </p:nvSpPr>
          <p:spPr>
            <a:xfrm>
              <a:off x="6819900" y="4314826"/>
              <a:ext cx="266700" cy="266700"/>
            </a:xfrm>
            <a:prstGeom prst="roundRect">
              <a:avLst>
                <a:gd name="adj" fmla="val 21428"/>
              </a:avLst>
            </a:prstGeom>
            <a:solidFill>
              <a:srgbClr val="BDD7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>
                <a:latin typeface="Graphik" panose="020B0503030202060203" pitchFamily="34" charset="0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7C30ACFF-7EC6-A05F-9E49-D0E7C51CA59F}"/>
                </a:ext>
              </a:extLst>
            </p:cNvPr>
            <p:cNvSpPr txBox="1"/>
            <p:nvPr/>
          </p:nvSpPr>
          <p:spPr>
            <a:xfrm>
              <a:off x="6819900" y="4359503"/>
              <a:ext cx="266700" cy="2154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 dirty="0">
                  <a:latin typeface="Graphik" panose="020B0503030202060203" pitchFamily="34" charset="0"/>
                </a:rPr>
                <a:t>✅</a:t>
              </a:r>
            </a:p>
          </p:txBody>
        </p:sp>
      </p:grpSp>
      <p:sp>
        <p:nvSpPr>
          <p:cNvPr id="125" name="TextBox 124">
            <a:extLst>
              <a:ext uri="{FF2B5EF4-FFF2-40B4-BE49-F238E27FC236}">
                <a16:creationId xmlns:a16="http://schemas.microsoft.com/office/drawing/2014/main" id="{42255CFF-1B39-3CA1-0CA9-15212B33DB06}"/>
              </a:ext>
            </a:extLst>
          </p:cNvPr>
          <p:cNvSpPr txBox="1"/>
          <p:nvPr/>
        </p:nvSpPr>
        <p:spPr>
          <a:xfrm>
            <a:off x="7124700" y="4433959"/>
            <a:ext cx="373380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dirty="0">
                <a:solidFill>
                  <a:srgbClr val="44546A"/>
                </a:solidFill>
                <a:latin typeface="Graphik Semibold" panose="020B0703030202060203" pitchFamily="34" charset="0"/>
              </a:rPr>
              <a:t>Approve &amp; ship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F30F4632-EBB2-A642-601F-76954604F5DD}"/>
              </a:ext>
            </a:extLst>
          </p:cNvPr>
          <p:cNvSpPr txBox="1"/>
          <p:nvPr/>
        </p:nvSpPr>
        <p:spPr>
          <a:xfrm>
            <a:off x="7124700" y="4567309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dirty="0">
                <a:solidFill>
                  <a:srgbClr val="7B8794"/>
                </a:solidFill>
                <a:latin typeface="Graphik" panose="020B0503030202060203" pitchFamily="34" charset="0"/>
              </a:rPr>
              <a:t>Tests already passed in the agent run.</a:t>
            </a:r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41249F18-0214-CEC7-6D50-67349BB2C41B}"/>
              </a:ext>
            </a:extLst>
          </p:cNvPr>
          <p:cNvGrpSpPr/>
          <p:nvPr/>
        </p:nvGrpSpPr>
        <p:grpSpPr>
          <a:xfrm>
            <a:off x="10953750" y="4472286"/>
            <a:ext cx="476250" cy="171450"/>
            <a:chOff x="10991850" y="4324350"/>
            <a:chExt cx="476250" cy="171450"/>
          </a:xfrm>
        </p:grpSpPr>
        <p:sp>
          <p:nvSpPr>
            <p:cNvPr id="127" name="Rounded Rectangle 126">
              <a:extLst>
                <a:ext uri="{FF2B5EF4-FFF2-40B4-BE49-F238E27FC236}">
                  <a16:creationId xmlns:a16="http://schemas.microsoft.com/office/drawing/2014/main" id="{1E65B0D7-AD12-217F-FFE9-3F9BDB6C2874}"/>
                </a:ext>
              </a:extLst>
            </p:cNvPr>
            <p:cNvSpPr/>
            <p:nvPr/>
          </p:nvSpPr>
          <p:spPr>
            <a:xfrm>
              <a:off x="10991850" y="4324350"/>
              <a:ext cx="476250" cy="171450"/>
            </a:xfrm>
            <a:prstGeom prst="roundRect">
              <a:avLst>
                <a:gd name="adj" fmla="val 27777"/>
              </a:avLst>
            </a:prstGeom>
            <a:solidFill>
              <a:srgbClr val="DCE7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>
                <a:latin typeface="Graphik" panose="020B0503030202060203" pitchFamily="34" charset="0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B4A3C98D-F38F-4FFA-120D-F8236F4E633E}"/>
                </a:ext>
              </a:extLst>
            </p:cNvPr>
            <p:cNvSpPr txBox="1"/>
            <p:nvPr/>
          </p:nvSpPr>
          <p:spPr>
            <a:xfrm>
              <a:off x="10991850" y="4328725"/>
              <a:ext cx="476250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2E5BAC"/>
                  </a:solidFill>
                  <a:latin typeface="Graphik Semibold" panose="020B0703030202060203" pitchFamily="34" charset="0"/>
                </a:rPr>
                <a:t>2 min</a:t>
              </a:r>
            </a:p>
          </p:txBody>
        </p: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28A6039D-9A46-E902-8C10-7801680957B0}"/>
              </a:ext>
            </a:extLst>
          </p:cNvPr>
          <p:cNvGrpSpPr/>
          <p:nvPr/>
        </p:nvGrpSpPr>
        <p:grpSpPr>
          <a:xfrm>
            <a:off x="6724650" y="3959236"/>
            <a:ext cx="4800600" cy="361950"/>
            <a:chOff x="6731987" y="4202954"/>
            <a:chExt cx="4800600" cy="361950"/>
          </a:xfrm>
        </p:grpSpPr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396162BB-4C8D-EBF5-1143-04B87E62B160}"/>
                </a:ext>
              </a:extLst>
            </p:cNvPr>
            <p:cNvGrpSpPr/>
            <p:nvPr/>
          </p:nvGrpSpPr>
          <p:grpSpPr>
            <a:xfrm>
              <a:off x="6731987" y="4202954"/>
              <a:ext cx="4800600" cy="361950"/>
              <a:chOff x="6762750" y="4681954"/>
              <a:chExt cx="4800600" cy="361950"/>
            </a:xfrm>
          </p:grpSpPr>
          <p:sp>
            <p:nvSpPr>
              <p:cNvPr id="193" name="Rounded Rectangle 121">
                <a:extLst>
                  <a:ext uri="{FF2B5EF4-FFF2-40B4-BE49-F238E27FC236}">
                    <a16:creationId xmlns:a16="http://schemas.microsoft.com/office/drawing/2014/main" id="{E1158E93-FB3E-2D2C-66F0-B870EB0311DF}"/>
                  </a:ext>
                </a:extLst>
              </p:cNvPr>
              <p:cNvSpPr/>
              <p:nvPr/>
            </p:nvSpPr>
            <p:spPr>
              <a:xfrm>
                <a:off x="6762750" y="4681954"/>
                <a:ext cx="4800600" cy="361950"/>
              </a:xfrm>
              <a:prstGeom prst="roundRect">
                <a:avLst>
                  <a:gd name="adj" fmla="val 21052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>
                  <a:latin typeface="Graphik" panose="020B0503030202060203" pitchFamily="34" charset="0"/>
                </a:endParaRPr>
              </a:p>
            </p:txBody>
          </p:sp>
          <p:sp>
            <p:nvSpPr>
              <p:cNvPr id="200" name="Rounded Rectangle 122">
                <a:extLst>
                  <a:ext uri="{FF2B5EF4-FFF2-40B4-BE49-F238E27FC236}">
                    <a16:creationId xmlns:a16="http://schemas.microsoft.com/office/drawing/2014/main" id="{048BF935-EFF3-D5CF-F998-D5807BD00CFD}"/>
                  </a:ext>
                </a:extLst>
              </p:cNvPr>
              <p:cNvSpPr/>
              <p:nvPr/>
            </p:nvSpPr>
            <p:spPr>
              <a:xfrm>
                <a:off x="6819900" y="4723229"/>
                <a:ext cx="266700" cy="266700"/>
              </a:xfrm>
              <a:prstGeom prst="roundRect">
                <a:avLst>
                  <a:gd name="adj" fmla="val 21428"/>
                </a:avLst>
              </a:prstGeom>
              <a:solidFill>
                <a:srgbClr val="BDD7E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>
                  <a:latin typeface="Graphik" panose="020B0503030202060203" pitchFamily="34" charset="0"/>
                </a:endParaRPr>
              </a:p>
            </p:txBody>
          </p: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0494C6CD-A622-A682-2004-0BAF5B32C997}"/>
                  </a:ext>
                </a:extLst>
              </p:cNvPr>
              <p:cNvSpPr txBox="1"/>
              <p:nvPr/>
            </p:nvSpPr>
            <p:spPr>
              <a:xfrm>
                <a:off x="7162800" y="4729579"/>
                <a:ext cx="3733800" cy="14619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US" sz="950" b="1" dirty="0">
                    <a:solidFill>
                      <a:srgbClr val="44546A"/>
                    </a:solidFill>
                    <a:latin typeface="Graphik Semibold" panose="020B0703030202060203" pitchFamily="34" charset="0"/>
                  </a:rPr>
                  <a:t>Dev reviews the report</a:t>
                </a:r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0B9657AD-FBAC-F363-5717-214382F8A5B4}"/>
                  </a:ext>
                </a:extLst>
              </p:cNvPr>
              <p:cNvSpPr txBox="1"/>
              <p:nvPr/>
            </p:nvSpPr>
            <p:spPr>
              <a:xfrm>
                <a:off x="7162800" y="4862929"/>
                <a:ext cx="3733800" cy="1333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US" sz="850" dirty="0">
                    <a:solidFill>
                      <a:srgbClr val="7B8794"/>
                    </a:solidFill>
                    <a:latin typeface="Graphik" panose="020B0503030202060203" pitchFamily="34" charset="0"/>
                  </a:rPr>
                  <a:t>Reads findings, approves the fix.</a:t>
                </a:r>
              </a:p>
            </p:txBody>
          </p: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6DE7B9FA-3DB2-6212-2F94-5000FF8FC6D0}"/>
                  </a:ext>
                </a:extLst>
              </p:cNvPr>
              <p:cNvGrpSpPr/>
              <p:nvPr/>
            </p:nvGrpSpPr>
            <p:grpSpPr>
              <a:xfrm>
                <a:off x="10991850" y="4767906"/>
                <a:ext cx="476250" cy="171450"/>
                <a:chOff x="10991850" y="4324350"/>
                <a:chExt cx="476250" cy="171450"/>
              </a:xfrm>
            </p:grpSpPr>
            <p:sp>
              <p:nvSpPr>
                <p:cNvPr id="198" name="Rounded Rectangle 126">
                  <a:extLst>
                    <a:ext uri="{FF2B5EF4-FFF2-40B4-BE49-F238E27FC236}">
                      <a16:creationId xmlns:a16="http://schemas.microsoft.com/office/drawing/2014/main" id="{D7BEA7EB-5EE2-AA9A-BE84-ED5C099144C7}"/>
                    </a:ext>
                  </a:extLst>
                </p:cNvPr>
                <p:cNvSpPr/>
                <p:nvPr/>
              </p:nvSpPr>
              <p:spPr>
                <a:xfrm>
                  <a:off x="10991850" y="4324350"/>
                  <a:ext cx="476250" cy="171450"/>
                </a:xfrm>
                <a:prstGeom prst="roundRect">
                  <a:avLst>
                    <a:gd name="adj" fmla="val 27777"/>
                  </a:avLst>
                </a:prstGeom>
                <a:solidFill>
                  <a:srgbClr val="DCE7F7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/>
                <a:lstStyle/>
                <a:p>
                  <a:pPr algn="ctr"/>
                  <a:endParaRPr>
                    <a:latin typeface="Graphik" panose="020B0503030202060203" pitchFamily="34" charset="0"/>
                  </a:endParaRPr>
                </a:p>
              </p:txBody>
            </p:sp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4F3B9B18-EBDD-EAC0-2F21-5AD619A4768F}"/>
                    </a:ext>
                  </a:extLst>
                </p:cNvPr>
                <p:cNvSpPr txBox="1"/>
                <p:nvPr/>
              </p:nvSpPr>
              <p:spPr>
                <a:xfrm>
                  <a:off x="10991850" y="4328725"/>
                  <a:ext cx="476250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lang="en-US" sz="900" b="1" dirty="0">
                      <a:solidFill>
                        <a:srgbClr val="2E5BAC"/>
                      </a:solidFill>
                      <a:latin typeface="Graphik Semibold" panose="020B0703030202060203" pitchFamily="34" charset="0"/>
                    </a:rPr>
                    <a:t>3</a:t>
                  </a:r>
                  <a:r>
                    <a:rPr sz="900" b="1" dirty="0">
                      <a:solidFill>
                        <a:srgbClr val="2E5BAC"/>
                      </a:solidFill>
                      <a:latin typeface="Graphik Semibold" panose="020B0703030202060203" pitchFamily="34" charset="0"/>
                    </a:rPr>
                    <a:t> min</a:t>
                  </a:r>
                </a:p>
              </p:txBody>
            </p:sp>
          </p:grpSp>
        </p:grp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C8991566-8B9B-3C4F-A069-29F5DEA3C72E}"/>
                </a:ext>
              </a:extLst>
            </p:cNvPr>
            <p:cNvSpPr txBox="1"/>
            <p:nvPr/>
          </p:nvSpPr>
          <p:spPr>
            <a:xfrm>
              <a:off x="6788150" y="4276726"/>
              <a:ext cx="266700" cy="2154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 dirty="0">
                  <a:latin typeface="Graphik" panose="020B0503030202060203" pitchFamily="34" charset="0"/>
                </a:rPr>
                <a:t>📋</a:t>
              </a:r>
            </a:p>
          </p:txBody>
        </p: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F1B5CE21-9543-B366-CA82-754617D929B0}"/>
              </a:ext>
            </a:extLst>
          </p:cNvPr>
          <p:cNvGrpSpPr/>
          <p:nvPr/>
        </p:nvGrpSpPr>
        <p:grpSpPr>
          <a:xfrm>
            <a:off x="533400" y="5038444"/>
            <a:ext cx="11125200" cy="770512"/>
            <a:chOff x="533400" y="4718849"/>
            <a:chExt cx="11125200" cy="666750"/>
          </a:xfrm>
        </p:grpSpPr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8DD680A0-6E5B-942B-046D-8BBF632BFBC1}"/>
                </a:ext>
              </a:extLst>
            </p:cNvPr>
            <p:cNvGrpSpPr/>
            <p:nvPr/>
          </p:nvGrpSpPr>
          <p:grpSpPr>
            <a:xfrm>
              <a:off x="533400" y="4718849"/>
              <a:ext cx="11125200" cy="666750"/>
              <a:chOff x="533400" y="5295900"/>
              <a:chExt cx="11125200" cy="666750"/>
            </a:xfrm>
          </p:grpSpPr>
          <p:sp>
            <p:nvSpPr>
              <p:cNvPr id="129" name="Rounded Rectangle 128">
                <a:extLst>
                  <a:ext uri="{FF2B5EF4-FFF2-40B4-BE49-F238E27FC236}">
                    <a16:creationId xmlns:a16="http://schemas.microsoft.com/office/drawing/2014/main" id="{28BA1B6E-F944-24E7-8E58-3C2355DBA888}"/>
                  </a:ext>
                </a:extLst>
              </p:cNvPr>
              <p:cNvSpPr/>
              <p:nvPr/>
            </p:nvSpPr>
            <p:spPr>
              <a:xfrm>
                <a:off x="533400" y="5295900"/>
                <a:ext cx="11125200" cy="666750"/>
              </a:xfrm>
              <a:prstGeom prst="roundRect">
                <a:avLst>
                  <a:gd name="adj" fmla="val 17142"/>
                </a:avLst>
              </a:prstGeom>
              <a:gradFill flip="none" rotWithShape="1">
                <a:gsLst>
                  <a:gs pos="0">
                    <a:srgbClr val="44546A"/>
                  </a:gs>
                  <a:gs pos="100000">
                    <a:srgbClr val="4472C4"/>
                  </a:gs>
                </a:gsLst>
                <a:lin ang="8100000" scaled="0"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>
                  <a:latin typeface="Graphik" panose="020B0503030202060203" pitchFamily="34" charset="0"/>
                </a:endParaRP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19162ABF-F181-8AA3-F7FE-50EDA000D2E8}"/>
                  </a:ext>
                </a:extLst>
              </p:cNvPr>
              <p:cNvSpPr txBox="1"/>
              <p:nvPr/>
            </p:nvSpPr>
            <p:spPr>
              <a:xfrm>
                <a:off x="533400" y="5391150"/>
                <a:ext cx="2781300" cy="9987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750" b="1" spc="150" dirty="0">
                    <a:solidFill>
                      <a:srgbClr val="BDD7EE"/>
                    </a:solidFill>
                    <a:latin typeface="Graphik" panose="020B0503030202060203" pitchFamily="34" charset="0"/>
                  </a:rPr>
                  <a:t>COST / BUG: MANUAL</a:t>
                </a: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69C7A2A3-50CE-FBDB-51F2-AC029A9233AE}"/>
                  </a:ext>
                </a:extLst>
              </p:cNvPr>
              <p:cNvSpPr txBox="1"/>
              <p:nvPr/>
            </p:nvSpPr>
            <p:spPr>
              <a:xfrm>
                <a:off x="533400" y="5513133"/>
                <a:ext cx="2781300" cy="23969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b="1" dirty="0">
                    <a:solidFill>
                      <a:srgbClr val="FFFFFF"/>
                    </a:solidFill>
                    <a:latin typeface="Graphik Semibold" panose="020B0703030202060203" pitchFamily="34" charset="0"/>
                  </a:rPr>
                  <a:t>$60.00</a:t>
                </a: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7FB5496E-E8FF-97A8-B3F0-2ADBD2C3FC6B}"/>
                  </a:ext>
                </a:extLst>
              </p:cNvPr>
              <p:cNvSpPr txBox="1"/>
              <p:nvPr/>
            </p:nvSpPr>
            <p:spPr>
              <a:xfrm>
                <a:off x="533400" y="5772150"/>
                <a:ext cx="2781300" cy="10653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800">
                    <a:solidFill>
                      <a:srgbClr val="BDD7EE"/>
                    </a:solidFill>
                    <a:latin typeface="Graphik" panose="020B0503030202060203" pitchFamily="34" charset="0"/>
                  </a:rPr>
                  <a:t>75 min × $48/hr</a:t>
                </a: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B0FFF665-01A0-74BD-B0C3-0DD6FFE6C2FC}"/>
                  </a:ext>
                </a:extLst>
              </p:cNvPr>
              <p:cNvSpPr txBox="1"/>
              <p:nvPr/>
            </p:nvSpPr>
            <p:spPr>
              <a:xfrm>
                <a:off x="3314700" y="5391150"/>
                <a:ext cx="2781300" cy="9987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750" b="1" spc="150">
                    <a:solidFill>
                      <a:srgbClr val="BDD7EE"/>
                    </a:solidFill>
                    <a:latin typeface="Graphik" panose="020B0503030202060203" pitchFamily="34" charset="0"/>
                  </a:rPr>
                  <a:t>COST / BUG: VIBE CODING</a:t>
                </a:r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62B39FC8-3BA6-D1A6-D2E0-E03F4916A93C}"/>
                  </a:ext>
                </a:extLst>
              </p:cNvPr>
              <p:cNvSpPr txBox="1"/>
              <p:nvPr/>
            </p:nvSpPr>
            <p:spPr>
              <a:xfrm>
                <a:off x="3314700" y="5513133"/>
                <a:ext cx="2781300" cy="23969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b="1">
                    <a:solidFill>
                      <a:srgbClr val="FFFFFF"/>
                    </a:solidFill>
                    <a:latin typeface="Graphik Semibold" panose="020B0703030202060203" pitchFamily="34" charset="0"/>
                  </a:rPr>
                  <a:t>$36.00</a:t>
                </a: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3379A1D3-9FCB-3EEA-0ED0-959E47D0FF1E}"/>
                  </a:ext>
                </a:extLst>
              </p:cNvPr>
              <p:cNvSpPr txBox="1"/>
              <p:nvPr/>
            </p:nvSpPr>
            <p:spPr>
              <a:xfrm>
                <a:off x="3314700" y="5772150"/>
                <a:ext cx="2781300" cy="10653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800">
                    <a:solidFill>
                      <a:srgbClr val="BDD7EE"/>
                    </a:solidFill>
                    <a:latin typeface="Graphik" panose="020B0503030202060203" pitchFamily="34" charset="0"/>
                  </a:rPr>
                  <a:t>40 min dev + ~$4 AI tokens</a:t>
                </a: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49D9411A-772A-18E4-D726-F8BAE5AF2C77}"/>
                  </a:ext>
                </a:extLst>
              </p:cNvPr>
              <p:cNvSpPr txBox="1"/>
              <p:nvPr/>
            </p:nvSpPr>
            <p:spPr>
              <a:xfrm>
                <a:off x="6096000" y="5391150"/>
                <a:ext cx="2781300" cy="9987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750" b="1" spc="150">
                    <a:solidFill>
                      <a:srgbClr val="BDD7EE"/>
                    </a:solidFill>
                    <a:latin typeface="Graphik" panose="020B0503030202060203" pitchFamily="34" charset="0"/>
                  </a:rPr>
                  <a:t>COST / BUG: AGENTIC</a:t>
                </a: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EA1A4532-656C-EB6C-195F-CB22CB8F2CEA}"/>
                  </a:ext>
                </a:extLst>
              </p:cNvPr>
              <p:cNvSpPr txBox="1"/>
              <p:nvPr/>
            </p:nvSpPr>
            <p:spPr>
              <a:xfrm>
                <a:off x="6096000" y="5513133"/>
                <a:ext cx="2781300" cy="23969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b="1">
                    <a:solidFill>
                      <a:srgbClr val="FFD966"/>
                    </a:solidFill>
                    <a:latin typeface="Graphik Semibold" panose="020B0703030202060203" pitchFamily="34" charset="0"/>
                  </a:rPr>
                  <a:t>$6.00</a:t>
                </a:r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8E583CE0-28F9-CCDC-D273-5F42B0FAF6C4}"/>
                  </a:ext>
                </a:extLst>
              </p:cNvPr>
              <p:cNvSpPr txBox="1"/>
              <p:nvPr/>
            </p:nvSpPr>
            <p:spPr>
              <a:xfrm>
                <a:off x="6096000" y="5772150"/>
                <a:ext cx="2781300" cy="10653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800">
                    <a:solidFill>
                      <a:srgbClr val="BDD7EE"/>
                    </a:solidFill>
                    <a:latin typeface="Graphik" panose="020B0503030202060203" pitchFamily="34" charset="0"/>
                  </a:rPr>
                  <a:t>5 min dev time + ~$2 agent run</a:t>
                </a: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5929FBA3-7194-62BA-BA62-AEA5BACEA2D6}"/>
                  </a:ext>
                </a:extLst>
              </p:cNvPr>
              <p:cNvSpPr txBox="1"/>
              <p:nvPr/>
            </p:nvSpPr>
            <p:spPr>
              <a:xfrm>
                <a:off x="8877300" y="5391150"/>
                <a:ext cx="2781300" cy="9987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750" b="1" spc="150" dirty="0">
                    <a:solidFill>
                      <a:srgbClr val="BDD7EE"/>
                    </a:solidFill>
                    <a:latin typeface="Graphik" panose="020B0503030202060203" pitchFamily="34" charset="0"/>
                  </a:rPr>
                  <a:t>NET SAVINGS: AGENTIC</a:t>
                </a: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22BA232B-C35F-72C2-BEDE-620ADC983248}"/>
                  </a:ext>
                </a:extLst>
              </p:cNvPr>
              <p:cNvSpPr txBox="1"/>
              <p:nvPr/>
            </p:nvSpPr>
            <p:spPr>
              <a:xfrm>
                <a:off x="8877300" y="5513133"/>
                <a:ext cx="2781300" cy="23969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b="1">
                    <a:solidFill>
                      <a:srgbClr val="FFC000"/>
                    </a:solidFill>
                    <a:latin typeface="Graphik Semibold" panose="020B0703030202060203" pitchFamily="34" charset="0"/>
                  </a:rPr>
                  <a:t>$30.00</a:t>
                </a:r>
                <a:r>
                  <a:rPr sz="700" b="1">
                    <a:solidFill>
                      <a:srgbClr val="DBE5F1"/>
                    </a:solidFill>
                    <a:latin typeface="Graphik Semibold" panose="020B0703030202060203" pitchFamily="34" charset="0"/>
                  </a:rPr>
                  <a:t> vs Vibe Coding</a:t>
                </a: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EB5DDFF0-7AF8-C26A-8262-3235A1021332}"/>
                  </a:ext>
                </a:extLst>
              </p:cNvPr>
              <p:cNvSpPr txBox="1"/>
              <p:nvPr/>
            </p:nvSpPr>
            <p:spPr>
              <a:xfrm>
                <a:off x="8877300" y="5772150"/>
                <a:ext cx="2781300" cy="10653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800" b="1" dirty="0">
                    <a:solidFill>
                      <a:srgbClr val="FFD966"/>
                    </a:solidFill>
                    <a:latin typeface="Graphik" panose="020B0503030202060203" pitchFamily="34" charset="0"/>
                  </a:rPr>
                  <a:t>$54</a:t>
                </a:r>
                <a:r>
                  <a:rPr sz="800" dirty="0">
                    <a:solidFill>
                      <a:srgbClr val="BDD7EE"/>
                    </a:solidFill>
                    <a:latin typeface="Graphik" panose="020B0503030202060203" pitchFamily="34" charset="0"/>
                  </a:rPr>
                  <a:t> vs manual · At 500 bugs/yr → </a:t>
                </a:r>
                <a:r>
                  <a:rPr sz="800" b="1" dirty="0">
                    <a:solidFill>
                      <a:srgbClr val="FFFFFF"/>
                    </a:solidFill>
                    <a:latin typeface="Graphik" panose="020B0503030202060203" pitchFamily="34" charset="0"/>
                  </a:rPr>
                  <a:t>~$15K saved</a:t>
                </a:r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2CAE9F59-2A41-8C6A-FDE6-4F42624FB31C}"/>
                </a:ext>
              </a:extLst>
            </p:cNvPr>
            <p:cNvGrpSpPr/>
            <p:nvPr/>
          </p:nvGrpSpPr>
          <p:grpSpPr>
            <a:xfrm>
              <a:off x="3314700" y="4833151"/>
              <a:ext cx="5572125" cy="447028"/>
              <a:chOff x="3314700" y="5410200"/>
              <a:chExt cx="5572125" cy="447028"/>
            </a:xfrm>
            <a:solidFill>
              <a:schemeClr val="bg1"/>
            </a:solidFill>
          </p:grpSpPr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E9753FF0-1C2E-16F8-37BE-7089C5D1F75E}"/>
                  </a:ext>
                </a:extLst>
              </p:cNvPr>
              <p:cNvSpPr/>
              <p:nvPr/>
            </p:nvSpPr>
            <p:spPr>
              <a:xfrm>
                <a:off x="3314700" y="5419078"/>
                <a:ext cx="9525" cy="43815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>
                  <a:latin typeface="Graphik" panose="020B0503030202060203" pitchFamily="34" charset="0"/>
                </a:endParaRPr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2B6BA3B4-7E16-4F10-4E5A-3F8D51DBBB88}"/>
                  </a:ext>
                </a:extLst>
              </p:cNvPr>
              <p:cNvSpPr/>
              <p:nvPr/>
            </p:nvSpPr>
            <p:spPr>
              <a:xfrm>
                <a:off x="6096000" y="5410200"/>
                <a:ext cx="9525" cy="43815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>
                  <a:latin typeface="Graphik" panose="020B0503030202060203" pitchFamily="34" charset="0"/>
                </a:endParaRPr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26186860-AF00-DDE2-2184-69B748645215}"/>
                  </a:ext>
                </a:extLst>
              </p:cNvPr>
              <p:cNvSpPr/>
              <p:nvPr/>
            </p:nvSpPr>
            <p:spPr>
              <a:xfrm>
                <a:off x="8877300" y="5410200"/>
                <a:ext cx="9525" cy="43815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>
                  <a:latin typeface="Graphik" panose="020B0503030202060203" pitchFamily="34" charset="0"/>
                </a:endParaRPr>
              </a:p>
            </p:txBody>
          </p:sp>
        </p:grp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24E5C2A8-0668-DE49-A87B-BEE83BC84688}"/>
              </a:ext>
            </a:extLst>
          </p:cNvPr>
          <p:cNvGrpSpPr/>
          <p:nvPr/>
        </p:nvGrpSpPr>
        <p:grpSpPr>
          <a:xfrm>
            <a:off x="723900" y="3132065"/>
            <a:ext cx="266700" cy="266700"/>
            <a:chOff x="723900" y="3132065"/>
            <a:chExt cx="266700" cy="266700"/>
          </a:xfrm>
        </p:grpSpPr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D88128F2-C7FD-32C4-CE9D-7F3FA8314D81}"/>
                </a:ext>
              </a:extLst>
            </p:cNvPr>
            <p:cNvSpPr/>
            <p:nvPr/>
          </p:nvSpPr>
          <p:spPr>
            <a:xfrm>
              <a:off x="723900" y="3132065"/>
              <a:ext cx="266700" cy="266700"/>
            </a:xfrm>
            <a:prstGeom prst="roundRect">
              <a:avLst>
                <a:gd name="adj" fmla="val 21428"/>
              </a:avLst>
            </a:prstGeom>
            <a:solidFill>
              <a:srgbClr val="E5E7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>
                <a:latin typeface="Graphik" panose="020B0503030202060203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0F135D7-0C1C-AE10-E90E-691B1905DF3E}"/>
                </a:ext>
              </a:extLst>
            </p:cNvPr>
            <p:cNvSpPr txBox="1"/>
            <p:nvPr/>
          </p:nvSpPr>
          <p:spPr>
            <a:xfrm>
              <a:off x="723900" y="3157693"/>
              <a:ext cx="266700" cy="2154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 dirty="0">
                  <a:latin typeface="Graphik" panose="020B0503030202060203" pitchFamily="34" charset="0"/>
                </a:rPr>
                <a:t>✅</a:t>
              </a:r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3CE66F5B-864D-05ED-E54A-1935BC54CF52}"/>
              </a:ext>
            </a:extLst>
          </p:cNvPr>
          <p:cNvGrpSpPr/>
          <p:nvPr/>
        </p:nvGrpSpPr>
        <p:grpSpPr>
          <a:xfrm>
            <a:off x="10962640" y="2677836"/>
            <a:ext cx="476250" cy="171450"/>
            <a:chOff x="10991850" y="4324350"/>
            <a:chExt cx="476250" cy="171450"/>
          </a:xfrm>
        </p:grpSpPr>
        <p:sp>
          <p:nvSpPr>
            <p:cNvPr id="215" name="Rounded Rectangle 126">
              <a:extLst>
                <a:ext uri="{FF2B5EF4-FFF2-40B4-BE49-F238E27FC236}">
                  <a16:creationId xmlns:a16="http://schemas.microsoft.com/office/drawing/2014/main" id="{0C11B386-B159-7339-A277-1B93F6258E8A}"/>
                </a:ext>
              </a:extLst>
            </p:cNvPr>
            <p:cNvSpPr/>
            <p:nvPr/>
          </p:nvSpPr>
          <p:spPr>
            <a:xfrm>
              <a:off x="10991850" y="4324350"/>
              <a:ext cx="476250" cy="171450"/>
            </a:xfrm>
            <a:prstGeom prst="roundRect">
              <a:avLst>
                <a:gd name="adj" fmla="val 27777"/>
              </a:avLst>
            </a:prstGeom>
            <a:solidFill>
              <a:srgbClr val="DCE7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>
                <a:latin typeface="Graphik" panose="020B0503030202060203" pitchFamily="34" charset="0"/>
              </a:endParaRP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78011157-D4EF-907A-F9EE-8011A492F594}"/>
                </a:ext>
              </a:extLst>
            </p:cNvPr>
            <p:cNvSpPr txBox="1"/>
            <p:nvPr/>
          </p:nvSpPr>
          <p:spPr>
            <a:xfrm>
              <a:off x="10991850" y="4328725"/>
              <a:ext cx="476250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E5BAC"/>
                  </a:solidFill>
                  <a:latin typeface="Graphik Semibold" panose="020B0703030202060203" pitchFamily="34" charset="0"/>
                </a:rPr>
                <a:t>9</a:t>
              </a:r>
              <a:r>
                <a:rPr sz="900" b="1" dirty="0">
                  <a:solidFill>
                    <a:srgbClr val="2E5BAC"/>
                  </a:solidFill>
                  <a:latin typeface="Graphik Semibold" panose="020B0703030202060203" pitchFamily="34" charset="0"/>
                </a:rPr>
                <a:t> min</a:t>
              </a:r>
            </a:p>
          </p:txBody>
        </p: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09F1AD99-B5F8-5547-557C-A2DFC003F49A}"/>
              </a:ext>
            </a:extLst>
          </p:cNvPr>
          <p:cNvGrpSpPr/>
          <p:nvPr/>
        </p:nvGrpSpPr>
        <p:grpSpPr>
          <a:xfrm>
            <a:off x="3695700" y="2775143"/>
            <a:ext cx="2628900" cy="361950"/>
            <a:chOff x="3695700" y="2646290"/>
            <a:chExt cx="2628900" cy="361950"/>
          </a:xfrm>
        </p:grpSpPr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816115AF-9BFD-513C-2F63-5F3BA4E6CA36}"/>
                </a:ext>
              </a:extLst>
            </p:cNvPr>
            <p:cNvSpPr/>
            <p:nvPr/>
          </p:nvSpPr>
          <p:spPr>
            <a:xfrm>
              <a:off x="3695700" y="2646290"/>
              <a:ext cx="2628900" cy="361950"/>
            </a:xfrm>
            <a:prstGeom prst="roundRect">
              <a:avLst>
                <a:gd name="adj" fmla="val 21052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>
                <a:latin typeface="Graphik Semibold" panose="020B0703030202060203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8DD77DB-02AE-D117-53A5-53369D70C6C2}"/>
                </a:ext>
              </a:extLst>
            </p:cNvPr>
            <p:cNvSpPr txBox="1"/>
            <p:nvPr/>
          </p:nvSpPr>
          <p:spPr>
            <a:xfrm>
              <a:off x="4095750" y="2693915"/>
              <a:ext cx="1562100" cy="14619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50" b="1" dirty="0">
                  <a:solidFill>
                    <a:srgbClr val="44546A"/>
                  </a:solidFill>
                  <a:latin typeface="Graphik Semibold" panose="020B0703030202060203" pitchFamily="34" charset="0"/>
                </a:rPr>
                <a:t>Write the fix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ACBDB45-6DCE-FAB4-A953-3A0C687380DB}"/>
                </a:ext>
              </a:extLst>
            </p:cNvPr>
            <p:cNvSpPr txBox="1"/>
            <p:nvPr/>
          </p:nvSpPr>
          <p:spPr>
            <a:xfrm>
              <a:off x="4095750" y="2827265"/>
              <a:ext cx="1562100" cy="1333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50" dirty="0">
                  <a:solidFill>
                    <a:srgbClr val="7B8794"/>
                  </a:solidFill>
                  <a:latin typeface="Graphik" panose="020B0503030202060203" pitchFamily="34" charset="0"/>
                </a:rPr>
                <a:t>Dev refines the AI draft.</a:t>
              </a:r>
            </a:p>
          </p:txBody>
        </p:sp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EF5A5F9F-3A55-B6CA-85FD-AE014A2C4456}"/>
                </a:ext>
              </a:extLst>
            </p:cNvPr>
            <p:cNvGrpSpPr/>
            <p:nvPr/>
          </p:nvGrpSpPr>
          <p:grpSpPr>
            <a:xfrm>
              <a:off x="3752850" y="2693915"/>
              <a:ext cx="266700" cy="266700"/>
              <a:chOff x="3752850" y="2693915"/>
              <a:chExt cx="266700" cy="266700"/>
            </a:xfrm>
          </p:grpSpPr>
          <p:sp>
            <p:nvSpPr>
              <p:cNvPr id="74" name="Rounded Rectangle 73">
                <a:extLst>
                  <a:ext uri="{FF2B5EF4-FFF2-40B4-BE49-F238E27FC236}">
                    <a16:creationId xmlns:a16="http://schemas.microsoft.com/office/drawing/2014/main" id="{9B888E6F-5815-4107-D0C4-B0EA8558D0FC}"/>
                  </a:ext>
                </a:extLst>
              </p:cNvPr>
              <p:cNvSpPr/>
              <p:nvPr/>
            </p:nvSpPr>
            <p:spPr>
              <a:xfrm>
                <a:off x="3752850" y="2693915"/>
                <a:ext cx="266700" cy="266700"/>
              </a:xfrm>
              <a:prstGeom prst="roundRect">
                <a:avLst>
                  <a:gd name="adj" fmla="val 21428"/>
                </a:avLst>
              </a:prstGeom>
              <a:solidFill>
                <a:srgbClr val="D9E2F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>
                  <a:latin typeface="Graphik Semibold" panose="020B0703030202060203" pitchFamily="34" charset="0"/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AFF2904-2E61-CB06-B42B-67F71A8DC3C9}"/>
                  </a:ext>
                </a:extLst>
              </p:cNvPr>
              <p:cNvSpPr txBox="1"/>
              <p:nvPr/>
            </p:nvSpPr>
            <p:spPr>
              <a:xfrm>
                <a:off x="3752850" y="2719543"/>
                <a:ext cx="26670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400" dirty="0">
                    <a:latin typeface="Graphik Semibold" panose="020B0703030202060203" pitchFamily="34" charset="0"/>
                  </a:rPr>
                  <a:t>🔧</a:t>
                </a:r>
              </a:p>
            </p:txBody>
          </p:sp>
        </p:grpSp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0313A95A-DFC1-26E3-5E0A-7126C60DF256}"/>
                </a:ext>
              </a:extLst>
            </p:cNvPr>
            <p:cNvGrpSpPr/>
            <p:nvPr/>
          </p:nvGrpSpPr>
          <p:grpSpPr>
            <a:xfrm>
              <a:off x="5791200" y="2741540"/>
              <a:ext cx="476250" cy="171450"/>
              <a:chOff x="5791200" y="2741540"/>
              <a:chExt cx="476250" cy="171450"/>
            </a:xfrm>
          </p:grpSpPr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48BDDB62-444E-DFE6-B7D6-9C1035DCA64E}"/>
                  </a:ext>
                </a:extLst>
              </p:cNvPr>
              <p:cNvSpPr/>
              <p:nvPr/>
            </p:nvSpPr>
            <p:spPr>
              <a:xfrm>
                <a:off x="5791200" y="2741540"/>
                <a:ext cx="476250" cy="171450"/>
              </a:xfrm>
              <a:prstGeom prst="roundRect">
                <a:avLst>
                  <a:gd name="adj" fmla="val 27777"/>
                </a:avLst>
              </a:prstGeom>
              <a:solidFill>
                <a:srgbClr val="EEF3F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>
                  <a:latin typeface="Graphik Semibold" panose="020B0703030202060203" pitchFamily="34" charset="0"/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27428EA-76E3-D97C-9131-E5B68FD606DC}"/>
                  </a:ext>
                </a:extLst>
              </p:cNvPr>
              <p:cNvSpPr txBox="1"/>
              <p:nvPr/>
            </p:nvSpPr>
            <p:spPr>
              <a:xfrm>
                <a:off x="5791200" y="2758015"/>
                <a:ext cx="47625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900" b="1" dirty="0">
                    <a:solidFill>
                      <a:srgbClr val="5B7CB8"/>
                    </a:solidFill>
                    <a:latin typeface="Graphik Semibold" panose="020B0703030202060203" pitchFamily="34" charset="0"/>
                  </a:rPr>
                  <a:t>7 min</a:t>
                </a:r>
              </a:p>
            </p:txBody>
          </p:sp>
        </p:grpSp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976BA35D-6D13-476C-19D7-A5B70ED4C812}"/>
              </a:ext>
            </a:extLst>
          </p:cNvPr>
          <p:cNvGrpSpPr/>
          <p:nvPr/>
        </p:nvGrpSpPr>
        <p:grpSpPr>
          <a:xfrm>
            <a:off x="3695700" y="3205162"/>
            <a:ext cx="2628900" cy="361950"/>
            <a:chOff x="3695700" y="2646290"/>
            <a:chExt cx="2628900" cy="361950"/>
          </a:xfrm>
        </p:grpSpPr>
        <p:sp>
          <p:nvSpPr>
            <p:cNvPr id="221" name="Rounded Rectangle 72">
              <a:extLst>
                <a:ext uri="{FF2B5EF4-FFF2-40B4-BE49-F238E27FC236}">
                  <a16:creationId xmlns:a16="http://schemas.microsoft.com/office/drawing/2014/main" id="{A9FEE63E-3438-393D-C0F5-C1F83FFDE6DC}"/>
                </a:ext>
              </a:extLst>
            </p:cNvPr>
            <p:cNvSpPr/>
            <p:nvPr/>
          </p:nvSpPr>
          <p:spPr>
            <a:xfrm>
              <a:off x="3695700" y="2646290"/>
              <a:ext cx="2628900" cy="361950"/>
            </a:xfrm>
            <a:prstGeom prst="roundRect">
              <a:avLst>
                <a:gd name="adj" fmla="val 21052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>
                <a:latin typeface="Graphik" panose="020B0503030202060203" pitchFamily="34" charset="0"/>
              </a:endParaRP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D3AA1FF2-E776-3498-9CB7-50C2E946E0CD}"/>
                </a:ext>
              </a:extLst>
            </p:cNvPr>
            <p:cNvSpPr txBox="1"/>
            <p:nvPr/>
          </p:nvSpPr>
          <p:spPr>
            <a:xfrm>
              <a:off x="4095750" y="2693915"/>
              <a:ext cx="1562100" cy="14619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sz="950" b="1" dirty="0">
                  <a:solidFill>
                    <a:srgbClr val="44546A"/>
                  </a:solidFill>
                  <a:latin typeface="Graphik Semibold" panose="020B0703030202060203" pitchFamily="34" charset="0"/>
                </a:rPr>
                <a:t>Test the fix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0C807A60-1E83-7B6F-AAAF-2E77C2FE522F}"/>
                </a:ext>
              </a:extLst>
            </p:cNvPr>
            <p:cNvSpPr txBox="1"/>
            <p:nvPr/>
          </p:nvSpPr>
          <p:spPr>
            <a:xfrm>
              <a:off x="4095750" y="2827265"/>
              <a:ext cx="1562100" cy="1333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sz="850" dirty="0">
                  <a:solidFill>
                    <a:srgbClr val="7B8794"/>
                  </a:solidFill>
                  <a:latin typeface="Graphik" panose="020B0503030202060203" pitchFamily="34" charset="0"/>
                </a:rPr>
                <a:t>Runs tests to confirm.</a:t>
              </a:r>
            </a:p>
          </p:txBody>
        </p:sp>
        <p:grpSp>
          <p:nvGrpSpPr>
            <p:cNvPr id="224" name="Group 223">
              <a:extLst>
                <a:ext uri="{FF2B5EF4-FFF2-40B4-BE49-F238E27FC236}">
                  <a16:creationId xmlns:a16="http://schemas.microsoft.com/office/drawing/2014/main" id="{1AB322B7-A302-793C-67EE-E34A30A6DAA2}"/>
                </a:ext>
              </a:extLst>
            </p:cNvPr>
            <p:cNvGrpSpPr/>
            <p:nvPr/>
          </p:nvGrpSpPr>
          <p:grpSpPr>
            <a:xfrm>
              <a:off x="3752850" y="2693915"/>
              <a:ext cx="266700" cy="266700"/>
              <a:chOff x="3752850" y="2693915"/>
              <a:chExt cx="266700" cy="266700"/>
            </a:xfrm>
          </p:grpSpPr>
          <p:sp>
            <p:nvSpPr>
              <p:cNvPr id="228" name="Rounded Rectangle 73">
                <a:extLst>
                  <a:ext uri="{FF2B5EF4-FFF2-40B4-BE49-F238E27FC236}">
                    <a16:creationId xmlns:a16="http://schemas.microsoft.com/office/drawing/2014/main" id="{4CA53E5D-0441-DE54-7604-FF69530FEF80}"/>
                  </a:ext>
                </a:extLst>
              </p:cNvPr>
              <p:cNvSpPr/>
              <p:nvPr/>
            </p:nvSpPr>
            <p:spPr>
              <a:xfrm>
                <a:off x="3752850" y="2693915"/>
                <a:ext cx="266700" cy="266700"/>
              </a:xfrm>
              <a:prstGeom prst="roundRect">
                <a:avLst>
                  <a:gd name="adj" fmla="val 21428"/>
                </a:avLst>
              </a:prstGeom>
              <a:solidFill>
                <a:srgbClr val="D9E2F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>
                  <a:latin typeface="Graphik" panose="020B0503030202060203" pitchFamily="34" charset="0"/>
                </a:endParaRPr>
              </a:p>
            </p:txBody>
          </p:sp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C8F0D0C9-400A-AD90-CFE6-4CF45822DCB5}"/>
                  </a:ext>
                </a:extLst>
              </p:cNvPr>
              <p:cNvSpPr txBox="1"/>
              <p:nvPr/>
            </p:nvSpPr>
            <p:spPr>
              <a:xfrm>
                <a:off x="3752850" y="2719543"/>
                <a:ext cx="26670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400" dirty="0">
                    <a:latin typeface="Graphik" panose="020B0503030202060203" pitchFamily="34" charset="0"/>
                  </a:rPr>
                  <a:t>🔧</a:t>
                </a:r>
              </a:p>
            </p:txBody>
          </p:sp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FD9A8EFB-14B4-FE6A-1C96-5791BF1740DA}"/>
                </a:ext>
              </a:extLst>
            </p:cNvPr>
            <p:cNvGrpSpPr/>
            <p:nvPr/>
          </p:nvGrpSpPr>
          <p:grpSpPr>
            <a:xfrm>
              <a:off x="5791200" y="2741540"/>
              <a:ext cx="476250" cy="171450"/>
              <a:chOff x="5791200" y="2741540"/>
              <a:chExt cx="476250" cy="171450"/>
            </a:xfrm>
          </p:grpSpPr>
          <p:sp>
            <p:nvSpPr>
              <p:cNvPr id="226" name="Rounded Rectangle 77">
                <a:extLst>
                  <a:ext uri="{FF2B5EF4-FFF2-40B4-BE49-F238E27FC236}">
                    <a16:creationId xmlns:a16="http://schemas.microsoft.com/office/drawing/2014/main" id="{FADD1387-5FDC-0D9F-15B4-C73EDDD229BE}"/>
                  </a:ext>
                </a:extLst>
              </p:cNvPr>
              <p:cNvSpPr/>
              <p:nvPr/>
            </p:nvSpPr>
            <p:spPr>
              <a:xfrm>
                <a:off x="5791200" y="2741540"/>
                <a:ext cx="476250" cy="171450"/>
              </a:xfrm>
              <a:prstGeom prst="roundRect">
                <a:avLst>
                  <a:gd name="adj" fmla="val 27777"/>
                </a:avLst>
              </a:prstGeom>
              <a:solidFill>
                <a:srgbClr val="EEF3F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>
                  <a:latin typeface="Graphik" panose="020B0503030202060203" pitchFamily="34" charset="0"/>
                </a:endParaRPr>
              </a:p>
            </p:txBody>
          </p:sp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AB9762E6-754C-2E08-F466-52FA36C33B2B}"/>
                  </a:ext>
                </a:extLst>
              </p:cNvPr>
              <p:cNvSpPr txBox="1"/>
              <p:nvPr/>
            </p:nvSpPr>
            <p:spPr>
              <a:xfrm>
                <a:off x="5791200" y="2758015"/>
                <a:ext cx="47625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5B7CB8"/>
                    </a:solidFill>
                    <a:latin typeface="Graphik Semibold" panose="020B0703030202060203" pitchFamily="34" charset="0"/>
                  </a:rPr>
                  <a:t>5</a:t>
                </a:r>
                <a:r>
                  <a:rPr sz="900" b="1" dirty="0">
                    <a:solidFill>
                      <a:srgbClr val="5B7CB8"/>
                    </a:solidFill>
                    <a:latin typeface="Graphik Semibold" panose="020B0703030202060203" pitchFamily="34" charset="0"/>
                  </a:rPr>
                  <a:t> min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70421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648</Words>
  <Application>Microsoft Office PowerPoint</Application>
  <PresentationFormat>Custom</PresentationFormat>
  <Paragraphs>170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Graphik</vt:lpstr>
      <vt:lpstr>Graphik Semibold</vt:lpstr>
      <vt:lpstr>Inter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Himanshu, Himanshu</cp:lastModifiedBy>
  <cp:revision>2</cp:revision>
  <dcterms:created xsi:type="dcterms:W3CDTF">2013-01-27T09:14:16Z</dcterms:created>
  <dcterms:modified xsi:type="dcterms:W3CDTF">2026-05-21T11:35:23Z</dcterms:modified>
  <cp:category/>
</cp:coreProperties>
</file>