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09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274" y="29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7150" cy="6096000"/>
          </a:xfrm>
          <a:prstGeom prst="rect">
            <a:avLst/>
          </a:prstGeom>
          <a:gradFill flip="none" rotWithShape="1">
            <a:gsLst>
              <a:gs pos="0">
                <a:srgbClr val="44546A"/>
              </a:gs>
              <a:gs pos="100000">
                <a:srgbClr val="4472C4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304800"/>
            <a:ext cx="66675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44546A"/>
                </a:solidFill>
                <a:latin typeface="Inter"/>
              </a:rPr>
              <a:t>RCA Multi-Agent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09600"/>
            <a:ext cx="8572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7B8794"/>
                </a:solidFill>
                <a:latin typeface="Inter"/>
              </a:rPr>
              <a:t>Diagnoses bugs, proposes the fix, verifies with tests. Projected savings: </a:t>
            </a:r>
            <a:r>
              <a:rPr sz="1100" b="1">
                <a:solidFill>
                  <a:srgbClr val="2E5BAC"/>
                </a:solidFill>
                <a:latin typeface="Inter"/>
              </a:rPr>
              <a:t>~15% of a developer's annual salary</a:t>
            </a:r>
            <a:r>
              <a:rPr sz="1100">
                <a:solidFill>
                  <a:srgbClr val="7B8794"/>
                </a:solidFill>
                <a:latin typeface="Inter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53600" y="419100"/>
            <a:ext cx="1905000" cy="342900"/>
          </a:xfrm>
          <a:prstGeom prst="roundRect">
            <a:avLst>
              <a:gd name="adj" fmla="val 16666"/>
            </a:avLst>
          </a:prstGeom>
          <a:gradFill flip="none" rotWithShape="1">
            <a:gsLst>
              <a:gs pos="0">
                <a:srgbClr val="EAF1FB"/>
              </a:gs>
              <a:gs pos="100000">
                <a:srgbClr val="D9E6F7"/>
              </a:gs>
            </a:gsLst>
            <a:lin ang="8100000" scaled="0"/>
          </a:gra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839325" y="561975"/>
            <a:ext cx="57150" cy="5715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3150" y="466725"/>
            <a:ext cx="16573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spc="150">
                <a:solidFill>
                  <a:srgbClr val="4472C4"/>
                </a:solidFill>
                <a:latin typeface="Inter"/>
              </a:rPr>
              <a:t>VALIDATED</a:t>
            </a:r>
          </a:p>
          <a:p>
            <a:pPr algn="l"/>
            <a:r>
              <a:rPr sz="850" b="1">
                <a:solidFill>
                  <a:srgbClr val="44546A"/>
                </a:solidFill>
                <a:latin typeface="Inter"/>
              </a:rPr>
              <a:t>Tested on complex, buggy</a:t>
            </a:r>
          </a:p>
          <a:p>
            <a:pPr algn="l"/>
            <a:r>
              <a:rPr sz="850" b="1">
                <a:solidFill>
                  <a:srgbClr val="44546A"/>
                </a:solidFill>
                <a:latin typeface="Inter"/>
              </a:rPr>
              <a:t>open-source GitHub repos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400" y="838200"/>
            <a:ext cx="2895600" cy="4381500"/>
          </a:xfrm>
          <a:prstGeom prst="roundRect">
            <a:avLst>
              <a:gd name="adj" fmla="val 3947"/>
            </a:avLst>
          </a:prstGeom>
          <a:gradFill flip="none" rotWithShape="1">
            <a:gsLst>
              <a:gs pos="0">
                <a:srgbClr val="F3F4F8"/>
              </a:gs>
              <a:gs pos="100000">
                <a:srgbClr val="FFFFFF"/>
              </a:gs>
            </a:gsLst>
            <a:lin ang="10800000" scaled="0"/>
          </a:gradFill>
          <a:ln w="19050">
            <a:solidFill>
              <a:srgbClr val="B4B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990600"/>
            <a:ext cx="25908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spc="150">
                <a:solidFill>
                  <a:srgbClr val="6B7280"/>
                </a:solidFill>
                <a:latin typeface="Inter"/>
              </a:rPr>
              <a:t>OPTION 1: MANUAL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143000"/>
            <a:ext cx="1600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44546A"/>
                </a:solidFill>
                <a:latin typeface="Inter"/>
              </a:rPr>
              <a:t>Developer alone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1085850"/>
            <a:ext cx="762000" cy="304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2200" b="1">
                <a:solidFill>
                  <a:srgbClr val="6B7280"/>
                </a:solidFill>
                <a:latin typeface="Inter"/>
              </a:rPr>
              <a:t>75</a:t>
            </a:r>
            <a:r>
              <a:rPr sz="900" b="1">
                <a:solidFill>
                  <a:srgbClr val="7B8794"/>
                </a:solidFill>
                <a:latin typeface="Inter"/>
              </a:rPr>
              <a:t> 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6750" y="1409700"/>
            <a:ext cx="26289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562350" y="838200"/>
            <a:ext cx="2895600" cy="4381500"/>
          </a:xfrm>
          <a:prstGeom prst="roundRect">
            <a:avLst>
              <a:gd name="adj" fmla="val 3947"/>
            </a:avLst>
          </a:prstGeom>
          <a:gradFill flip="none" rotWithShape="1">
            <a:gsLst>
              <a:gs pos="0">
                <a:srgbClr val="EEF3FB"/>
              </a:gs>
              <a:gs pos="100000">
                <a:srgbClr val="FFFFFF"/>
              </a:gs>
            </a:gsLst>
            <a:lin ang="10800000" scaled="0"/>
          </a:gradFill>
          <a:ln w="19050"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14750" y="990600"/>
            <a:ext cx="25908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spc="150">
                <a:solidFill>
                  <a:srgbClr val="5B7CB8"/>
                </a:solidFill>
                <a:latin typeface="Inter"/>
              </a:rPr>
              <a:t>OPTION 2: CLAUDE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4750" y="1143000"/>
            <a:ext cx="1600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44546A"/>
                </a:solidFill>
                <a:latin typeface="Inter"/>
              </a:rPr>
              <a:t>Developer + AI assistant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43550" y="1085850"/>
            <a:ext cx="762000" cy="304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2200" b="1">
                <a:solidFill>
                  <a:srgbClr val="5B7CB8"/>
                </a:solidFill>
                <a:latin typeface="Inter"/>
              </a:rPr>
              <a:t>40</a:t>
            </a:r>
            <a:r>
              <a:rPr sz="900" b="1">
                <a:solidFill>
                  <a:srgbClr val="7B8794"/>
                </a:solidFill>
                <a:latin typeface="Inter"/>
              </a:rPr>
              <a:t> 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95700" y="1409700"/>
            <a:ext cx="26289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591300" y="838200"/>
            <a:ext cx="5067300" cy="4381500"/>
          </a:xfrm>
          <a:prstGeom prst="roundRect">
            <a:avLst>
              <a:gd name="adj" fmla="val 2608"/>
            </a:avLst>
          </a:prstGeom>
          <a:gradFill flip="none" rotWithShape="1">
            <a:gsLst>
              <a:gs pos="0">
                <a:srgbClr val="DCE7F7"/>
              </a:gs>
              <a:gs pos="100000">
                <a:srgbClr val="FFFFFF"/>
              </a:gs>
            </a:gsLst>
            <a:lin ang="10800000" scaled="0"/>
          </a:gradFill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43700" y="990600"/>
            <a:ext cx="47625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spc="150">
                <a:solidFill>
                  <a:srgbClr val="2E5BAC"/>
                </a:solidFill>
                <a:latin typeface="Inter"/>
              </a:rPr>
              <a:t>OPTION 3: THE RCA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3700" y="1143000"/>
            <a:ext cx="29527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44546A"/>
                </a:solidFill>
                <a:latin typeface="Inter"/>
              </a:rPr>
              <a:t>Purpose-built multi-agent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44200" y="1085850"/>
            <a:ext cx="762000" cy="304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2200" b="1">
                <a:solidFill>
                  <a:srgbClr val="2E5BAC"/>
                </a:solidFill>
                <a:latin typeface="Inter"/>
              </a:rPr>
              <a:t>5</a:t>
            </a:r>
            <a:r>
              <a:rPr sz="900" b="1">
                <a:solidFill>
                  <a:srgbClr val="7B8794"/>
                </a:solidFill>
                <a:latin typeface="Inter"/>
              </a:rPr>
              <a:t> min dev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24650" y="1409700"/>
            <a:ext cx="48006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743700" y="1485900"/>
            <a:ext cx="1085850" cy="171450"/>
          </a:xfrm>
          <a:prstGeom prst="roundRect">
            <a:avLst>
              <a:gd name="adj" fmla="val 22222"/>
            </a:avLst>
          </a:prstGeom>
          <a:solidFill>
            <a:srgbClr val="DCE7F7"/>
          </a:solidFill>
          <a:ln w="9525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43700" y="1485900"/>
            <a:ext cx="108585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spc="40">
                <a:solidFill>
                  <a:srgbClr val="2E5BAC"/>
                </a:solidFill>
                <a:latin typeface="Inter"/>
              </a:rPr>
              <a:t>Auto-Triggered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7650" y="1485900"/>
            <a:ext cx="1352550" cy="171450"/>
          </a:xfrm>
          <a:prstGeom prst="roundRect">
            <a:avLst>
              <a:gd name="adj" fmla="val 22222"/>
            </a:avLst>
          </a:prstGeom>
          <a:solidFill>
            <a:srgbClr val="DCE7F7"/>
          </a:solidFill>
          <a:ln w="9525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67650" y="1485900"/>
            <a:ext cx="135255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spc="40">
                <a:solidFill>
                  <a:srgbClr val="2E5BAC"/>
                </a:solidFill>
                <a:latin typeface="Inter"/>
              </a:rPr>
              <a:t>Engineered Context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58300" y="1485900"/>
            <a:ext cx="1352550" cy="171450"/>
          </a:xfrm>
          <a:prstGeom prst="roundRect">
            <a:avLst>
              <a:gd name="adj" fmla="val 22222"/>
            </a:avLst>
          </a:prstGeom>
          <a:solidFill>
            <a:srgbClr val="DCE7F7"/>
          </a:solidFill>
          <a:ln w="9525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58300" y="1485900"/>
            <a:ext cx="135255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spc="40">
                <a:solidFill>
                  <a:srgbClr val="2E5BAC"/>
                </a:solidFill>
                <a:latin typeface="Inter"/>
              </a:rPr>
              <a:t>Specialised Agents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43700" y="1695450"/>
            <a:ext cx="1419225" cy="171450"/>
          </a:xfrm>
          <a:prstGeom prst="roundRect">
            <a:avLst>
              <a:gd name="adj" fmla="val 22222"/>
            </a:avLst>
          </a:prstGeom>
          <a:solidFill>
            <a:srgbClr val="DCE7F7"/>
          </a:solidFill>
          <a:ln w="9525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43700" y="1695450"/>
            <a:ext cx="1419225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spc="40">
                <a:solidFill>
                  <a:srgbClr val="2E5BAC"/>
                </a:solidFill>
                <a:latin typeface="Inter"/>
              </a:rPr>
              <a:t>Built-in Guardrails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6750" y="1485900"/>
            <a:ext cx="2628900" cy="3619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23900" y="1533525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3900" y="1533525"/>
            <a:ext cx="2667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>
                <a:latin typeface="Segoe UI Emoji"/>
              </a:rPr>
              <a:t>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6800" y="1533525"/>
            <a:ext cx="1562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4546A"/>
                </a:solidFill>
                <a:latin typeface="Inter"/>
              </a:rPr>
              <a:t>Read bug report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6800" y="1666875"/>
            <a:ext cx="1562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>
                <a:solidFill>
                  <a:srgbClr val="7B8794"/>
                </a:solidFill>
                <a:latin typeface="Inter"/>
              </a:rPr>
              <a:t>Pick up the QA ticket.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62250" y="1581150"/>
            <a:ext cx="476250" cy="171450"/>
          </a:xfrm>
          <a:prstGeom prst="roundRect">
            <a:avLst>
              <a:gd name="adj" fmla="val 27777"/>
            </a:avLst>
          </a:prstGeom>
          <a:solidFill>
            <a:srgbClr val="F3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762250" y="1581150"/>
            <a:ext cx="47625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6B7280"/>
                </a:solidFill>
                <a:latin typeface="Inter"/>
              </a:rPr>
              <a:t>5 min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6750" y="1924050"/>
            <a:ext cx="2628900" cy="3619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723900" y="1971675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23900" y="1971675"/>
            <a:ext cx="2667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>
                <a:latin typeface="Segoe UI Emoji"/>
              </a:rPr>
              <a:t>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6800" y="1971675"/>
            <a:ext cx="1562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4546A"/>
                </a:solidFill>
                <a:latin typeface="Inter"/>
              </a:rPr>
              <a:t>Investigate codebase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6800" y="2105025"/>
            <a:ext cx="1562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>
                <a:solidFill>
                  <a:srgbClr val="7B8794"/>
                </a:solidFill>
                <a:latin typeface="Inter"/>
              </a:rPr>
              <a:t>Hunts the cause across files.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62250" y="2019300"/>
            <a:ext cx="476250" cy="171450"/>
          </a:xfrm>
          <a:prstGeom prst="roundRect">
            <a:avLst>
              <a:gd name="adj" fmla="val 27777"/>
            </a:avLst>
          </a:prstGeom>
          <a:solidFill>
            <a:srgbClr val="F3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762250" y="2019300"/>
            <a:ext cx="47625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6B7280"/>
                </a:solidFill>
                <a:latin typeface="Inter"/>
              </a:rPr>
              <a:t>45 min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6750" y="2362200"/>
            <a:ext cx="2628900" cy="3619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723900" y="2409825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23900" y="2409825"/>
            <a:ext cx="2667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>
                <a:latin typeface="Segoe UI Emoji"/>
              </a:rPr>
              <a:t>🔧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6800" y="2409825"/>
            <a:ext cx="1562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4546A"/>
                </a:solidFill>
                <a:latin typeface="Inter"/>
              </a:rPr>
              <a:t>Write the fix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6800" y="2543175"/>
            <a:ext cx="1562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>
                <a:solidFill>
                  <a:srgbClr val="7B8794"/>
                </a:solidFill>
                <a:latin typeface="Inter"/>
              </a:rPr>
              <a:t>Makes the code change.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62250" y="2457450"/>
            <a:ext cx="476250" cy="171450"/>
          </a:xfrm>
          <a:prstGeom prst="roundRect">
            <a:avLst>
              <a:gd name="adj" fmla="val 27777"/>
            </a:avLst>
          </a:prstGeom>
          <a:solidFill>
            <a:srgbClr val="F3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762250" y="2457450"/>
            <a:ext cx="47625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6B7280"/>
                </a:solidFill>
                <a:latin typeface="Inter"/>
              </a:rPr>
              <a:t>15 min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66750" y="2800350"/>
            <a:ext cx="2628900" cy="3619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723900" y="2847975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23900" y="2847975"/>
            <a:ext cx="2667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>
                <a:latin typeface="Segoe UI Emoji"/>
              </a:rPr>
              <a:t>✅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6800" y="2847975"/>
            <a:ext cx="1562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4546A"/>
                </a:solidFill>
                <a:latin typeface="Inter"/>
              </a:rPr>
              <a:t>Test the fix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6800" y="2981325"/>
            <a:ext cx="1562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>
                <a:solidFill>
                  <a:srgbClr val="7B8794"/>
                </a:solidFill>
                <a:latin typeface="Inter"/>
              </a:rPr>
              <a:t>Runs tests to confirm.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762250" y="2895600"/>
            <a:ext cx="476250" cy="171450"/>
          </a:xfrm>
          <a:prstGeom prst="roundRect">
            <a:avLst>
              <a:gd name="adj" fmla="val 27777"/>
            </a:avLst>
          </a:prstGeom>
          <a:solidFill>
            <a:srgbClr val="F3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762250" y="2895600"/>
            <a:ext cx="47625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6B7280"/>
                </a:solidFill>
                <a:latin typeface="Inter"/>
              </a:rPr>
              <a:t>10 min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695700" y="1485900"/>
            <a:ext cx="2628900" cy="3619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3752850" y="1533525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D9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752850" y="1533525"/>
            <a:ext cx="2667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>
                <a:latin typeface="Segoe UI Emoji"/>
              </a:rPr>
              <a:t>📝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95750" y="1533525"/>
            <a:ext cx="1562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4546A"/>
                </a:solidFill>
                <a:latin typeface="Inter"/>
              </a:rPr>
              <a:t>Read bug report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95750" y="1666875"/>
            <a:ext cx="1562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>
                <a:solidFill>
                  <a:srgbClr val="7B8794"/>
                </a:solidFill>
                <a:latin typeface="Inter"/>
              </a:rPr>
              <a:t>Pick up the QA ticket.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791200" y="1581150"/>
            <a:ext cx="476250" cy="171450"/>
          </a:xfrm>
          <a:prstGeom prst="roundRect">
            <a:avLst>
              <a:gd name="adj" fmla="val 27777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791200" y="1581150"/>
            <a:ext cx="47625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5B7CB8"/>
                </a:solidFill>
                <a:latin typeface="Inter"/>
              </a:rPr>
              <a:t>3 min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695700" y="1924050"/>
            <a:ext cx="2628900" cy="3619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3752850" y="1971675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D9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752850" y="1971675"/>
            <a:ext cx="2667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>
                <a:latin typeface="Segoe UI Emoji"/>
              </a:rPr>
              <a:t>💬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95750" y="1971675"/>
            <a:ext cx="1562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4546A"/>
                </a:solidFill>
                <a:latin typeface="Inter"/>
              </a:rPr>
              <a:t>Prompt &amp; investigate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95750" y="2105025"/>
            <a:ext cx="1562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>
                <a:solidFill>
                  <a:srgbClr val="7B8794"/>
                </a:solidFill>
                <a:latin typeface="Inter"/>
              </a:rPr>
              <a:t>Dev guides the AI turn by turn.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791200" y="2019300"/>
            <a:ext cx="476250" cy="171450"/>
          </a:xfrm>
          <a:prstGeom prst="roundRect">
            <a:avLst>
              <a:gd name="adj" fmla="val 27777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791200" y="2019300"/>
            <a:ext cx="47625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5B7CB8"/>
                </a:solidFill>
                <a:latin typeface="Inter"/>
              </a:rPr>
              <a:t>25 min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695700" y="2362200"/>
            <a:ext cx="2628900" cy="3619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3752850" y="2409825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D9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752850" y="2409825"/>
            <a:ext cx="2667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>
                <a:latin typeface="Segoe UI Emoji"/>
              </a:rPr>
              <a:t>🔧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095750" y="2409825"/>
            <a:ext cx="1562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4546A"/>
                </a:solidFill>
                <a:latin typeface="Inter"/>
              </a:rPr>
              <a:t>Write the fix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95750" y="2543175"/>
            <a:ext cx="1562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>
                <a:solidFill>
                  <a:srgbClr val="7B8794"/>
                </a:solidFill>
                <a:latin typeface="Inter"/>
              </a:rPr>
              <a:t>Dev refines the AI draft.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791200" y="2457450"/>
            <a:ext cx="476250" cy="171450"/>
          </a:xfrm>
          <a:prstGeom prst="roundRect">
            <a:avLst>
              <a:gd name="adj" fmla="val 27777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791200" y="2457450"/>
            <a:ext cx="47625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5B7CB8"/>
                </a:solidFill>
                <a:latin typeface="Inter"/>
              </a:rPr>
              <a:t>7 min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695700" y="2800350"/>
            <a:ext cx="2628900" cy="3619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3752850" y="2847975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D9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752850" y="2847975"/>
            <a:ext cx="2667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>
                <a:latin typeface="Segoe UI Emoji"/>
              </a:rPr>
              <a:t>✅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095750" y="2847975"/>
            <a:ext cx="1562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4546A"/>
                </a:solidFill>
                <a:latin typeface="Inter"/>
              </a:rPr>
              <a:t>Test the fix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095750" y="2981325"/>
            <a:ext cx="1562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>
                <a:solidFill>
                  <a:srgbClr val="7B8794"/>
                </a:solidFill>
                <a:latin typeface="Inter"/>
              </a:rPr>
              <a:t>Runs tests to confirm.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791200" y="2895600"/>
            <a:ext cx="476250" cy="171450"/>
          </a:xfrm>
          <a:prstGeom prst="roundRect">
            <a:avLst>
              <a:gd name="adj" fmla="val 27777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791200" y="2895600"/>
            <a:ext cx="47625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5B7CB8"/>
                </a:solidFill>
                <a:latin typeface="Inter"/>
              </a:rPr>
              <a:t>5 min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695700" y="3276600"/>
            <a:ext cx="2628900" cy="304800"/>
          </a:xfrm>
          <a:prstGeom prst="roundRect">
            <a:avLst>
              <a:gd name="adj" fmla="val 125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3695700" y="3276600"/>
            <a:ext cx="19050" cy="304800"/>
          </a:xfrm>
          <a:prstGeom prst="rect">
            <a:avLst/>
          </a:prstGeom>
          <a:solidFill>
            <a:srgbClr val="5B7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3771900" y="3314700"/>
            <a:ext cx="24955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44546A"/>
                </a:solidFill>
                <a:latin typeface="Inter"/>
              </a:rPr>
              <a:t>The catch: </a:t>
            </a:r>
            <a:r>
              <a:rPr sz="800">
                <a:solidFill>
                  <a:srgbClr val="44546A"/>
                </a:solidFill>
                <a:latin typeface="Inter"/>
              </a:rPr>
              <a:t>general-purpose AI, dev drives every step, and on large repos it wanders.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724650" y="1943100"/>
            <a:ext cx="4800600" cy="3619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6781800" y="1990725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781800" y="1990725"/>
            <a:ext cx="2667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>
                <a:latin typeface="Segoe UI Emoji"/>
              </a:rPr>
              <a:t>📝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124700" y="199072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4546A"/>
                </a:solidFill>
                <a:latin typeface="Inter"/>
              </a:rPr>
              <a:t>Hand bug to the agent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124700" y="212407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>
                <a:solidFill>
                  <a:srgbClr val="7B8794"/>
                </a:solidFill>
                <a:latin typeface="Inter"/>
              </a:rPr>
              <a:t>Drop the QA report into the tool.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0991850" y="2038350"/>
            <a:ext cx="476250" cy="171450"/>
          </a:xfrm>
          <a:prstGeom prst="roundRect">
            <a:avLst>
              <a:gd name="adj" fmla="val 27777"/>
            </a:avLst>
          </a:prstGeom>
          <a:solidFill>
            <a:srgbClr val="DCE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10991850" y="2038350"/>
            <a:ext cx="47625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E5BAC"/>
                </a:solidFill>
                <a:latin typeface="Inter"/>
              </a:rPr>
              <a:t>1 min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724650" y="2381250"/>
            <a:ext cx="4800600" cy="1333500"/>
          </a:xfrm>
          <a:prstGeom prst="roundRect">
            <a:avLst>
              <a:gd name="adj" fmla="val 5714"/>
            </a:avLst>
          </a:prstGeom>
          <a:solidFill>
            <a:srgbClr val="EAF1FB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6781800" y="2428875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6781800" y="2428875"/>
            <a:ext cx="2667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>
                <a:latin typeface="Segoe UI Emoji"/>
              </a:rPr>
              <a:t>🤖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124700" y="2438400"/>
            <a:ext cx="3848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4546A"/>
                </a:solidFill>
                <a:latin typeface="Inter"/>
              </a:rPr>
              <a:t>Agent investigates, fixes &amp; tests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0991850" y="2457450"/>
            <a:ext cx="476250" cy="171450"/>
          </a:xfrm>
          <a:prstGeom prst="roundRect">
            <a:avLst>
              <a:gd name="adj" fmla="val 27777"/>
            </a:avLst>
          </a:prstGeom>
          <a:solidFill>
            <a:srgbClr val="DCE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10991850" y="2457450"/>
            <a:ext cx="47625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E5BAC"/>
                </a:solidFill>
                <a:latin typeface="Inter"/>
              </a:rPr>
              <a:t>9 min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838950" y="2667000"/>
            <a:ext cx="4572000" cy="19050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BDD7EE"/>
              </a:gs>
              <a:gs pos="100000">
                <a:srgbClr val="8FAADC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6934200" y="2667000"/>
            <a:ext cx="4381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44546A"/>
                </a:solidFill>
                <a:latin typeface="Inter"/>
              </a:rPr>
              <a:t>QA Bug › Investigate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934200" y="2667000"/>
            <a:ext cx="4381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>
                <a:solidFill>
                  <a:srgbClr val="44546A"/>
                </a:solidFill>
                <a:latin typeface="Inter"/>
              </a:rPr>
              <a:t>whole repo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7343775" y="2876550"/>
            <a:ext cx="3562350" cy="19050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8FAADC"/>
              </a:gs>
              <a:gs pos="100000">
                <a:srgbClr val="5B9BD5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7439025" y="2876550"/>
            <a:ext cx="337185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Inter"/>
              </a:rPr>
              <a:t>Diagnose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439025" y="2876550"/>
            <a:ext cx="337185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>
                <a:solidFill>
                  <a:srgbClr val="FFFFFF"/>
                </a:solidFill>
                <a:latin typeface="Inter"/>
              </a:rPr>
              <a:t>suspect files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658100" y="3086100"/>
            <a:ext cx="2924175" cy="19050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5B9BD5"/>
              </a:gs>
              <a:gs pos="100000">
                <a:srgbClr val="4472C4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7753350" y="3086100"/>
            <a:ext cx="273367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Inter"/>
              </a:rPr>
              <a:t>Fix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753350" y="3086100"/>
            <a:ext cx="273367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>
                <a:solidFill>
                  <a:srgbClr val="FFFFFF"/>
                </a:solidFill>
                <a:latin typeface="Inter"/>
              </a:rPr>
              <a:t>root cause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7981950" y="3295650"/>
            <a:ext cx="2286000" cy="19050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4472C4"/>
              </a:gs>
              <a:gs pos="100000">
                <a:srgbClr val="2E5BAC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8077200" y="3295650"/>
            <a:ext cx="2095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Inter"/>
              </a:rPr>
              <a:t>Verify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77200" y="3295650"/>
            <a:ext cx="2095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>
                <a:solidFill>
                  <a:srgbClr val="FFFFFF"/>
                </a:solidFill>
                <a:latin typeface="Inter"/>
              </a:rPr>
              <a:t>tests pass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724650" y="3790950"/>
            <a:ext cx="4800600" cy="3619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6" name="Rounded Rectangle 115"/>
          <p:cNvSpPr/>
          <p:nvPr/>
        </p:nvSpPr>
        <p:spPr>
          <a:xfrm>
            <a:off x="6781800" y="3838575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6781800" y="3838575"/>
            <a:ext cx="2667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>
                <a:latin typeface="Segoe UI Emoji"/>
              </a:rPr>
              <a:t>📋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124700" y="383857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4546A"/>
                </a:solidFill>
                <a:latin typeface="Inter"/>
              </a:rPr>
              <a:t>Dev reviews the report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124700" y="397192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>
                <a:solidFill>
                  <a:srgbClr val="7B8794"/>
                </a:solidFill>
                <a:latin typeface="Inter"/>
              </a:rPr>
              <a:t>Reads findings, approves the fix.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10991850" y="3886200"/>
            <a:ext cx="476250" cy="171450"/>
          </a:xfrm>
          <a:prstGeom prst="roundRect">
            <a:avLst>
              <a:gd name="adj" fmla="val 27777"/>
            </a:avLst>
          </a:prstGeom>
          <a:solidFill>
            <a:srgbClr val="DCE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10991850" y="3886200"/>
            <a:ext cx="47625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E5BAC"/>
                </a:solidFill>
                <a:latin typeface="Inter"/>
              </a:rPr>
              <a:t>3 min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6724650" y="4229100"/>
            <a:ext cx="4800600" cy="3619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3" name="Rounded Rectangle 122"/>
          <p:cNvSpPr/>
          <p:nvPr/>
        </p:nvSpPr>
        <p:spPr>
          <a:xfrm>
            <a:off x="6781800" y="4276725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6781800" y="4276725"/>
            <a:ext cx="2667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>
                <a:latin typeface="Segoe UI Emoji"/>
              </a:rPr>
              <a:t>✅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124700" y="427672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4546A"/>
                </a:solidFill>
                <a:latin typeface="Inter"/>
              </a:rPr>
              <a:t>Approve &amp; ship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124700" y="441007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>
                <a:solidFill>
                  <a:srgbClr val="7B8794"/>
                </a:solidFill>
                <a:latin typeface="Inter"/>
              </a:rPr>
              <a:t>Tests already passed in the agent run.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10991850" y="4324350"/>
            <a:ext cx="476250" cy="171450"/>
          </a:xfrm>
          <a:prstGeom prst="roundRect">
            <a:avLst>
              <a:gd name="adj" fmla="val 27777"/>
            </a:avLst>
          </a:prstGeom>
          <a:solidFill>
            <a:srgbClr val="DCE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10991850" y="4324350"/>
            <a:ext cx="47625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E5BAC"/>
                </a:solidFill>
                <a:latin typeface="Inter"/>
              </a:rPr>
              <a:t>2 min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533400" y="5295900"/>
            <a:ext cx="11125200" cy="666750"/>
          </a:xfrm>
          <a:prstGeom prst="roundRect">
            <a:avLst>
              <a:gd name="adj" fmla="val 17142"/>
            </a:avLst>
          </a:prstGeom>
          <a:gradFill flip="none" rotWithShape="1">
            <a:gsLst>
              <a:gs pos="0">
                <a:srgbClr val="44546A"/>
              </a:gs>
              <a:gs pos="100000">
                <a:srgbClr val="4472C4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3314700" y="5410200"/>
            <a:ext cx="9525" cy="438150"/>
          </a:xfrm>
          <a:prstGeom prst="rect">
            <a:avLst/>
          </a:prstGeom>
          <a:solidFill>
            <a:srgbClr val="6682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6096000" y="5410200"/>
            <a:ext cx="9525" cy="438150"/>
          </a:xfrm>
          <a:prstGeom prst="rect">
            <a:avLst/>
          </a:prstGeom>
          <a:solidFill>
            <a:srgbClr val="6682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8877300" y="5410200"/>
            <a:ext cx="9525" cy="438150"/>
          </a:xfrm>
          <a:prstGeom prst="rect">
            <a:avLst/>
          </a:prstGeom>
          <a:solidFill>
            <a:srgbClr val="6682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533400" y="5391150"/>
            <a:ext cx="27813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spc="150">
                <a:solidFill>
                  <a:srgbClr val="BDD7EE"/>
                </a:solidFill>
                <a:latin typeface="Inter"/>
              </a:rPr>
              <a:t>COST / BUG: MANUAL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33400" y="5505450"/>
            <a:ext cx="27813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Inter"/>
              </a:rPr>
              <a:t>$60.00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33400" y="5772150"/>
            <a:ext cx="27813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BDD7EE"/>
                </a:solidFill>
                <a:latin typeface="Inter"/>
              </a:rPr>
              <a:t>75 min × $48/hr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314700" y="5391150"/>
            <a:ext cx="27813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spc="150">
                <a:solidFill>
                  <a:srgbClr val="BDD7EE"/>
                </a:solidFill>
                <a:latin typeface="Inter"/>
              </a:rPr>
              <a:t>COST / BUG: CLAUDE CODE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314700" y="5505450"/>
            <a:ext cx="27813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Inter"/>
              </a:rPr>
              <a:t>$36.00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314700" y="5772150"/>
            <a:ext cx="27813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BDD7EE"/>
                </a:solidFill>
                <a:latin typeface="Inter"/>
              </a:rPr>
              <a:t>40 min dev + ~$4 AI tokens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096000" y="5391150"/>
            <a:ext cx="27813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spc="150">
                <a:solidFill>
                  <a:srgbClr val="BDD7EE"/>
                </a:solidFill>
                <a:latin typeface="Inter"/>
              </a:rPr>
              <a:t>COST / BUG: RCA AGENT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096000" y="5505450"/>
            <a:ext cx="27813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FFD966"/>
                </a:solidFill>
                <a:latin typeface="Inter"/>
              </a:rPr>
              <a:t>$6.00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096000" y="5772150"/>
            <a:ext cx="27813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BDD7EE"/>
                </a:solidFill>
                <a:latin typeface="Inter"/>
              </a:rPr>
              <a:t>5 min dev time + ~$2 agent run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877300" y="5391150"/>
            <a:ext cx="27813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spc="150">
                <a:solidFill>
                  <a:srgbClr val="BDD7EE"/>
                </a:solidFill>
                <a:latin typeface="Inter"/>
              </a:rPr>
              <a:t>NET SAVINGS: RCA AGENT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877300" y="5505450"/>
            <a:ext cx="27813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FFC000"/>
                </a:solidFill>
                <a:latin typeface="Inter"/>
              </a:rPr>
              <a:t>$30.00</a:t>
            </a:r>
            <a:r>
              <a:rPr sz="800" b="1">
                <a:solidFill>
                  <a:srgbClr val="DBE5F1"/>
                </a:solidFill>
                <a:latin typeface="Inter"/>
              </a:rPr>
              <a:t> vs Claude Code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877300" y="5772150"/>
            <a:ext cx="27813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FFD966"/>
                </a:solidFill>
                <a:latin typeface="Inter"/>
              </a:rPr>
              <a:t>$54</a:t>
            </a:r>
            <a:r>
              <a:rPr sz="800">
                <a:solidFill>
                  <a:srgbClr val="BDD7EE"/>
                </a:solidFill>
                <a:latin typeface="Inter"/>
              </a:rPr>
              <a:t> vs manual · At 500 bugs/yr → </a:t>
            </a:r>
            <a:r>
              <a:rPr sz="800" b="1">
                <a:solidFill>
                  <a:srgbClr val="FFFFFF"/>
                </a:solidFill>
                <a:latin typeface="Inter"/>
              </a:rPr>
              <a:t>~$15K saved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324</Words>
  <Application>Microsoft Office PowerPoint</Application>
  <PresentationFormat>Custom</PresentationFormat>
  <Paragraphs>86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Inter</vt:lpstr>
      <vt:lpstr>Segoe UI Emoji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Himanshu, Himanshu</cp:lastModifiedBy>
  <cp:revision>1</cp:revision>
  <dcterms:created xsi:type="dcterms:W3CDTF">2013-01-27T09:14:16Z</dcterms:created>
  <dcterms:modified xsi:type="dcterms:W3CDTF">2026-05-21T10:13:03Z</dcterms:modified>
  <cp:category/>
</cp:coreProperties>
</file>