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09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" cy="6096000"/>
          </a:xfrm>
          <a:prstGeom prst="rect">
            <a:avLst/>
          </a:prstGeom>
          <a:gradFill flip="none" rotWithShape="1">
            <a:gsLst>
              <a:gs pos="0">
                <a:srgbClr val="44546A"/>
              </a:gs>
              <a:gs pos="100000">
                <a:srgbClr val="4472C4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6667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44546A"/>
                </a:solidFill>
                <a:latin typeface="Inter"/>
              </a:rPr>
              <a:t>RCA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7B8794"/>
                </a:solidFill>
                <a:latin typeface="Inter"/>
              </a:rPr>
              <a:t>Diagnoses bugs, proposes the fix, verifies with tests. Projected savings: </a:t>
            </a:r>
            <a:r>
              <a:rPr sz="1100" b="1">
                <a:solidFill>
                  <a:srgbClr val="2E5BAC"/>
                </a:solidFill>
                <a:latin typeface="Inter"/>
              </a:rPr>
              <a:t>~15% of a developer's annual salary</a:t>
            </a:r>
            <a:r>
              <a:rPr sz="1100">
                <a:solidFill>
                  <a:srgbClr val="7B8794"/>
                </a:solidFill>
                <a:latin typeface="Inter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3600" y="419100"/>
            <a:ext cx="1905000" cy="342900"/>
          </a:xfrm>
          <a:prstGeom prst="roundRect">
            <a:avLst>
              <a:gd name="adj" fmla="val 16666"/>
            </a:avLst>
          </a:prstGeom>
          <a:gradFill flip="none" rotWithShape="1">
            <a:gsLst>
              <a:gs pos="0">
                <a:srgbClr val="EAF1FB"/>
              </a:gs>
              <a:gs pos="100000">
                <a:srgbClr val="D9E6F7"/>
              </a:gs>
            </a:gsLst>
            <a:lin ang="8100000" scaled="0"/>
          </a:gra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39325" y="561975"/>
            <a:ext cx="57150" cy="5715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3150" y="466725"/>
            <a:ext cx="1657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spc="150">
                <a:solidFill>
                  <a:srgbClr val="4472C4"/>
                </a:solidFill>
                <a:latin typeface="Inter"/>
              </a:rPr>
              <a:t>VALIDATED</a:t>
            </a:r>
          </a:p>
          <a:p>
            <a:pPr algn="l"/>
            <a:r>
              <a:rPr sz="850" b="1">
                <a:solidFill>
                  <a:srgbClr val="44546A"/>
                </a:solidFill>
                <a:latin typeface="Inter"/>
              </a:rPr>
              <a:t>Tested on complex, buggy</a:t>
            </a:r>
          </a:p>
          <a:p>
            <a:pPr algn="l"/>
            <a:r>
              <a:rPr sz="850" b="1">
                <a:solidFill>
                  <a:srgbClr val="44546A"/>
                </a:solidFill>
                <a:latin typeface="Inter"/>
              </a:rPr>
              <a:t>open-source GitHub repos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838200"/>
            <a:ext cx="2895600" cy="4381500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F3F4F8"/>
              </a:gs>
              <a:gs pos="100000">
                <a:srgbClr val="FFFFFF"/>
              </a:gs>
            </a:gsLst>
            <a:lin ang="10800000" scaled="0"/>
          </a:gradFill>
          <a:ln w="19050">
            <a:solidFill>
              <a:srgbClr val="B4B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990600"/>
            <a:ext cx="2590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6B7280"/>
                </a:solidFill>
                <a:latin typeface="Inter"/>
              </a:rPr>
              <a:t>OPTION 1: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4300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4546A"/>
                </a:solidFill>
                <a:latin typeface="Inter"/>
              </a:rPr>
              <a:t>Developer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08585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6B7280"/>
                </a:solidFill>
                <a:latin typeface="Inter"/>
              </a:rPr>
              <a:t>75</a:t>
            </a:r>
            <a:r>
              <a:rPr sz="900" b="1">
                <a:solidFill>
                  <a:srgbClr val="7B8794"/>
                </a:solidFill>
                <a:latin typeface="Inter"/>
              </a:rPr>
              <a:t>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50" y="1409700"/>
            <a:ext cx="2628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2350" y="838200"/>
            <a:ext cx="2895600" cy="4381500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EEF3FB"/>
              </a:gs>
              <a:gs pos="100000">
                <a:srgbClr val="FFFFFF"/>
              </a:gs>
            </a:gsLst>
            <a:lin ang="10800000" scaled="0"/>
          </a:gradFill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4750" y="990600"/>
            <a:ext cx="2590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5B7CB8"/>
                </a:solidFill>
                <a:latin typeface="Inter"/>
              </a:rPr>
              <a:t>OPTION 2: VIBE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114300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4546A"/>
                </a:solidFill>
                <a:latin typeface="Inter"/>
              </a:rPr>
              <a:t>Dev + Claude Code (free-form)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3550" y="108585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5B7CB8"/>
                </a:solidFill>
                <a:latin typeface="Inter"/>
              </a:rPr>
              <a:t>40</a:t>
            </a:r>
            <a:r>
              <a:rPr sz="900" b="1">
                <a:solidFill>
                  <a:srgbClr val="7B8794"/>
                </a:solidFill>
                <a:latin typeface="Inter"/>
              </a:rPr>
              <a:t>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5700" y="1409700"/>
            <a:ext cx="2628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91300" y="838200"/>
            <a:ext cx="5067300" cy="4381500"/>
          </a:xfrm>
          <a:prstGeom prst="roundRect">
            <a:avLst>
              <a:gd name="adj" fmla="val 2608"/>
            </a:avLst>
          </a:prstGeom>
          <a:gradFill flip="none" rotWithShape="1">
            <a:gsLst>
              <a:gs pos="0">
                <a:srgbClr val="DCE7F7"/>
              </a:gs>
              <a:gs pos="100000">
                <a:srgbClr val="FFFFFF"/>
              </a:gs>
            </a:gsLst>
            <a:lin ang="10800000" scaled="0"/>
          </a:gra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3700" y="990600"/>
            <a:ext cx="4762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spc="150">
                <a:solidFill>
                  <a:srgbClr val="2E5BAC"/>
                </a:solidFill>
                <a:latin typeface="Inter"/>
              </a:rPr>
              <a:t>OPTION 3: AGENTIC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1143000"/>
            <a:ext cx="29527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4546A"/>
                </a:solidFill>
                <a:latin typeface="Inter"/>
              </a:rPr>
              <a:t>Purpose-built RCA multi-agent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1085850"/>
            <a:ext cx="7620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1">
                <a:solidFill>
                  <a:srgbClr val="2E5BAC"/>
                </a:solidFill>
                <a:latin typeface="Inter"/>
              </a:rPr>
              <a:t>5</a:t>
            </a:r>
            <a:r>
              <a:rPr sz="900" b="1">
                <a:solidFill>
                  <a:srgbClr val="7B8794"/>
                </a:solidFill>
                <a:latin typeface="Inter"/>
              </a:rPr>
              <a:t> min dev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4650" y="1409700"/>
            <a:ext cx="4800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43700" y="1485900"/>
            <a:ext cx="1085850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3700" y="1485900"/>
            <a:ext cx="10858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Auto-Triggered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7650" y="1485900"/>
            <a:ext cx="1352550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7650" y="1485900"/>
            <a:ext cx="13525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Engineered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8300" y="1485900"/>
            <a:ext cx="1352550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8300" y="1485900"/>
            <a:ext cx="13525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Specialised Agents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43700" y="1695450"/>
            <a:ext cx="1419225" cy="171450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3700" y="1695450"/>
            <a:ext cx="1419225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40">
                <a:solidFill>
                  <a:srgbClr val="2E5BAC"/>
                </a:solidFill>
                <a:latin typeface="Inter"/>
              </a:rPr>
              <a:t>Built-in Guardrails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50" y="14859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3900" y="15335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900" y="15335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" y="15335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Read bug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800" y="16668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Pick up the QA ticket.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62250" y="15811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2250" y="15811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5 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50" y="19240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23900" y="19716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900" y="19716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800" y="19716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Investigate codebase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6800" y="21050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Hunts the cause across files.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62250" y="20193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62250" y="20193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45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50" y="23622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23900" y="24098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900" y="24098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800" y="24098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Write the fix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800" y="25431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Makes the code change.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2250" y="24574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62250" y="24574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15 min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6750" y="28003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23900" y="28479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3900" y="28479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6800" y="28479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Test the fix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800" y="29813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Runs tests to confirm.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62250" y="28956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F3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62250" y="28956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Inter"/>
              </a:rPr>
              <a:t>10 min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95700" y="14859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752850" y="15335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52850" y="15335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95750" y="15335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Read bug 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95750" y="16668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Pick up the QA ticket.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91200" y="15811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91200" y="15811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3 min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95700" y="19240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752850" y="19716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52850" y="19716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95750" y="19716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Prompt &amp; investigate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95750" y="21050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Dev guides the AI turn by turn.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91200" y="20193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91200" y="20193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25 min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95700" y="236220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752850" y="24098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52850" y="24098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95750" y="24098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Write the fix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95750" y="25431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Dev refines the AI draft.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791200" y="24574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91200" y="24574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7 min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95700" y="2800350"/>
            <a:ext cx="26289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752850" y="28479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D9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52850" y="28479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✅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95750" y="284797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Test the fix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95750" y="2981325"/>
            <a:ext cx="1562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Runs tests to confirm.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791200" y="28956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91200" y="28956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B7CB8"/>
                </a:solidFill>
                <a:latin typeface="Inter"/>
              </a:rPr>
              <a:t>5 min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95700" y="3276600"/>
            <a:ext cx="2628900" cy="304800"/>
          </a:xfrm>
          <a:prstGeom prst="roundRect">
            <a:avLst>
              <a:gd name="adj" fmla="val 12500"/>
            </a:avLst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695700" y="3276600"/>
            <a:ext cx="19050" cy="304800"/>
          </a:xfrm>
          <a:prstGeom prst="rect">
            <a:avLst/>
          </a:prstGeom>
          <a:solidFill>
            <a:srgbClr val="5B7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71900" y="3314700"/>
            <a:ext cx="24955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44546A"/>
                </a:solidFill>
                <a:latin typeface="Inter"/>
              </a:rPr>
              <a:t>The catch: </a:t>
            </a:r>
            <a:r>
              <a:rPr sz="800">
                <a:solidFill>
                  <a:srgbClr val="44546A"/>
                </a:solidFill>
                <a:latin typeface="Inter"/>
              </a:rPr>
              <a:t>dev prompts ad-hoc, AI has no structure. On large repos it wanders and stalls.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724650" y="1943100"/>
            <a:ext cx="48006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781800" y="19907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81800" y="19907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24700" y="1990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Hand bug to the agent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24700" y="21240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Drop the QA report into the tool.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991850" y="20383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991850" y="20383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1 min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724650" y="2381250"/>
            <a:ext cx="4800600" cy="1333500"/>
          </a:xfrm>
          <a:prstGeom prst="roundRect">
            <a:avLst>
              <a:gd name="adj" fmla="val 5714"/>
            </a:avLst>
          </a:prstGeom>
          <a:solidFill>
            <a:srgbClr val="EAF1FB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781800" y="24288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81800" y="24288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🤖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24700" y="2438400"/>
            <a:ext cx="38481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Agent investigates, finds root cause, fixes &amp; tests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991850" y="24574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91850" y="24574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9 min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38950" y="2667000"/>
            <a:ext cx="4572000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BDD7EE"/>
              </a:gs>
              <a:gs pos="100000">
                <a:srgbClr val="8FAAD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34200" y="2667000"/>
            <a:ext cx="4381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44546A"/>
                </a:solidFill>
                <a:latin typeface="Inter"/>
              </a:rPr>
              <a:t>QA Bug › Investigate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34200" y="2667000"/>
            <a:ext cx="4381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44546A"/>
                </a:solidFill>
                <a:latin typeface="Inter"/>
              </a:rPr>
              <a:t>whole repo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343775" y="2876550"/>
            <a:ext cx="3562350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8FAADC"/>
              </a:gs>
              <a:gs pos="100000">
                <a:srgbClr val="5B9BD5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39025" y="2876550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Diagnose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39025" y="2876550"/>
            <a:ext cx="33718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FFFFFF"/>
                </a:solidFill>
                <a:latin typeface="Inter"/>
              </a:rPr>
              <a:t>finds root cause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58100" y="3086100"/>
            <a:ext cx="2924175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B9BD5"/>
              </a:gs>
              <a:gs pos="100000">
                <a:srgbClr val="4472C4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753350" y="3086100"/>
            <a:ext cx="27336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Fix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53350" y="3086100"/>
            <a:ext cx="27336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FFFFFF"/>
                </a:solidFill>
                <a:latin typeface="Inter"/>
              </a:rPr>
              <a:t>writes code change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981950" y="3295650"/>
            <a:ext cx="2286000" cy="1905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472C4"/>
              </a:gs>
              <a:gs pos="100000">
                <a:srgbClr val="2E5BA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077200" y="32956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Inter"/>
              </a:rPr>
              <a:t>Verify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77200" y="32956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>
                <a:solidFill>
                  <a:srgbClr val="FFFFFF"/>
                </a:solidFill>
                <a:latin typeface="Inter"/>
              </a:rPr>
              <a:t>tests pass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724650" y="3790950"/>
            <a:ext cx="48006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781800" y="383857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781800" y="383857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📋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24700" y="38385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Dev reviews the report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4700" y="39719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Reads findings, approves the fix.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991850" y="388620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991850" y="38862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3 min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724650" y="4229100"/>
            <a:ext cx="48006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6781800" y="42767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781800" y="4276725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>
                <a:latin typeface="Segoe UI Emoji"/>
              </a:rPr>
              <a:t>✅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124700" y="427672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4546A"/>
                </a:solidFill>
                <a:latin typeface="Inter"/>
              </a:rPr>
              <a:t>Approve &amp; ship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24700" y="4410075"/>
            <a:ext cx="3733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>
                <a:solidFill>
                  <a:srgbClr val="7B8794"/>
                </a:solidFill>
                <a:latin typeface="Inter"/>
              </a:rPr>
              <a:t>Tests already passed in the agent run.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991850" y="4324350"/>
            <a:ext cx="476250" cy="171450"/>
          </a:xfrm>
          <a:prstGeom prst="roundRect">
            <a:avLst>
              <a:gd name="adj" fmla="val 27777"/>
            </a:avLst>
          </a:prstGeom>
          <a:solidFill>
            <a:srgbClr val="DC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991850" y="43243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E5BAC"/>
                </a:solidFill>
                <a:latin typeface="Inter"/>
              </a:rPr>
              <a:t>2 min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33400" y="5295900"/>
            <a:ext cx="11125200" cy="666750"/>
          </a:xfrm>
          <a:prstGeom prst="roundRect">
            <a:avLst>
              <a:gd name="adj" fmla="val 17142"/>
            </a:avLst>
          </a:prstGeom>
          <a:gradFill flip="none" rotWithShape="1">
            <a:gsLst>
              <a:gs pos="0">
                <a:srgbClr val="44546A"/>
              </a:gs>
              <a:gs pos="100000">
                <a:srgbClr val="4472C4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314700" y="5410200"/>
            <a:ext cx="9525" cy="438150"/>
          </a:xfrm>
          <a:prstGeom prst="rect">
            <a:avLst/>
          </a:prstGeom>
          <a:solidFill>
            <a:srgbClr val="668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096000" y="5410200"/>
            <a:ext cx="9525" cy="438150"/>
          </a:xfrm>
          <a:prstGeom prst="rect">
            <a:avLst/>
          </a:prstGeom>
          <a:solidFill>
            <a:srgbClr val="668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877300" y="5410200"/>
            <a:ext cx="9525" cy="438150"/>
          </a:xfrm>
          <a:prstGeom prst="rect">
            <a:avLst/>
          </a:prstGeom>
          <a:solidFill>
            <a:srgbClr val="668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334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COST / BUG: MANUAL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3400" y="5505450"/>
            <a:ext cx="2781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$60.00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33400" y="5772150"/>
            <a:ext cx="2781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BDD7EE"/>
                </a:solidFill>
                <a:latin typeface="Inter"/>
              </a:rPr>
              <a:t>75 min × $48/hr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47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COST / BUG: VIBE CODING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4700" y="5505450"/>
            <a:ext cx="2781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$36.00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14700" y="5772150"/>
            <a:ext cx="2781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BDD7EE"/>
                </a:solidFill>
                <a:latin typeface="Inter"/>
              </a:rPr>
              <a:t>40 min dev + ~$4 AI tokens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0960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COST / BUG: AGENTIC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96000" y="5505450"/>
            <a:ext cx="2781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D966"/>
                </a:solidFill>
                <a:latin typeface="Inter"/>
              </a:rPr>
              <a:t>$6.00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96000" y="5772150"/>
            <a:ext cx="2781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BDD7EE"/>
                </a:solidFill>
                <a:latin typeface="Inter"/>
              </a:rPr>
              <a:t>5 min dev time + ~$2 agent run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877300" y="5391150"/>
            <a:ext cx="2781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spc="150">
                <a:solidFill>
                  <a:srgbClr val="BDD7EE"/>
                </a:solidFill>
                <a:latin typeface="Inter"/>
              </a:rPr>
              <a:t>NET SAVINGS: AGENTIC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877300" y="5505450"/>
            <a:ext cx="27813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FC000"/>
                </a:solidFill>
                <a:latin typeface="Inter"/>
              </a:rPr>
              <a:t>$30.00</a:t>
            </a:r>
            <a:r>
              <a:rPr sz="800" b="1">
                <a:solidFill>
                  <a:srgbClr val="DBE5F1"/>
                </a:solidFill>
                <a:latin typeface="Inter"/>
              </a:rPr>
              <a:t> vs Vibe Coding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877300" y="5772150"/>
            <a:ext cx="2781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D966"/>
                </a:solidFill>
                <a:latin typeface="Inter"/>
              </a:rPr>
              <a:t>$54</a:t>
            </a:r>
            <a:r>
              <a:rPr sz="800">
                <a:solidFill>
                  <a:srgbClr val="BDD7EE"/>
                </a:solidFill>
                <a:latin typeface="Inter"/>
              </a:rPr>
              <a:t> vs manual · At 500 bugs/yr → </a:t>
            </a:r>
            <a:r>
              <a:rPr sz="800" b="1">
                <a:solidFill>
                  <a:srgbClr val="FFFFFF"/>
                </a:solidFill>
                <a:latin typeface="Inter"/>
              </a:rPr>
              <a:t>~$15K saved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