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6" r:id="rId1"/>
    <p:sldMasterId id="2147483680" r:id="rId2"/>
  </p:sldMasterIdLst>
  <p:notesMasterIdLst>
    <p:notesMasterId r:id="rId17"/>
  </p:notesMasterIdLst>
  <p:sldIdLst>
    <p:sldId id="2147375601" r:id="rId3"/>
    <p:sldId id="286" r:id="rId4"/>
    <p:sldId id="257" r:id="rId5"/>
    <p:sldId id="258" r:id="rId6"/>
    <p:sldId id="288" r:id="rId7"/>
    <p:sldId id="260" r:id="rId8"/>
    <p:sldId id="295" r:id="rId9"/>
    <p:sldId id="263" r:id="rId10"/>
    <p:sldId id="292" r:id="rId11"/>
    <p:sldId id="293" r:id="rId12"/>
    <p:sldId id="283" r:id="rId13"/>
    <p:sldId id="290" r:id="rId14"/>
    <p:sldId id="299" r:id="rId15"/>
    <p:sldId id="28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71FC"/>
    <a:srgbClr val="8B5CF6"/>
    <a:srgbClr val="EBDEFF"/>
    <a:srgbClr val="3C006C"/>
    <a:srgbClr val="5C2957"/>
    <a:srgbClr val="1D51A3"/>
    <a:srgbClr val="7900BF"/>
    <a:srgbClr val="6D28D9"/>
    <a:srgbClr val="A855F7"/>
    <a:srgbClr val="7B2D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26" autoAdjust="0"/>
  </p:normalViewPr>
  <p:slideViewPr>
    <p:cSldViewPr snapToGrid="0">
      <p:cViewPr varScale="1">
        <p:scale>
          <a:sx n="141" d="100"/>
          <a:sy n="141" d="100"/>
        </p:scale>
        <p:origin x="14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965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4F1C5C-8F88-4357-822F-40DDB2CBA15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235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037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309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17E06-45F4-9386-1A80-0C47E1433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17315-B921-E9D4-E0BC-AD28A215B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5F383D-3AB9-B970-C7EE-BD93771634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C7CDC-9A57-532A-BE3F-F647DBF8EB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141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FB1CC-21C0-B042-526B-703AB3D73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63008-99F8-976A-F85A-AD360B5A5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5551EA-17CC-75AC-3A6B-0A8A88976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072EE-90C0-442E-43E4-020D7E179A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1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C3D0F-4287-D384-7E35-09721A25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5B032B-2E23-8DC7-06E4-026D5B852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DF751-5838-FF85-2DC5-F8C0D5FC2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Across eight weeks, I built and structured these core PDLC deliverables — each week building on the last.</a:t>
            </a:r>
            <a:br>
              <a:rPr lang="en-US" dirty="0"/>
            </a:br>
            <a:r>
              <a:rPr lang="en-US" dirty="0"/>
              <a:t>Week 1 — Discovery: Mapped the current-state PDLC across all five archetypes and six lifecycle phases to understand where friction, duplication, and AI gaps exist.</a:t>
            </a:r>
            <a:br>
              <a:rPr lang="en-US" dirty="0"/>
            </a:br>
            <a:r>
              <a:rPr lang="en-US" dirty="0"/>
              <a:t>Week 2 — Workshop Analysis: Did a deep-dive into cross-archetype workshop outputs to surface handoff inefficiencies and recurring pain points across pods.</a:t>
            </a:r>
            <a:br>
              <a:rPr lang="en-US" dirty="0"/>
            </a:br>
            <a:r>
              <a:rPr lang="en-US" dirty="0"/>
              <a:t>Week 3 — POC Ideation: Ranked GenAI and agentic opportunities by PDLC stage, narrowing down to three high-impact PoC candidates based on feasibility and value.</a:t>
            </a:r>
            <a:br>
              <a:rPr lang="en-US" dirty="0"/>
            </a:br>
            <a:r>
              <a:rPr lang="en-US" dirty="0"/>
              <a:t>Week 4 — Architecture: Designed the end-to-end AI-embedded architecture spanning intake to operate, ensuring it works across all five archetypes.</a:t>
            </a:r>
            <a:br>
              <a:rPr lang="en-US" dirty="0"/>
            </a:br>
            <a:r>
              <a:rPr lang="en-US" dirty="0"/>
              <a:t>Week 5 — Metrics: Created a metrics framework that ties every AI investment to measurable business outcomes — not just adoption metrics but real value levers.</a:t>
            </a:r>
            <a:br>
              <a:rPr lang="en-US" dirty="0"/>
            </a:br>
            <a:r>
              <a:rPr lang="en-US" dirty="0"/>
              <a:t>Week 6 — Agentic Periodic Table &amp; Recommendations: Built the agentic capability taxonomy mapping agent types to PDLC stages and delivered archetype-level recommendations for where AI fits best.</a:t>
            </a:r>
            <a:br>
              <a:rPr lang="en-US" dirty="0"/>
            </a:br>
            <a:r>
              <a:rPr lang="en-US" dirty="0"/>
              <a:t>Week 7 — Cross-Archetype Pattern Synthesis: Consolidated all the friction evidence and discovery insights across archetypes into a unified cross-archetype view — surfacing the recurring patterns that cut across delivery models.</a:t>
            </a:r>
            <a:br>
              <a:rPr lang="en-US" dirty="0"/>
            </a:br>
            <a:r>
              <a:rPr lang="en-US" dirty="0"/>
              <a:t>Week 8 — Iteration &amp; Wrap-Up: Continued iterating on deliverables incorporating the cross-archetype findings from Week 7, refined earlier outputs, and consolidated everything. None of this was built in isolation; it was shaped through consistent connects with the PM and implementation team.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D4C890-9CEC-B6FE-45C1-1D05FBC03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203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A7EEE-16B2-9FEB-D239-B63ECD539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D9152-A34B-C314-1FA5-6B4D31C64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723187-7F26-4773-9522-429B11481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736996-F9FF-3684-EF16-E03EEE8D53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2360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4.jpeg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3D7B6FC-C076-85AC-5249-DFE4FC8728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71B3256E-94D7-57D7-C2FB-1654E270C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082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4D76A7B-D438-C44B-16F8-1A4ABD686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87E403F-5617-F988-F30C-B49AD91F2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65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5BA871E-B5AE-A3A9-87F7-36CC852C1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CDBC49D-02D2-DAFF-B953-4445E08AA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30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6470657-A617-3908-16DB-88D8FDE5D1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8C265B-DA99-2E9E-D358-90367E8EA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87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784EB48-D8AD-6EFD-5957-CE09D833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6B1E2B7-FB75-6170-DDBB-2A0A4997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70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774EEC7-6FB5-D2CD-B797-B6CA506A1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1031289-0F19-22A8-9680-D0EED8E45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50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96DEF7D-269A-5244-3044-B5A8A44B9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BD8A1B7-92DC-05EC-DE40-BD80C485B2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3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A7B7-DA17-D11D-275E-D5955837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4946CA-E49F-9EE8-A8BA-DC9728BD7A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A49D6-93F4-CDDA-0633-A181E48127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6EDDE5D-44DA-3C8D-7ECE-37C102622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02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B448AB5-BD5A-54B6-7B72-847B2908A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132FFB9-2DB2-9EF8-0AA1-5348BAFC4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6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C280776-7052-FEB7-CAA6-5BD5E2F34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1EE0321-5A0D-AF4E-BD05-8D83D0C3C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95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B0F174DF-510F-6BA3-410C-F834C38668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751D4C4-0811-7F28-932A-197BA034E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41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7B3D6B-A06F-5C91-E36E-FC301053A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247DF6-FB25-7B06-01C9-7C1613B2D1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95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0AD0422-8087-7210-12D5-5D9D7D859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5F1E182-46B6-8B36-A5FA-20E7B9702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52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3713">
            <a:extLst>
              <a:ext uri="{FF2B5EF4-FFF2-40B4-BE49-F238E27FC236}">
                <a16:creationId xmlns:a16="http://schemas.microsoft.com/office/drawing/2014/main" id="{1DD0A749-31B6-4EBB-BA9F-4938EA16293C}"/>
              </a:ext>
            </a:extLst>
          </p:cNvPr>
          <p:cNvSpPr/>
          <p:nvPr userDrawn="1"/>
        </p:nvSpPr>
        <p:spPr>
          <a:xfrm>
            <a:off x="-1739" y="1"/>
            <a:ext cx="7112021" cy="1036550"/>
          </a:xfrm>
          <a:prstGeom prst="homePlate">
            <a:avLst>
              <a:gd name="adj" fmla="val 28868"/>
            </a:avLst>
          </a:prstGeom>
          <a:solidFill>
            <a:schemeClr val="accent3"/>
          </a:solidFill>
          <a:ln>
            <a:noFill/>
          </a:ln>
        </p:spPr>
        <p:txBody>
          <a:bodyPr lIns="88369" tIns="88369" rIns="88369" bIns="88369" anchor="ctr" anchorCtr="0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825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CB43B1D-DC67-4167-B43E-101DE7B76D89}"/>
              </a:ext>
            </a:extLst>
          </p:cNvPr>
          <p:cNvSpPr/>
          <p:nvPr userDrawn="1"/>
        </p:nvSpPr>
        <p:spPr>
          <a:xfrm>
            <a:off x="6881005" y="1"/>
            <a:ext cx="1286889" cy="1036550"/>
          </a:xfrm>
          <a:prstGeom prst="chevron">
            <a:avLst>
              <a:gd name="adj" fmla="val 288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1735FE36-3E84-49EF-BD79-D8833B953381}"/>
              </a:ext>
            </a:extLst>
          </p:cNvPr>
          <p:cNvSpPr/>
          <p:nvPr userDrawn="1"/>
        </p:nvSpPr>
        <p:spPr>
          <a:xfrm>
            <a:off x="7938616" y="1"/>
            <a:ext cx="1205384" cy="1036550"/>
          </a:xfrm>
          <a:prstGeom prst="chevron">
            <a:avLst>
              <a:gd name="adj" fmla="val 288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9D4F18E-5A10-4198-BDDB-C6C9885397E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574" y="767513"/>
            <a:ext cx="1208174" cy="1208174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>
              <a:defRPr sz="75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11993E7C-78A0-4320-9A3D-42A4A1B244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3" imgH="424" progId="TCLayout.ActiveDocument.1">
                  <p:embed/>
                </p:oleObj>
              </mc:Choice>
              <mc:Fallback>
                <p:oleObj name="think-cell Slide" r:id="rId3" imgW="423" imgH="424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11993E7C-78A0-4320-9A3D-42A4A1B244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 hidden="1"/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-126465" y="1"/>
            <a:ext cx="9041864" cy="5142857"/>
          </a:xfrm>
          <a:prstGeom prst="rect">
            <a:avLst/>
          </a:prstGeom>
        </p:spPr>
      </p:pic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3B5EC5A-DB80-41F8-A694-4046BF3AC8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5750" y="287964"/>
            <a:ext cx="6770526" cy="258533"/>
          </a:xfrm>
        </p:spPr>
        <p:txBody>
          <a:bodyPr wrap="square" lIns="0" tIns="0" rIns="0" bIns="0">
            <a:spAutoFit/>
          </a:bodyPr>
          <a:lstStyle>
            <a:lvl1pPr marL="0">
              <a:lnSpc>
                <a:spcPct val="80000"/>
              </a:lnSpc>
              <a:spcAft>
                <a:spcPts val="0"/>
              </a:spcAft>
              <a:defRPr sz="2100" cap="all" normalizeH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Name </a:t>
            </a:r>
            <a:r>
              <a:rPr lang="en-US" err="1"/>
              <a:t>Suname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07FB296-2B38-472F-9965-F1927D176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29652" y="4896877"/>
            <a:ext cx="228599" cy="154781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750">
                <a:solidFill>
                  <a:schemeClr val="bg1">
                    <a:lumMod val="65000"/>
                  </a:schemeClr>
                </a:solidFill>
                <a:latin typeface="+mn-lt"/>
              </a:defRPr>
            </a:lvl1pPr>
          </a:lstStyle>
          <a:p>
            <a:pPr defTabSz="685800">
              <a:defRPr/>
            </a:pPr>
            <a:fld id="{4F9AC08D-23A9-440E-BCB9-AA1E9877CC38}" type="slidenum">
              <a:rPr lang="en-US" smtClean="0">
                <a:solidFill>
                  <a:srgbClr val="FFFFFF">
                    <a:lumMod val="65000"/>
                  </a:srgbClr>
                </a:solidFill>
              </a:rPr>
              <a:pPr defTabSz="685800">
                <a:defRPr/>
              </a:pPr>
              <a:t>‹#›</a:t>
            </a:fld>
            <a:endParaRPr lang="en-US">
              <a:solidFill>
                <a:srgbClr val="FFFFFF">
                  <a:lumMod val="6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989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CB278-1248-56DE-4C37-DCCDDA67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97120-C9E7-B7DA-DA0A-1CF0A2DD6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75D92D-5E08-D8F8-A24B-5CD82D7DD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2C17F-262F-8A88-644A-E50F4A695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D0639-DD45-4E03-BEC6-F20C4E0DF18B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392A8-DBA5-8146-AC00-66FBAD31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BED77B-8B43-C4CB-1EC0-1AB8DD48F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67956" y="4857751"/>
            <a:ext cx="214689" cy="155882"/>
          </a:xfrm>
        </p:spPr>
        <p:txBody>
          <a:bodyPr/>
          <a:lstStyle/>
          <a:p>
            <a:fld id="{D36489F4-7E42-4192-B621-236FD88EC6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3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heme" Target="../theme/theme2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.bin"/><Relationship Id="rId5" Type="http://schemas.openxmlformats.org/officeDocument/2006/relationships/tags" Target="../tags/tag2.xml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1">
            <a:extLst>
              <a:ext uri="{FF2B5EF4-FFF2-40B4-BE49-F238E27FC236}">
                <a16:creationId xmlns:a16="http://schemas.microsoft.com/office/drawing/2014/main" id="{3090DB6F-7FC0-8288-4649-274CEBDD87BA}"/>
              </a:ext>
            </a:extLst>
          </p:cNvPr>
          <p:cNvSpPr>
            <a:spLocks/>
          </p:cNvSpPr>
          <p:nvPr userDrawn="1"/>
        </p:nvSpPr>
        <p:spPr>
          <a:xfrm>
            <a:off x="274320" y="467534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2200" b="1">
                <a:solidFill>
                  <a:srgbClr val="A100FF"/>
                </a:solidFill>
                <a:latin typeface="Graphik" panose="020B0503030202060203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200">
              <a:latin typeface="Graphik" panose="020B0503030202060203" pitchFamily="34" charset="0"/>
            </a:endParaRP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F587A06-1330-ED3A-CDEC-A174F5080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73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© 2026 Accenture. All rights reserved.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139C83-9F20-7754-AEC8-74478D014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5235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1442E-BD9B-C30A-EA1C-3B9942A920B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008438" y="63500"/>
            <a:ext cx="1155700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***Confidential***</a:t>
            </a:r>
          </a:p>
        </p:txBody>
      </p:sp>
    </p:spTree>
    <p:extLst>
      <p:ext uri="{BB962C8B-B14F-4D97-AF65-F5344CB8AC3E}">
        <p14:creationId xmlns:p14="http://schemas.microsoft.com/office/powerpoint/2010/main" val="1902497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9" r:id="rId8"/>
    <p:sldLayoutId id="2147483674" r:id="rId9"/>
    <p:sldLayoutId id="2147483675" r:id="rId10"/>
    <p:sldLayoutId id="2147483676" r:id="rId11"/>
    <p:sldLayoutId id="2147483677" r:id="rId12"/>
    <p:sldLayoutId id="2147483678" r:id="rId1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1794C989-BBAA-4EE9-9994-5A82DE1695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87820569"/>
              </p:ext>
            </p:extLst>
          </p:nvPr>
        </p:nvGraphicFramePr>
        <p:xfrm>
          <a:off x="1191" y="1191"/>
          <a:ext cx="1191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4" imgH="424" progId="TCLayout.ActiveDocument.1">
                  <p:embed/>
                </p:oleObj>
              </mc:Choice>
              <mc:Fallback>
                <p:oleObj name="think-cell Slide" r:id="rId6" imgW="424" imgH="42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1794C989-BBAA-4EE9-9994-5A82DE1695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91" y="1191"/>
                        <a:ext cx="1191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5E367C1E-D07A-4CEE-8735-8E2C61BD021E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19063" cy="1190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2250" b="1" i="0" baseline="0" err="1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>
          <a:xfrm>
            <a:off x="6305002" y="4861560"/>
            <a:ext cx="2334083" cy="15240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171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r>
              <a:rPr lang="en-GB" sz="600" dirty="0">
                <a:solidFill>
                  <a:schemeClr val="tx1">
                    <a:alpha val="75000"/>
                  </a:schemeClr>
                </a:solidFill>
              </a:rPr>
              <a:t>Copyright 2026 © Accenture. All rights reserved.</a:t>
            </a:r>
            <a:endParaRPr lang="en-US" sz="1350" noProof="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>
          <a:xfrm>
            <a:off x="8684375" y="4860595"/>
            <a:ext cx="195171" cy="15433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171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00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1714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0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2DB82-2141-42CD-9AE7-8A744B363FB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8684373" y="4857751"/>
            <a:ext cx="195172" cy="15588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>
              <a:defRPr lang="en-US" sz="600" smtClean="0">
                <a:noFill/>
              </a:defRPr>
            </a:lvl1pPr>
          </a:lstStyle>
          <a:p>
            <a:pPr algn="r" defTabSz="171450">
              <a:spcAft>
                <a:spcPts val="900"/>
              </a:spcAft>
            </a:pPr>
            <a:fld id="{CC9E6EB9-168E-4914-8CC7-2E853AFB4F1B}" type="slidenum">
              <a:rPr lang="en-US" smtClean="0"/>
              <a:pPr algn="r" defTabSz="171450">
                <a:spcAft>
                  <a:spcPts val="900"/>
                </a:spcAft>
              </a:pPr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85750" y="285751"/>
            <a:ext cx="8572500" cy="52935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(30pt)</a:t>
            </a:r>
            <a:br>
              <a:rPr lang="en-US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85750" y="1032509"/>
            <a:ext cx="8572500" cy="36728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50" y="4861887"/>
            <a:ext cx="144018" cy="151746"/>
          </a:xfrm>
          <a:prstGeom prst="rect">
            <a:avLst/>
          </a:prstGeom>
        </p:spPr>
      </p:pic>
      <p:cxnSp>
        <p:nvCxnSpPr>
          <p:cNvPr id="12" name="Straight Connector 41">
            <a:extLst>
              <a:ext uri="{FF2B5EF4-FFF2-40B4-BE49-F238E27FC236}">
                <a16:creationId xmlns:a16="http://schemas.microsoft.com/office/drawing/2014/main" id="{8B5CF7D3-9D11-43C8-9C96-352C50278771}"/>
              </a:ext>
            </a:extLst>
          </p:cNvPr>
          <p:cNvCxnSpPr/>
          <p:nvPr userDrawn="1"/>
        </p:nvCxnSpPr>
        <p:spPr>
          <a:xfrm>
            <a:off x="-189480" y="1035033"/>
            <a:ext cx="137160" cy="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0">
            <a:extLst>
              <a:ext uri="{FF2B5EF4-FFF2-40B4-BE49-F238E27FC236}">
                <a16:creationId xmlns:a16="http://schemas.microsoft.com/office/drawing/2014/main" id="{88AE0773-EE52-4910-9A72-00D0E5988EB0}"/>
              </a:ext>
            </a:extLst>
          </p:cNvPr>
          <p:cNvCxnSpPr/>
          <p:nvPr userDrawn="1"/>
        </p:nvCxnSpPr>
        <p:spPr>
          <a:xfrm>
            <a:off x="-189480" y="1247046"/>
            <a:ext cx="137160" cy="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51">
            <a:extLst>
              <a:ext uri="{FF2B5EF4-FFF2-40B4-BE49-F238E27FC236}">
                <a16:creationId xmlns:a16="http://schemas.microsoft.com/office/drawing/2014/main" id="{3F278CEE-58D7-4347-8A48-AC347988EF73}"/>
              </a:ext>
            </a:extLst>
          </p:cNvPr>
          <p:cNvSpPr txBox="1"/>
          <p:nvPr userDrawn="1"/>
        </p:nvSpPr>
        <p:spPr>
          <a:xfrm>
            <a:off x="-1577059" y="1162268"/>
            <a:ext cx="1334149" cy="16691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Upper Guide Content</a:t>
            </a:r>
          </a:p>
        </p:txBody>
      </p:sp>
      <p:sp>
        <p:nvSpPr>
          <p:cNvPr id="15" name="TextBox 52">
            <a:extLst>
              <a:ext uri="{FF2B5EF4-FFF2-40B4-BE49-F238E27FC236}">
                <a16:creationId xmlns:a16="http://schemas.microsoft.com/office/drawing/2014/main" id="{72837ACB-C53A-4B19-B46C-12F0BD14D74D}"/>
              </a:ext>
            </a:extLst>
          </p:cNvPr>
          <p:cNvSpPr txBox="1"/>
          <p:nvPr userDrawn="1"/>
        </p:nvSpPr>
        <p:spPr>
          <a:xfrm>
            <a:off x="-1574910" y="231306"/>
            <a:ext cx="1332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Tagline</a:t>
            </a:r>
          </a:p>
        </p:txBody>
      </p:sp>
      <p:cxnSp>
        <p:nvCxnSpPr>
          <p:cNvPr id="16" name="Straight Connector 53">
            <a:extLst>
              <a:ext uri="{FF2B5EF4-FFF2-40B4-BE49-F238E27FC236}">
                <a16:creationId xmlns:a16="http://schemas.microsoft.com/office/drawing/2014/main" id="{88641946-2B20-4A59-89E2-45EA2C30F3C7}"/>
              </a:ext>
            </a:extLst>
          </p:cNvPr>
          <p:cNvCxnSpPr>
            <a:cxnSpLocks/>
          </p:cNvCxnSpPr>
          <p:nvPr userDrawn="1"/>
        </p:nvCxnSpPr>
        <p:spPr>
          <a:xfrm flipV="1">
            <a:off x="-189480" y="287465"/>
            <a:ext cx="137160" cy="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54">
            <a:extLst>
              <a:ext uri="{FF2B5EF4-FFF2-40B4-BE49-F238E27FC236}">
                <a16:creationId xmlns:a16="http://schemas.microsoft.com/office/drawing/2014/main" id="{89A408B4-95CF-45CC-B30E-DCC3DFABDFB3}"/>
              </a:ext>
            </a:extLst>
          </p:cNvPr>
          <p:cNvSpPr txBox="1">
            <a:spLocks/>
          </p:cNvSpPr>
          <p:nvPr userDrawn="1"/>
        </p:nvSpPr>
        <p:spPr>
          <a:xfrm>
            <a:off x="-1394910" y="2326947"/>
            <a:ext cx="115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Primary color 3</a:t>
            </a:r>
          </a:p>
        </p:txBody>
      </p:sp>
      <p:sp>
        <p:nvSpPr>
          <p:cNvPr id="18" name="Rectangle 55">
            <a:extLst>
              <a:ext uri="{FF2B5EF4-FFF2-40B4-BE49-F238E27FC236}">
                <a16:creationId xmlns:a16="http://schemas.microsoft.com/office/drawing/2014/main" id="{3769ACFA-9470-41B4-9729-E3F76DBF5BCE}"/>
              </a:ext>
            </a:extLst>
          </p:cNvPr>
          <p:cNvSpPr/>
          <p:nvPr userDrawn="1"/>
        </p:nvSpPr>
        <p:spPr bwMode="gray">
          <a:xfrm>
            <a:off x="-243540" y="2326949"/>
            <a:ext cx="135000" cy="13500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9389" algn="l"/>
              </a:tabLst>
              <a:defRPr/>
            </a:pPr>
            <a:endParaRPr kumimoji="0" lang="en-US" sz="7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9" name="TextBox 56">
            <a:extLst>
              <a:ext uri="{FF2B5EF4-FFF2-40B4-BE49-F238E27FC236}">
                <a16:creationId xmlns:a16="http://schemas.microsoft.com/office/drawing/2014/main" id="{7AAC5BC3-3691-44AA-8748-7A93CC0912CF}"/>
              </a:ext>
            </a:extLst>
          </p:cNvPr>
          <p:cNvSpPr txBox="1">
            <a:spLocks/>
          </p:cNvSpPr>
          <p:nvPr userDrawn="1"/>
        </p:nvSpPr>
        <p:spPr>
          <a:xfrm>
            <a:off x="-1394910" y="2005451"/>
            <a:ext cx="115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Primary color 1</a:t>
            </a:r>
          </a:p>
        </p:txBody>
      </p:sp>
      <p:sp>
        <p:nvSpPr>
          <p:cNvPr id="20" name="Rectangle 57">
            <a:extLst>
              <a:ext uri="{FF2B5EF4-FFF2-40B4-BE49-F238E27FC236}">
                <a16:creationId xmlns:a16="http://schemas.microsoft.com/office/drawing/2014/main" id="{0CDD69FD-794D-4C03-8423-ED265820553B}"/>
              </a:ext>
            </a:extLst>
          </p:cNvPr>
          <p:cNvSpPr/>
          <p:nvPr userDrawn="1"/>
        </p:nvSpPr>
        <p:spPr bwMode="gray">
          <a:xfrm>
            <a:off x="-243540" y="2005451"/>
            <a:ext cx="135000" cy="135000"/>
          </a:xfrm>
          <a:prstGeom prst="rect">
            <a:avLst/>
          </a:prstGeom>
          <a:solidFill>
            <a:schemeClr val="accent1"/>
          </a:solidFill>
          <a:ln w="635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9389" algn="l"/>
              </a:tabLst>
              <a:defRPr/>
            </a:pPr>
            <a:endParaRPr kumimoji="0" lang="en-US" sz="739" b="0" i="0" u="none" strike="noStrike" kern="1200" cap="none" spc="0" normalizeH="0" baseline="0" noProof="0">
              <a:ln>
                <a:noFill/>
              </a:ln>
              <a:solidFill>
                <a:srgbClr val="BEBEBE">
                  <a:lumMod val="10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1" name="Rectangle 58">
            <a:extLst>
              <a:ext uri="{FF2B5EF4-FFF2-40B4-BE49-F238E27FC236}">
                <a16:creationId xmlns:a16="http://schemas.microsoft.com/office/drawing/2014/main" id="{2751F756-AE43-4D0B-BAED-2D185E1F57CB}"/>
              </a:ext>
            </a:extLst>
          </p:cNvPr>
          <p:cNvSpPr/>
          <p:nvPr userDrawn="1"/>
        </p:nvSpPr>
        <p:spPr bwMode="gray">
          <a:xfrm>
            <a:off x="-243540" y="2166200"/>
            <a:ext cx="135000" cy="135000"/>
          </a:xfrm>
          <a:prstGeom prst="rect">
            <a:avLst/>
          </a:prstGeom>
          <a:solidFill>
            <a:schemeClr val="accent2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9389" algn="l"/>
              </a:tabLst>
              <a:defRPr/>
            </a:pPr>
            <a:endParaRPr kumimoji="0" lang="en-US" sz="7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2" name="TextBox 59">
            <a:extLst>
              <a:ext uri="{FF2B5EF4-FFF2-40B4-BE49-F238E27FC236}">
                <a16:creationId xmlns:a16="http://schemas.microsoft.com/office/drawing/2014/main" id="{F591BCA9-2B98-4642-B284-E42591051701}"/>
              </a:ext>
            </a:extLst>
          </p:cNvPr>
          <p:cNvSpPr txBox="1">
            <a:spLocks/>
          </p:cNvSpPr>
          <p:nvPr userDrawn="1"/>
        </p:nvSpPr>
        <p:spPr>
          <a:xfrm>
            <a:off x="-1394910" y="2166200"/>
            <a:ext cx="115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Primary color 2</a:t>
            </a:r>
          </a:p>
        </p:txBody>
      </p:sp>
      <p:sp>
        <p:nvSpPr>
          <p:cNvPr id="23" name="TextBox 65">
            <a:extLst>
              <a:ext uri="{FF2B5EF4-FFF2-40B4-BE49-F238E27FC236}">
                <a16:creationId xmlns:a16="http://schemas.microsoft.com/office/drawing/2014/main" id="{F13441F1-4B5D-44E6-99C3-7816583211E9}"/>
              </a:ext>
            </a:extLst>
          </p:cNvPr>
          <p:cNvSpPr txBox="1"/>
          <p:nvPr userDrawn="1"/>
        </p:nvSpPr>
        <p:spPr>
          <a:xfrm>
            <a:off x="-1394910" y="4364925"/>
            <a:ext cx="115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White</a:t>
            </a:r>
          </a:p>
        </p:txBody>
      </p:sp>
      <p:sp>
        <p:nvSpPr>
          <p:cNvPr id="24" name="Rectangle 67">
            <a:extLst>
              <a:ext uri="{FF2B5EF4-FFF2-40B4-BE49-F238E27FC236}">
                <a16:creationId xmlns:a16="http://schemas.microsoft.com/office/drawing/2014/main" id="{50159B7A-57FC-4CA5-9162-09658FE5B727}"/>
              </a:ext>
            </a:extLst>
          </p:cNvPr>
          <p:cNvSpPr/>
          <p:nvPr userDrawn="1"/>
        </p:nvSpPr>
        <p:spPr bwMode="gray">
          <a:xfrm>
            <a:off x="-243540" y="4364927"/>
            <a:ext cx="135000" cy="135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9389" algn="l"/>
              </a:tabLst>
              <a:defRPr/>
            </a:pPr>
            <a:endParaRPr kumimoji="0" lang="en-US" sz="7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7" name="Rectangle 68">
            <a:extLst>
              <a:ext uri="{FF2B5EF4-FFF2-40B4-BE49-F238E27FC236}">
                <a16:creationId xmlns:a16="http://schemas.microsoft.com/office/drawing/2014/main" id="{134B466C-711D-4048-880C-A55E92C1E482}"/>
              </a:ext>
            </a:extLst>
          </p:cNvPr>
          <p:cNvSpPr>
            <a:spLocks/>
          </p:cNvSpPr>
          <p:nvPr userDrawn="1"/>
        </p:nvSpPr>
        <p:spPr bwMode="gray">
          <a:xfrm>
            <a:off x="-243663" y="3721933"/>
            <a:ext cx="135000" cy="13500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9389" algn="l"/>
              </a:tabLst>
              <a:defRPr/>
            </a:pPr>
            <a:endParaRPr kumimoji="0" lang="en-US" sz="7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8" name="TextBox 69">
            <a:extLst>
              <a:ext uri="{FF2B5EF4-FFF2-40B4-BE49-F238E27FC236}">
                <a16:creationId xmlns:a16="http://schemas.microsoft.com/office/drawing/2014/main" id="{3C12579F-9A74-44A9-868A-D3ABCA9173E5}"/>
              </a:ext>
            </a:extLst>
          </p:cNvPr>
          <p:cNvSpPr txBox="1">
            <a:spLocks/>
          </p:cNvSpPr>
          <p:nvPr userDrawn="1"/>
        </p:nvSpPr>
        <p:spPr>
          <a:xfrm>
            <a:off x="-1394910" y="3721931"/>
            <a:ext cx="115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Black (Text)</a:t>
            </a:r>
          </a:p>
        </p:txBody>
      </p:sp>
      <p:sp>
        <p:nvSpPr>
          <p:cNvPr id="29" name="TextBox 70">
            <a:extLst>
              <a:ext uri="{FF2B5EF4-FFF2-40B4-BE49-F238E27FC236}">
                <a16:creationId xmlns:a16="http://schemas.microsoft.com/office/drawing/2014/main" id="{7193BC93-6750-439C-8E80-7E4265A0FCA9}"/>
              </a:ext>
            </a:extLst>
          </p:cNvPr>
          <p:cNvSpPr txBox="1"/>
          <p:nvPr userDrawn="1"/>
        </p:nvSpPr>
        <p:spPr>
          <a:xfrm>
            <a:off x="-1574910" y="977158"/>
            <a:ext cx="1332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Sub-Headline Line</a:t>
            </a:r>
          </a:p>
        </p:txBody>
      </p:sp>
      <p:cxnSp>
        <p:nvCxnSpPr>
          <p:cNvPr id="30" name="Straight Connector 71">
            <a:extLst>
              <a:ext uri="{FF2B5EF4-FFF2-40B4-BE49-F238E27FC236}">
                <a16:creationId xmlns:a16="http://schemas.microsoft.com/office/drawing/2014/main" id="{53DA90D0-56E5-41B8-B4C8-F24B30636CDA}"/>
              </a:ext>
            </a:extLst>
          </p:cNvPr>
          <p:cNvCxnSpPr/>
          <p:nvPr userDrawn="1"/>
        </p:nvCxnSpPr>
        <p:spPr>
          <a:xfrm>
            <a:off x="-204720" y="4706304"/>
            <a:ext cx="137160" cy="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72">
            <a:extLst>
              <a:ext uri="{FF2B5EF4-FFF2-40B4-BE49-F238E27FC236}">
                <a16:creationId xmlns:a16="http://schemas.microsoft.com/office/drawing/2014/main" id="{D3C70D1E-1583-446E-8B57-E0C623B29BEF}"/>
              </a:ext>
            </a:extLst>
          </p:cNvPr>
          <p:cNvSpPr txBox="1"/>
          <p:nvPr userDrawn="1"/>
        </p:nvSpPr>
        <p:spPr>
          <a:xfrm>
            <a:off x="-1574910" y="4653466"/>
            <a:ext cx="1332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Footer</a:t>
            </a:r>
          </a:p>
        </p:txBody>
      </p:sp>
      <p:sp>
        <p:nvSpPr>
          <p:cNvPr id="33" name="TextBox 54">
            <a:extLst>
              <a:ext uri="{FF2B5EF4-FFF2-40B4-BE49-F238E27FC236}">
                <a16:creationId xmlns:a16="http://schemas.microsoft.com/office/drawing/2014/main" id="{A52D8D4E-1A24-43F5-B72E-0386AB2C7308}"/>
              </a:ext>
            </a:extLst>
          </p:cNvPr>
          <p:cNvSpPr txBox="1">
            <a:spLocks/>
          </p:cNvSpPr>
          <p:nvPr userDrawn="1"/>
        </p:nvSpPr>
        <p:spPr>
          <a:xfrm>
            <a:off x="-944910" y="2979469"/>
            <a:ext cx="70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3</a:t>
            </a:r>
          </a:p>
        </p:txBody>
      </p:sp>
      <p:sp>
        <p:nvSpPr>
          <p:cNvPr id="34" name="Rectangle 55">
            <a:extLst>
              <a:ext uri="{FF2B5EF4-FFF2-40B4-BE49-F238E27FC236}">
                <a16:creationId xmlns:a16="http://schemas.microsoft.com/office/drawing/2014/main" id="{695C2899-C1E6-4D25-AA61-13D5FC8706B9}"/>
              </a:ext>
            </a:extLst>
          </p:cNvPr>
          <p:cNvSpPr/>
          <p:nvPr userDrawn="1"/>
        </p:nvSpPr>
        <p:spPr bwMode="gray">
          <a:xfrm>
            <a:off x="-243663" y="2979469"/>
            <a:ext cx="135000" cy="135000"/>
          </a:xfrm>
          <a:prstGeom prst="rect">
            <a:avLst/>
          </a:prstGeom>
          <a:solidFill>
            <a:srgbClr val="BE82FF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35" name="TextBox 56">
            <a:extLst>
              <a:ext uri="{FF2B5EF4-FFF2-40B4-BE49-F238E27FC236}">
                <a16:creationId xmlns:a16="http://schemas.microsoft.com/office/drawing/2014/main" id="{7D017051-A8C8-41B8-9620-0E06CC21A658}"/>
              </a:ext>
            </a:extLst>
          </p:cNvPr>
          <p:cNvSpPr txBox="1">
            <a:spLocks/>
          </p:cNvSpPr>
          <p:nvPr userDrawn="1"/>
        </p:nvSpPr>
        <p:spPr>
          <a:xfrm>
            <a:off x="-944910" y="2651854"/>
            <a:ext cx="70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1</a:t>
            </a:r>
          </a:p>
        </p:txBody>
      </p:sp>
      <p:sp>
        <p:nvSpPr>
          <p:cNvPr id="36" name="Rectangle 57">
            <a:extLst>
              <a:ext uri="{FF2B5EF4-FFF2-40B4-BE49-F238E27FC236}">
                <a16:creationId xmlns:a16="http://schemas.microsoft.com/office/drawing/2014/main" id="{788FCADF-A5EF-41FC-90E1-79BAAA396C82}"/>
              </a:ext>
            </a:extLst>
          </p:cNvPr>
          <p:cNvSpPr/>
          <p:nvPr userDrawn="1"/>
        </p:nvSpPr>
        <p:spPr bwMode="gray">
          <a:xfrm>
            <a:off x="-243663" y="2651854"/>
            <a:ext cx="135000" cy="1350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37" name="Rectangle 58">
            <a:extLst>
              <a:ext uri="{FF2B5EF4-FFF2-40B4-BE49-F238E27FC236}">
                <a16:creationId xmlns:a16="http://schemas.microsoft.com/office/drawing/2014/main" id="{B6E85F73-B1D9-4669-95D7-F51B365CFC04}"/>
              </a:ext>
            </a:extLst>
          </p:cNvPr>
          <p:cNvSpPr/>
          <p:nvPr userDrawn="1"/>
        </p:nvSpPr>
        <p:spPr bwMode="gray">
          <a:xfrm>
            <a:off x="-243663" y="2815661"/>
            <a:ext cx="135000" cy="135000"/>
          </a:xfrm>
          <a:prstGeom prst="rect">
            <a:avLst/>
          </a:prstGeom>
          <a:solidFill>
            <a:srgbClr val="A055F5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38" name="TextBox 59">
            <a:extLst>
              <a:ext uri="{FF2B5EF4-FFF2-40B4-BE49-F238E27FC236}">
                <a16:creationId xmlns:a16="http://schemas.microsoft.com/office/drawing/2014/main" id="{E4F5FCBB-3CE0-485D-A4BD-E6093B4C1908}"/>
              </a:ext>
            </a:extLst>
          </p:cNvPr>
          <p:cNvSpPr txBox="1">
            <a:spLocks/>
          </p:cNvSpPr>
          <p:nvPr userDrawn="1"/>
        </p:nvSpPr>
        <p:spPr>
          <a:xfrm>
            <a:off x="-944910" y="2815661"/>
            <a:ext cx="70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2</a:t>
            </a:r>
          </a:p>
        </p:txBody>
      </p:sp>
      <p:sp>
        <p:nvSpPr>
          <p:cNvPr id="39" name="Rectangle 66">
            <a:extLst>
              <a:ext uri="{FF2B5EF4-FFF2-40B4-BE49-F238E27FC236}">
                <a16:creationId xmlns:a16="http://schemas.microsoft.com/office/drawing/2014/main" id="{C49B7019-A660-4B20-906E-D629FC10F854}"/>
              </a:ext>
            </a:extLst>
          </p:cNvPr>
          <p:cNvSpPr/>
          <p:nvPr userDrawn="1"/>
        </p:nvSpPr>
        <p:spPr bwMode="gray">
          <a:xfrm>
            <a:off x="-243540" y="4206391"/>
            <a:ext cx="135000" cy="135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9389" algn="l"/>
              </a:tabLst>
              <a:defRPr/>
            </a:pPr>
            <a:endParaRPr kumimoji="0" lang="en-US" sz="7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0" name="TextBox 54">
            <a:extLst>
              <a:ext uri="{FF2B5EF4-FFF2-40B4-BE49-F238E27FC236}">
                <a16:creationId xmlns:a16="http://schemas.microsoft.com/office/drawing/2014/main" id="{D091C4F6-D1AC-43B7-B422-654BA1679C32}"/>
              </a:ext>
            </a:extLst>
          </p:cNvPr>
          <p:cNvSpPr txBox="1"/>
          <p:nvPr userDrawn="1"/>
        </p:nvSpPr>
        <p:spPr>
          <a:xfrm>
            <a:off x="-647910" y="4206391"/>
            <a:ext cx="405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Grey 3</a:t>
            </a:r>
          </a:p>
        </p:txBody>
      </p:sp>
      <p:sp>
        <p:nvSpPr>
          <p:cNvPr id="41" name="Rectangle 60">
            <a:extLst>
              <a:ext uri="{FF2B5EF4-FFF2-40B4-BE49-F238E27FC236}">
                <a16:creationId xmlns:a16="http://schemas.microsoft.com/office/drawing/2014/main" id="{DE6B737B-200D-44DC-950E-DF7B3A020B5C}"/>
              </a:ext>
            </a:extLst>
          </p:cNvPr>
          <p:cNvSpPr/>
          <p:nvPr userDrawn="1"/>
        </p:nvSpPr>
        <p:spPr bwMode="gray">
          <a:xfrm>
            <a:off x="-243540" y="3887659"/>
            <a:ext cx="135000" cy="135000"/>
          </a:xfrm>
          <a:prstGeom prst="rect">
            <a:avLst/>
          </a:prstGeom>
          <a:solidFill>
            <a:srgbClr val="96968C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9389" algn="l"/>
              </a:tabLst>
              <a:defRPr/>
            </a:pPr>
            <a:endParaRPr kumimoji="0" lang="en-US" sz="7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2" name="TextBox 56">
            <a:extLst>
              <a:ext uri="{FF2B5EF4-FFF2-40B4-BE49-F238E27FC236}">
                <a16:creationId xmlns:a16="http://schemas.microsoft.com/office/drawing/2014/main" id="{5FC7FE5F-030B-466E-BF8C-5EAD8D6D9557}"/>
              </a:ext>
            </a:extLst>
          </p:cNvPr>
          <p:cNvSpPr txBox="1"/>
          <p:nvPr userDrawn="1"/>
        </p:nvSpPr>
        <p:spPr>
          <a:xfrm>
            <a:off x="-647910" y="3887659"/>
            <a:ext cx="405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Grey 1</a:t>
            </a:r>
          </a:p>
        </p:txBody>
      </p:sp>
      <p:sp>
        <p:nvSpPr>
          <p:cNvPr id="43" name="Rectangle 61">
            <a:extLst>
              <a:ext uri="{FF2B5EF4-FFF2-40B4-BE49-F238E27FC236}">
                <a16:creationId xmlns:a16="http://schemas.microsoft.com/office/drawing/2014/main" id="{E983DA1B-2E00-4ECE-8876-EF5C0B01CA13}"/>
              </a:ext>
            </a:extLst>
          </p:cNvPr>
          <p:cNvSpPr/>
          <p:nvPr userDrawn="1"/>
        </p:nvSpPr>
        <p:spPr bwMode="gray">
          <a:xfrm>
            <a:off x="-243663" y="4047025"/>
            <a:ext cx="135000" cy="135000"/>
          </a:xfrm>
          <a:prstGeom prst="rect">
            <a:avLst/>
          </a:prstGeom>
          <a:solidFill>
            <a:srgbClr val="E6E6DC"/>
          </a:solidFill>
          <a:ln w="6350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9389" algn="l"/>
              </a:tabLst>
              <a:defRPr/>
            </a:pPr>
            <a:endParaRPr kumimoji="0" lang="en-US" sz="73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44" name="TextBox 59">
            <a:extLst>
              <a:ext uri="{FF2B5EF4-FFF2-40B4-BE49-F238E27FC236}">
                <a16:creationId xmlns:a16="http://schemas.microsoft.com/office/drawing/2014/main" id="{3D49303F-4DD2-44AC-83F9-41375D864621}"/>
              </a:ext>
            </a:extLst>
          </p:cNvPr>
          <p:cNvSpPr txBox="1"/>
          <p:nvPr userDrawn="1"/>
        </p:nvSpPr>
        <p:spPr>
          <a:xfrm>
            <a:off x="-647910" y="4047025"/>
            <a:ext cx="405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Grey 2</a:t>
            </a:r>
          </a:p>
        </p:txBody>
      </p:sp>
      <p:sp>
        <p:nvSpPr>
          <p:cNvPr id="45" name="TextBox 73">
            <a:extLst>
              <a:ext uri="{FF2B5EF4-FFF2-40B4-BE49-F238E27FC236}">
                <a16:creationId xmlns:a16="http://schemas.microsoft.com/office/drawing/2014/main" id="{212372A9-BD2D-48C3-801D-82EF38D423BA}"/>
              </a:ext>
            </a:extLst>
          </p:cNvPr>
          <p:cNvSpPr txBox="1"/>
          <p:nvPr userDrawn="1"/>
        </p:nvSpPr>
        <p:spPr>
          <a:xfrm>
            <a:off x="315535" y="-174789"/>
            <a:ext cx="1403859" cy="95729"/>
          </a:xfrm>
          <a:prstGeom prst="rect">
            <a:avLst/>
          </a:prstGeom>
          <a:noFill/>
        </p:spPr>
        <p:txBody>
          <a:bodyPr wrap="square" lIns="66461" tIns="0" rIns="0" bIns="0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Begin Content Area</a:t>
            </a:r>
          </a:p>
        </p:txBody>
      </p:sp>
      <p:sp>
        <p:nvSpPr>
          <p:cNvPr id="46" name="TextBox 74">
            <a:extLst>
              <a:ext uri="{FF2B5EF4-FFF2-40B4-BE49-F238E27FC236}">
                <a16:creationId xmlns:a16="http://schemas.microsoft.com/office/drawing/2014/main" id="{A40A2785-F6E5-4102-B50C-9379EEC4A667}"/>
              </a:ext>
            </a:extLst>
          </p:cNvPr>
          <p:cNvSpPr txBox="1"/>
          <p:nvPr userDrawn="1"/>
        </p:nvSpPr>
        <p:spPr>
          <a:xfrm>
            <a:off x="7521731" y="-166674"/>
            <a:ext cx="1370452" cy="108000"/>
          </a:xfrm>
          <a:prstGeom prst="rect">
            <a:avLst/>
          </a:prstGeom>
          <a:noFill/>
        </p:spPr>
        <p:txBody>
          <a:bodyPr wrap="square" lIns="0" tIns="0" rIns="66461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End Content Area</a:t>
            </a:r>
          </a:p>
        </p:txBody>
      </p:sp>
      <p:sp>
        <p:nvSpPr>
          <p:cNvPr id="47" name="TextBox 75">
            <a:extLst>
              <a:ext uri="{FF2B5EF4-FFF2-40B4-BE49-F238E27FC236}">
                <a16:creationId xmlns:a16="http://schemas.microsoft.com/office/drawing/2014/main" id="{EAD8716C-FF3D-4B3C-AE09-B668EAD0E3DA}"/>
              </a:ext>
            </a:extLst>
          </p:cNvPr>
          <p:cNvSpPr txBox="1"/>
          <p:nvPr userDrawn="1"/>
        </p:nvSpPr>
        <p:spPr>
          <a:xfrm>
            <a:off x="4580404" y="-166674"/>
            <a:ext cx="1370452" cy="108000"/>
          </a:xfrm>
          <a:prstGeom prst="rect">
            <a:avLst/>
          </a:prstGeom>
          <a:noFill/>
        </p:spPr>
        <p:txBody>
          <a:bodyPr wrap="square" lIns="66461" tIns="0" rIns="0" bIns="0" rtlCol="0" anchor="ctr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Center Type Area</a:t>
            </a:r>
          </a:p>
        </p:txBody>
      </p:sp>
      <p:cxnSp>
        <p:nvCxnSpPr>
          <p:cNvPr id="48" name="Straight Connector 77">
            <a:extLst>
              <a:ext uri="{FF2B5EF4-FFF2-40B4-BE49-F238E27FC236}">
                <a16:creationId xmlns:a16="http://schemas.microsoft.com/office/drawing/2014/main" id="{F5067342-DAC4-45AB-9B35-7BBDA44E1A7C}"/>
              </a:ext>
            </a:extLst>
          </p:cNvPr>
          <p:cNvCxnSpPr>
            <a:cxnSpLocks/>
          </p:cNvCxnSpPr>
          <p:nvPr userDrawn="1"/>
        </p:nvCxnSpPr>
        <p:spPr>
          <a:xfrm flipV="1">
            <a:off x="4572000" y="-146561"/>
            <a:ext cx="0" cy="13500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76">
            <a:extLst>
              <a:ext uri="{FF2B5EF4-FFF2-40B4-BE49-F238E27FC236}">
                <a16:creationId xmlns:a16="http://schemas.microsoft.com/office/drawing/2014/main" id="{1721202A-D225-46BA-A581-EE3758FAF593}"/>
              </a:ext>
            </a:extLst>
          </p:cNvPr>
          <p:cNvCxnSpPr>
            <a:cxnSpLocks/>
          </p:cNvCxnSpPr>
          <p:nvPr userDrawn="1"/>
        </p:nvCxnSpPr>
        <p:spPr>
          <a:xfrm flipV="1">
            <a:off x="285750" y="-146561"/>
            <a:ext cx="0" cy="13500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70">
            <a:extLst>
              <a:ext uri="{FF2B5EF4-FFF2-40B4-BE49-F238E27FC236}">
                <a16:creationId xmlns:a16="http://schemas.microsoft.com/office/drawing/2014/main" id="{3B65EA9A-1C0C-4754-8423-9AB40802F9BB}"/>
              </a:ext>
            </a:extLst>
          </p:cNvPr>
          <p:cNvSpPr txBox="1"/>
          <p:nvPr userDrawn="1"/>
        </p:nvSpPr>
        <p:spPr>
          <a:xfrm>
            <a:off x="-1574910" y="763610"/>
            <a:ext cx="1332000" cy="108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Headline Line</a:t>
            </a:r>
          </a:p>
        </p:txBody>
      </p:sp>
      <p:cxnSp>
        <p:nvCxnSpPr>
          <p:cNvPr id="52" name="Straight Connector 71">
            <a:extLst>
              <a:ext uri="{FF2B5EF4-FFF2-40B4-BE49-F238E27FC236}">
                <a16:creationId xmlns:a16="http://schemas.microsoft.com/office/drawing/2014/main" id="{ABC7E73C-8028-4C63-B187-F1D1D2906A36}"/>
              </a:ext>
            </a:extLst>
          </p:cNvPr>
          <p:cNvCxnSpPr/>
          <p:nvPr userDrawn="1"/>
        </p:nvCxnSpPr>
        <p:spPr>
          <a:xfrm>
            <a:off x="-204720" y="4839893"/>
            <a:ext cx="137160" cy="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41">
            <a:extLst>
              <a:ext uri="{FF2B5EF4-FFF2-40B4-BE49-F238E27FC236}">
                <a16:creationId xmlns:a16="http://schemas.microsoft.com/office/drawing/2014/main" id="{CF534E76-33C6-447D-8424-22CBE9F88928}"/>
              </a:ext>
            </a:extLst>
          </p:cNvPr>
          <p:cNvCxnSpPr/>
          <p:nvPr userDrawn="1"/>
        </p:nvCxnSpPr>
        <p:spPr>
          <a:xfrm>
            <a:off x="-189480" y="815720"/>
            <a:ext cx="137160" cy="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54">
            <a:extLst>
              <a:ext uri="{FF2B5EF4-FFF2-40B4-BE49-F238E27FC236}">
                <a16:creationId xmlns:a16="http://schemas.microsoft.com/office/drawing/2014/main" id="{6CCAA815-27D9-4460-A77D-610A60C14775}"/>
              </a:ext>
            </a:extLst>
          </p:cNvPr>
          <p:cNvSpPr txBox="1">
            <a:spLocks/>
          </p:cNvSpPr>
          <p:nvPr userDrawn="1"/>
        </p:nvSpPr>
        <p:spPr>
          <a:xfrm>
            <a:off x="-944910" y="3307082"/>
            <a:ext cx="70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5</a:t>
            </a:r>
          </a:p>
        </p:txBody>
      </p:sp>
      <p:sp>
        <p:nvSpPr>
          <p:cNvPr id="76" name="Rectangle 55">
            <a:extLst>
              <a:ext uri="{FF2B5EF4-FFF2-40B4-BE49-F238E27FC236}">
                <a16:creationId xmlns:a16="http://schemas.microsoft.com/office/drawing/2014/main" id="{79F9B763-F9B7-4EB5-8C66-61103B4F3C5A}"/>
              </a:ext>
            </a:extLst>
          </p:cNvPr>
          <p:cNvSpPr/>
          <p:nvPr userDrawn="1"/>
        </p:nvSpPr>
        <p:spPr bwMode="gray">
          <a:xfrm>
            <a:off x="-243663" y="3307084"/>
            <a:ext cx="135000" cy="135000"/>
          </a:xfrm>
          <a:prstGeom prst="rect">
            <a:avLst/>
          </a:prstGeom>
          <a:solidFill>
            <a:srgbClr val="E6DCFF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77" name="Rectangle 58">
            <a:extLst>
              <a:ext uri="{FF2B5EF4-FFF2-40B4-BE49-F238E27FC236}">
                <a16:creationId xmlns:a16="http://schemas.microsoft.com/office/drawing/2014/main" id="{7DC62BEE-1EBA-400C-AAB8-AFC0C6A94B7C}"/>
              </a:ext>
            </a:extLst>
          </p:cNvPr>
          <p:cNvSpPr/>
          <p:nvPr userDrawn="1"/>
        </p:nvSpPr>
        <p:spPr bwMode="gray">
          <a:xfrm>
            <a:off x="-243663" y="3143276"/>
            <a:ext cx="135000" cy="135000"/>
          </a:xfrm>
          <a:prstGeom prst="rect">
            <a:avLst/>
          </a:prstGeom>
          <a:solidFill>
            <a:srgbClr val="DCAFFF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78" name="TextBox 59">
            <a:extLst>
              <a:ext uri="{FF2B5EF4-FFF2-40B4-BE49-F238E27FC236}">
                <a16:creationId xmlns:a16="http://schemas.microsoft.com/office/drawing/2014/main" id="{C1BC6C5F-EAEC-4F76-9561-5411D3DAAA24}"/>
              </a:ext>
            </a:extLst>
          </p:cNvPr>
          <p:cNvSpPr txBox="1">
            <a:spLocks/>
          </p:cNvSpPr>
          <p:nvPr userDrawn="1"/>
        </p:nvSpPr>
        <p:spPr>
          <a:xfrm>
            <a:off x="-944910" y="3143276"/>
            <a:ext cx="702000" cy="135000"/>
          </a:xfrm>
          <a:prstGeom prst="rect">
            <a:avLst/>
          </a:prstGeom>
          <a:noFill/>
        </p:spPr>
        <p:txBody>
          <a:bodyPr wrap="square" lIns="0" tIns="0" rIns="99692" bIns="0" rtlCol="0" anchor="ctr">
            <a:no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Accent 4</a:t>
            </a:r>
          </a:p>
        </p:txBody>
      </p:sp>
      <p:cxnSp>
        <p:nvCxnSpPr>
          <p:cNvPr id="79" name="Straight Connector 77">
            <a:extLst>
              <a:ext uri="{FF2B5EF4-FFF2-40B4-BE49-F238E27FC236}">
                <a16:creationId xmlns:a16="http://schemas.microsoft.com/office/drawing/2014/main" id="{5BC861BD-FBB5-4583-86D2-62624DFB0584}"/>
              </a:ext>
            </a:extLst>
          </p:cNvPr>
          <p:cNvCxnSpPr>
            <a:cxnSpLocks/>
          </p:cNvCxnSpPr>
          <p:nvPr userDrawn="1"/>
        </p:nvCxnSpPr>
        <p:spPr>
          <a:xfrm flipV="1">
            <a:off x="8855963" y="-146561"/>
            <a:ext cx="0" cy="135000"/>
          </a:xfrm>
          <a:prstGeom prst="line">
            <a:avLst/>
          </a:prstGeom>
          <a:ln w="3175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D91EC7-E783-B4F4-9D22-B78A47FD900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008438" y="63500"/>
            <a:ext cx="1155700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***Confidential***</a:t>
            </a:r>
          </a:p>
        </p:txBody>
      </p:sp>
    </p:spTree>
    <p:extLst>
      <p:ext uri="{BB962C8B-B14F-4D97-AF65-F5344CB8AC3E}">
        <p14:creationId xmlns:p14="http://schemas.microsoft.com/office/powerpoint/2010/main" val="2485172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hdr="0" ftr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sz="22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7145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35000" indent="-135000" algn="l" defTabSz="17145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ClrTx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270000" indent="-135000" algn="l" defTabSz="17145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System Font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405000" indent="-135000" algn="l" defTabSz="17145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35000" algn="l" defTabSz="17145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System Font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8335" indent="0" algn="l" defTabSz="17145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7145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7145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75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71450" rtl="0" eaLnBrk="1" latinLnBrk="0" hangingPunct="1">
        <a:lnSpc>
          <a:spcPct val="9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2" orient="horz" pos="3952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  <p15:guide id="5" orient="horz" pos="4065">
          <p15:clr>
            <a:srgbClr val="F26B43"/>
          </p15:clr>
        </p15:guide>
        <p15:guide id="6" orient="horz" pos="1049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867">
          <p15:clr>
            <a:srgbClr val="F26B43"/>
          </p15:clr>
        </p15:guide>
        <p15:guide id="9" orient="horz" pos="686">
          <p15:clr>
            <a:srgbClr val="F26B43"/>
          </p15:clr>
        </p15:guide>
        <p15:guide id="10" pos="3885">
          <p15:clr>
            <a:srgbClr val="F26B43"/>
          </p15:clr>
        </p15:guide>
        <p15:guide id="11" pos="37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s.accenture.com/:u:/s/GNTSACampusRecruitment-FY25/IQAZB8DMYBhmRZ5gVh-Ej9bmARUEraGeZv1HPcy6ER-jhLo?e=4HaEpj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6B275-CA9B-2D4D-8FB6-E9292F652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7C8C4B6-F50A-4826-1007-19937DE81056}"/>
              </a:ext>
            </a:extLst>
          </p:cNvPr>
          <p:cNvSpPr/>
          <p:nvPr/>
        </p:nvSpPr>
        <p:spPr>
          <a:xfrm rot="16200000">
            <a:off x="3873203" y="-3587455"/>
            <a:ext cx="1397595" cy="9144005"/>
          </a:xfrm>
          <a:prstGeom prst="rect">
            <a:avLst/>
          </a:prstGeom>
          <a:solidFill>
            <a:srgbClr val="58009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srgbClr val="FFFFFF"/>
              </a:solidFill>
              <a:latin typeface="Graphik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2CC575-8511-CCBC-6AF4-95B492836C10}"/>
              </a:ext>
            </a:extLst>
          </p:cNvPr>
          <p:cNvSpPr/>
          <p:nvPr/>
        </p:nvSpPr>
        <p:spPr>
          <a:xfrm>
            <a:off x="-2" y="5064174"/>
            <a:ext cx="9144000" cy="82899"/>
          </a:xfrm>
          <a:prstGeom prst="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85000">
                <a:srgbClr val="002060"/>
              </a:gs>
              <a:gs pos="100000">
                <a:srgbClr val="7030A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n-US" sz="1350">
              <a:solidFill>
                <a:srgbClr val="FFFFFF"/>
              </a:solidFill>
              <a:latin typeface="Graphik"/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45953D25-BE93-8BF9-2C85-C6958D769525}"/>
              </a:ext>
            </a:extLst>
          </p:cNvPr>
          <p:cNvSpPr/>
          <p:nvPr/>
        </p:nvSpPr>
        <p:spPr>
          <a:xfrm>
            <a:off x="904752" y="404758"/>
            <a:ext cx="737811" cy="741185"/>
          </a:xfrm>
          <a:prstGeom prst="flowChartConnector">
            <a:avLst/>
          </a:prstGeom>
          <a:solidFill>
            <a:schemeClr val="tx2">
              <a:lumMod val="60000"/>
              <a:lumOff val="40000"/>
            </a:schemeClr>
          </a:solidFill>
          <a:ln w="889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r>
              <a:rPr lang="en-US" sz="750" b="1">
                <a:solidFill>
                  <a:prstClr val="black"/>
                </a:solidFill>
                <a:latin typeface="Graphik"/>
              </a:rPr>
              <a:t>PHOTO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7E352978-BDC3-484B-2A71-021CBD9F87FA}"/>
              </a:ext>
            </a:extLst>
          </p:cNvPr>
          <p:cNvSpPr txBox="1">
            <a:spLocks/>
          </p:cNvSpPr>
          <p:nvPr/>
        </p:nvSpPr>
        <p:spPr>
          <a:xfrm>
            <a:off x="228598" y="1735972"/>
            <a:ext cx="8701220" cy="1271723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68580" tIns="34290" rIns="68580" bIns="34290" rtlCol="0">
            <a:noAutofit/>
          </a:bodyPr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>
                <a:solidFill>
                  <a:srgbClr val="7030A0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algn="just" defTabSz="685800">
              <a:spcBef>
                <a:spcPts val="0"/>
              </a:spcBef>
            </a:pPr>
            <a:r>
              <a:rPr lang="en-US" sz="750" dirty="0">
                <a:solidFill>
                  <a:srgbClr val="460073"/>
                </a:solidFill>
                <a:latin typeface="Graphik"/>
              </a:rPr>
              <a:t>Worked On:</a:t>
            </a:r>
            <a:r>
              <a:rPr lang="en-US" sz="750" dirty="0">
                <a:latin typeface="Graphik"/>
              </a:rPr>
              <a:t>  </a:t>
            </a:r>
            <a:r>
              <a:rPr lang="en-US" sz="750" dirty="0">
                <a:solidFill>
                  <a:sysClr val="windowText" lastClr="000000"/>
                </a:solidFill>
                <a:latin typeface="Graphik"/>
              </a:rPr>
              <a:t>Project Name: Agentic AI PDLC Transformation | Role:  AI Strategy Practitioner | Manager E.ID: </a:t>
            </a:r>
            <a:r>
              <a:rPr lang="en-US" sz="750" dirty="0" err="1">
                <a:solidFill>
                  <a:sysClr val="windowText" lastClr="000000"/>
                </a:solidFill>
                <a:latin typeface="Graphik"/>
              </a:rPr>
              <a:t>pulkit.j.jain</a:t>
            </a:r>
            <a:endParaRPr lang="en-US" sz="750" dirty="0">
              <a:solidFill>
                <a:sysClr val="windowText" lastClr="000000"/>
              </a:solidFill>
              <a:latin typeface="Graphik"/>
            </a:endParaRP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113"/>
              </a:spcAft>
            </a:pPr>
            <a:r>
              <a:rPr lang="en-US" sz="750" dirty="0">
                <a:solidFill>
                  <a:srgbClr val="000000"/>
                </a:solidFill>
                <a:latin typeface="Graphik"/>
              </a:rPr>
              <a:t>Mapped pain points across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5 archetypes &amp; 9 lifecycle stages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by attending discovery workshops, preparing questions through research &amp; contributing to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cross-archetype heatmap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113"/>
              </a:spcAft>
            </a:pPr>
            <a:r>
              <a:rPr lang="en-US" sz="750" dirty="0">
                <a:solidFill>
                  <a:srgbClr val="000000"/>
                </a:solidFill>
                <a:latin typeface="Graphik"/>
              </a:rPr>
              <a:t>Built archetype-wise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process summaries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with current-state assessments, alongside a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differentiation matrix isolating shared vs. unique friction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across tools, roles &amp; handoffs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113"/>
              </a:spcAft>
            </a:pPr>
            <a:r>
              <a:rPr lang="en-US" sz="750" dirty="0">
                <a:solidFill>
                  <a:srgbClr val="000000"/>
                </a:solidFill>
                <a:latin typeface="Graphik"/>
              </a:rPr>
              <a:t>Identified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archetype-specific AI opportunities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across stages by synthesizing workshop findings, Gartner, KX client stories &amp; defined recurring cross-archetype intervention themes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113"/>
              </a:spcAft>
            </a:pPr>
            <a:r>
              <a:rPr lang="en-US" sz="750" dirty="0">
                <a:solidFill>
                  <a:srgbClr val="000000"/>
                </a:solidFill>
                <a:latin typeface="Graphik"/>
              </a:rPr>
              <a:t>Prioritized</a:t>
            </a:r>
            <a:r>
              <a:rPr lang="en-US" sz="750" b="1" dirty="0">
                <a:solidFill>
                  <a:srgbClr val="460073"/>
                </a:solidFill>
                <a:latin typeface="Graphik"/>
              </a:rPr>
              <a:t>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3 PoC candidates by value, feasibility and tooling constraints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from a broader set &amp; created the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Agentic Periodic Table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mapping finalized &amp; potential AI agents across PDLC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113"/>
              </a:spcAft>
            </a:pPr>
            <a:r>
              <a:rPr lang="en-US" sz="750" dirty="0">
                <a:solidFill>
                  <a:srgbClr val="000000"/>
                </a:solidFill>
                <a:latin typeface="Graphik"/>
              </a:rPr>
              <a:t>Shaped PoC scope, positioning narratives, &amp; solution approach for all 3 pilots,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co-defined agent architectures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with build paths &amp; HITL controls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in coordination with the dev team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113"/>
              </a:spcAft>
            </a:pPr>
            <a:r>
              <a:rPr lang="en-US" sz="750" dirty="0">
                <a:solidFill>
                  <a:srgbClr val="000000"/>
                </a:solidFill>
                <a:latin typeface="Graphik"/>
              </a:rPr>
              <a:t>Researched</a:t>
            </a:r>
            <a:r>
              <a:rPr lang="en-US" sz="750" b="1" dirty="0">
                <a:solidFill>
                  <a:srgbClr val="460073"/>
                </a:solidFill>
                <a:latin typeface="Graphik"/>
              </a:rPr>
              <a:t>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industry best practices &amp; non-PoC AI accelerators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across PDLC stages using Gartner frameworks &amp; KX stories to inform the broader transformation strategy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113"/>
              </a:spcAft>
            </a:pPr>
            <a:r>
              <a:rPr lang="en-US" sz="750" dirty="0">
                <a:solidFill>
                  <a:srgbClr val="000000"/>
                </a:solidFill>
                <a:latin typeface="Graphik"/>
              </a:rPr>
              <a:t>Built</a:t>
            </a:r>
            <a:r>
              <a:rPr lang="en-US" sz="750" b="1" dirty="0">
                <a:solidFill>
                  <a:srgbClr val="460073"/>
                </a:solidFill>
                <a:latin typeface="Graphik"/>
              </a:rPr>
              <a:t>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PDLC metrics framework 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(40 metrics) mapped to lifecycle stages &amp; PoCs, structured across current-state process health, PoC-impact tracking, &amp; agentic end-state outcome layers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113"/>
              </a:spcAft>
            </a:pPr>
            <a:r>
              <a:rPr lang="en-US" sz="750" dirty="0">
                <a:solidFill>
                  <a:srgbClr val="000000"/>
                </a:solidFill>
                <a:latin typeface="Graphik"/>
              </a:rPr>
              <a:t>Designed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baseline measurement protocols with computation logic &amp; survey instruments</a:t>
            </a:r>
            <a:r>
              <a:rPr lang="en-US" sz="750" dirty="0">
                <a:solidFill>
                  <a:srgbClr val="000000"/>
                </a:solidFill>
                <a:latin typeface="Graphik"/>
              </a:rPr>
              <a:t>, defined industry-standard baseline values &amp; target-state benchmarks per metric</a:t>
            </a:r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BB5ED74E-7EFB-9BF0-A88A-65A2ED911E21}"/>
              </a:ext>
            </a:extLst>
          </p:cNvPr>
          <p:cNvSpPr txBox="1">
            <a:spLocks/>
          </p:cNvSpPr>
          <p:nvPr/>
        </p:nvSpPr>
        <p:spPr>
          <a:xfrm>
            <a:off x="4641370" y="3046625"/>
            <a:ext cx="4288448" cy="181112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0"/>
              </a:spcBef>
              <a:buNone/>
            </a:pPr>
            <a:r>
              <a:rPr lang="en-US" sz="788" b="1" dirty="0">
                <a:solidFill>
                  <a:srgbClr val="460073"/>
                </a:solidFill>
                <a:latin typeface="Graphik"/>
                <a:cs typeface="Arial" panose="020B0604020202020204" pitchFamily="34" charset="0"/>
              </a:rPr>
              <a:t>Skill Development: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Accenture Internal AI &amp; Productivity Tools</a:t>
            </a:r>
            <a:r>
              <a:rPr lang="en-US" sz="75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: Completed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Agentic AI TQ</a:t>
            </a:r>
            <a:r>
              <a:rPr lang="en-US" sz="75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, explored Copilot, Amethyst, TeSA, Case Study Navigator and QPT. Built working knowledge of Accenture's AI capabilities and internal tooling. TeSA helped navigate resources (Udacity, AI Refinery) and align with nomenclature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Anthropic Claude Courses (6 completed via Workday)</a:t>
            </a:r>
            <a:r>
              <a:rPr lang="en-US" sz="75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: Claude 101, Driving Enterprise Adoption, Agent Skills, Cowork, MCP, Subagents. Learnt Claude's entire ecosystem helping me ensure that team's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PoC recommendations &amp; Agent Architecture in PDLC track remained grounded and feasible to implement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Claude Certified Architect, Foundations (WIP): </a:t>
            </a:r>
            <a:r>
              <a:rPr lang="en-US" sz="75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Pursuing to deepen understanding of cost-efficient agent design. Applied to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scoping agent components, cost-quality tradeoffs </a:t>
            </a:r>
            <a:r>
              <a:rPr lang="en-US" sz="75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&amp; identifying where Agents can add value in client ecosystem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ARC/myResearch (Gartner)</a:t>
            </a:r>
            <a:r>
              <a:rPr lang="en-US" sz="75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: Extensively reviewed KX client stories on agentic AI transformation. Applied directly to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PoC ideation</a:t>
            </a:r>
            <a:r>
              <a:rPr lang="en-US" sz="75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, best AI practices, metrics definition and </a:t>
            </a:r>
            <a:r>
              <a:rPr lang="en-US" sz="75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industry-standard benchmarking</a:t>
            </a:r>
            <a:r>
              <a:rPr lang="en-US" sz="75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 across 40 PDLC metrics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F6F6115-FA09-AC2C-6DBC-3D27759C970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3998" cy="284257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spcBef>
                <a:spcPts val="750"/>
              </a:spcBef>
            </a:pPr>
            <a:r>
              <a:rPr lang="en-US" sz="1350" b="1" dirty="0">
                <a:solidFill>
                  <a:srgbClr val="460073"/>
                </a:solidFill>
                <a:latin typeface="Graphik"/>
              </a:rPr>
              <a:t>FY26 TS&amp;T Internship - Performance Overview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39623382-A3C8-A582-8084-2F300554F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1725" y="404758"/>
            <a:ext cx="6565798" cy="1159580"/>
          </a:xfrm>
          <a:solidFill>
            <a:schemeClr val="bg1"/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pPr>
              <a:spcBef>
                <a:spcPts val="450"/>
              </a:spcBef>
            </a:pPr>
            <a:r>
              <a:rPr lang="en-US" sz="825" b="1" dirty="0">
                <a:solidFill>
                  <a:srgbClr val="7030A0"/>
                </a:solidFill>
                <a:cs typeface="Arial" panose="020B0604020202020204" pitchFamily="34" charset="0"/>
              </a:rPr>
              <a:t> Overview Summary</a:t>
            </a:r>
            <a:r>
              <a:rPr lang="en-US" sz="825" b="1" dirty="0">
                <a:cs typeface="Arial" panose="020B0604020202020204" pitchFamily="34" charset="0"/>
              </a:rPr>
              <a:t>: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83F618-3236-53B5-0B95-BBD82662F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2854" y="1198569"/>
            <a:ext cx="2171722" cy="350106"/>
          </a:xfrm>
          <a:solidFill>
            <a:schemeClr val="bg1"/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n-US" sz="788" b="1" dirty="0"/>
              <a:t>Name: Himanshu </a:t>
            </a:r>
            <a:br>
              <a:rPr lang="en-US" sz="788" b="1" dirty="0"/>
            </a:br>
            <a:r>
              <a:rPr lang="en-US" sz="675" dirty="0"/>
              <a:t>Institute: IIM Bangalore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EFEDCFB-E2F0-6E60-836E-65346A00B497}"/>
              </a:ext>
            </a:extLst>
          </p:cNvPr>
          <p:cNvSpPr txBox="1">
            <a:spLocks/>
          </p:cNvSpPr>
          <p:nvPr/>
        </p:nvSpPr>
        <p:spPr>
          <a:xfrm>
            <a:off x="228599" y="3047744"/>
            <a:ext cx="4338214" cy="952591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68580" tIns="34290" rIns="68580" bIns="3429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750"/>
              </a:spcBef>
              <a:buNone/>
            </a:pPr>
            <a:r>
              <a:rPr lang="en-US" sz="788" b="1" dirty="0">
                <a:solidFill>
                  <a:srgbClr val="460073"/>
                </a:solidFill>
                <a:latin typeface="Graphik"/>
                <a:cs typeface="Arial" panose="020B0604020202020204" pitchFamily="34" charset="0"/>
              </a:rPr>
              <a:t>Contribution Agent Creation : </a:t>
            </a:r>
            <a:r>
              <a:rPr lang="en-US" sz="788" b="1" i="1" dirty="0">
                <a:solidFill>
                  <a:srgbClr val="460073"/>
                </a:solidFill>
                <a:latin typeface="Graphik"/>
                <a:cs typeface="Arial" panose="020B0604020202020204" pitchFamily="34" charset="0"/>
              </a:rPr>
              <a:t>RCA Compression Agent (</a:t>
            </a:r>
            <a:r>
              <a:rPr lang="en-US" sz="788" b="1" i="1" dirty="0">
                <a:solidFill>
                  <a:srgbClr val="460073"/>
                </a:solidFill>
                <a:latin typeface="Graphik"/>
                <a:cs typeface="Arial" panose="020B0604020202020204" pitchFamily="34" charset="0"/>
                <a:hlinkClick r:id="rId3"/>
              </a:rPr>
              <a:t>Repo Link</a:t>
            </a:r>
            <a:r>
              <a:rPr lang="en-US" sz="788" b="1" i="1" dirty="0">
                <a:solidFill>
                  <a:srgbClr val="460073"/>
                </a:solidFill>
                <a:latin typeface="Graphik"/>
                <a:cs typeface="Arial" panose="020B0604020202020204" pitchFamily="34" charset="0"/>
              </a:rPr>
              <a:t>)</a:t>
            </a:r>
            <a:endParaRPr lang="en-US" sz="788" i="1" dirty="0">
              <a:solidFill>
                <a:srgbClr val="460073"/>
              </a:solidFill>
              <a:latin typeface="Graphik"/>
              <a:cs typeface="Arial" panose="020B0604020202020204" pitchFamily="34" charset="0"/>
            </a:endParaRP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75"/>
              </a:spcAft>
              <a:buFont typeface="Wingdings" panose="05000000000000000000" pitchFamily="2" charset="2"/>
              <a:buChar char="§"/>
            </a:pPr>
            <a:r>
              <a:rPr lang="en-US" sz="8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~85% Effort Reduction per Bug</a:t>
            </a:r>
            <a:r>
              <a:rPr lang="en-US" sz="8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: Compresses a 30–60 min senior-engineer investigation into a 3–8 min agent run. Savings scale with adoption, per-run cost stays bounded.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75"/>
              </a:spcAft>
              <a:buFont typeface="Wingdings" panose="05000000000000000000" pitchFamily="2" charset="2"/>
              <a:buChar char="§"/>
            </a:pPr>
            <a:r>
              <a:rPr lang="en-US" sz="8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5-Stage Context-Funnel Pipeline</a:t>
            </a:r>
            <a:r>
              <a:rPr lang="en-US" sz="8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: Briefing, Investigate, Diagnose, Solve, Validate. </a:t>
            </a:r>
            <a:r>
              <a:rPr lang="en-US" sz="800" i="1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Each agent sees only the prior stage's output</a:t>
            </a:r>
            <a:r>
              <a:rPr lang="en-US" sz="8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, keeping reasoning focused and traceable.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75"/>
              </a:spcAft>
              <a:buFont typeface="Wingdings" panose="05000000000000000000" pitchFamily="2" charset="2"/>
              <a:buChar char="§"/>
            </a:pPr>
            <a:r>
              <a:rPr lang="en-US" sz="8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Self-Verifying Fix</a:t>
            </a:r>
            <a:r>
              <a:rPr lang="en-US" sz="8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: Applies the patch in sandbox env &amp; runs the project's own test suite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75"/>
              </a:spcBef>
              <a:spcAft>
                <a:spcPts val="75"/>
              </a:spcAft>
              <a:buFont typeface="Wingdings" panose="05000000000000000000" pitchFamily="2" charset="2"/>
              <a:buChar char="§"/>
            </a:pPr>
            <a:r>
              <a:rPr lang="en-US" sz="8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Production-Grade Architecture</a:t>
            </a:r>
            <a:r>
              <a:rPr lang="en-US" sz="8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: Schema-enforced agent contracts, per-agent tool limits, confidence-gated outputs, fully reproducible runs with audit logs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DBB46E-E851-7BB9-411E-A75EEE53A16A}"/>
              </a:ext>
            </a:extLst>
          </p:cNvPr>
          <p:cNvSpPr txBox="1"/>
          <p:nvPr/>
        </p:nvSpPr>
        <p:spPr>
          <a:xfrm>
            <a:off x="2487628" y="772493"/>
            <a:ext cx="3109961" cy="6879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37160" lvl="1" indent="-137160" defTabSz="685800">
              <a:buFont typeface="Wingdings" panose="05000000000000000000" pitchFamily="2" charset="2"/>
              <a:buChar char="§"/>
            </a:pPr>
            <a:r>
              <a:rPr lang="en-US" sz="675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Completed assigned tasks and deliverables on time with expected quality.</a:t>
            </a:r>
          </a:p>
          <a:p>
            <a:pPr marL="137160" lvl="1" indent="-137160" defTabSz="685800">
              <a:buFont typeface="Wingdings" panose="05000000000000000000" pitchFamily="2" charset="2"/>
              <a:buChar char="§"/>
            </a:pPr>
            <a:r>
              <a:rPr lang="en-US" sz="675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Learned and applied new skills, tools, or domain knowledge during the internship.</a:t>
            </a:r>
          </a:p>
          <a:p>
            <a:pPr marL="137160" lvl="1" indent="-137160" defTabSz="685800">
              <a:buFont typeface="Wingdings" panose="05000000000000000000" pitchFamily="2" charset="2"/>
              <a:buChar char="§"/>
            </a:pPr>
            <a:r>
              <a:rPr lang="en-US" sz="675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Collaborated effectively with the team and incorporated feedback into work</a:t>
            </a:r>
          </a:p>
          <a:p>
            <a:pPr defTabSz="685800">
              <a:lnSpc>
                <a:spcPct val="90000"/>
              </a:lnSpc>
              <a:spcBef>
                <a:spcPts val="750"/>
              </a:spcBef>
              <a:spcAft>
                <a:spcPts val="900"/>
              </a:spcAft>
            </a:pPr>
            <a:endParaRPr lang="en-US" sz="600" dirty="0">
              <a:solidFill>
                <a:srgbClr val="0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2DC39C-DE3A-DDFE-D46D-F573605EE9B3}"/>
              </a:ext>
            </a:extLst>
          </p:cNvPr>
          <p:cNvSpPr/>
          <p:nvPr/>
        </p:nvSpPr>
        <p:spPr>
          <a:xfrm>
            <a:off x="2430374" y="580702"/>
            <a:ext cx="3224301" cy="918501"/>
          </a:xfrm>
          <a:prstGeom prst="rect">
            <a:avLst/>
          </a:prstGeom>
          <a:noFill/>
          <a:ln>
            <a:solidFill>
              <a:srgbClr val="460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8580" bIns="68580" rtlCol="0" anchor="ctr"/>
          <a:lstStyle/>
          <a:p>
            <a:pPr algn="ctr" defTabSz="685800"/>
            <a:endParaRPr lang="en-US" sz="1350" err="1">
              <a:solidFill>
                <a:srgbClr val="FFFFFF"/>
              </a:solidFill>
              <a:latin typeface="Graphik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DE27B4-50EC-89C6-1538-8ABFB172FB2B}"/>
              </a:ext>
            </a:extLst>
          </p:cNvPr>
          <p:cNvSpPr txBox="1"/>
          <p:nvPr/>
        </p:nvSpPr>
        <p:spPr>
          <a:xfrm>
            <a:off x="2512957" y="632969"/>
            <a:ext cx="2935187" cy="22195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85800">
              <a:spcBef>
                <a:spcPts val="750"/>
              </a:spcBef>
              <a:spcAft>
                <a:spcPts val="900"/>
              </a:spcAft>
            </a:pPr>
            <a:r>
              <a:rPr lang="en-US" sz="750" b="1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Achievement: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1B3E12-98FA-9E00-83A0-9523086A4751}"/>
              </a:ext>
            </a:extLst>
          </p:cNvPr>
          <p:cNvSpPr txBox="1"/>
          <p:nvPr/>
        </p:nvSpPr>
        <p:spPr>
          <a:xfrm>
            <a:off x="5861323" y="772493"/>
            <a:ext cx="2935187" cy="6879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37160" lvl="1" indent="-137160" defTabSz="685800">
              <a:buFont typeface="Wingdings" panose="05000000000000000000" pitchFamily="2" charset="2"/>
              <a:buChar char="§"/>
            </a:pPr>
            <a:r>
              <a:rPr lang="en-US" sz="675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Build deeper technical/functional understanding to work more independently.</a:t>
            </a:r>
          </a:p>
          <a:p>
            <a:pPr marL="137160" lvl="1" indent="-137160" defTabSz="685800">
              <a:buFont typeface="Wingdings" panose="05000000000000000000" pitchFamily="2" charset="2"/>
              <a:buChar char="§"/>
            </a:pPr>
            <a:r>
              <a:rPr lang="en-US" sz="675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Improve clarity and structure in communication and status updates.</a:t>
            </a:r>
          </a:p>
          <a:p>
            <a:pPr marL="137160" lvl="1" indent="-137160" defTabSz="685800">
              <a:buFont typeface="Wingdings" panose="05000000000000000000" pitchFamily="2" charset="2"/>
              <a:buChar char="§"/>
            </a:pPr>
            <a:r>
              <a:rPr lang="en-US" sz="675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Strengthen time management and prioritization across multiple tasks.</a:t>
            </a:r>
          </a:p>
          <a:p>
            <a:pPr defTabSz="685800">
              <a:lnSpc>
                <a:spcPct val="90000"/>
              </a:lnSpc>
              <a:spcBef>
                <a:spcPts val="750"/>
              </a:spcBef>
              <a:spcAft>
                <a:spcPts val="900"/>
              </a:spcAft>
            </a:pPr>
            <a:endParaRPr lang="en-US" sz="600" dirty="0">
              <a:solidFill>
                <a:srgbClr val="000000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D4E90-0A05-C330-D3CF-7B85828C670D}"/>
              </a:ext>
            </a:extLst>
          </p:cNvPr>
          <p:cNvSpPr/>
          <p:nvPr/>
        </p:nvSpPr>
        <p:spPr>
          <a:xfrm>
            <a:off x="5804069" y="580702"/>
            <a:ext cx="3043101" cy="918501"/>
          </a:xfrm>
          <a:prstGeom prst="rect">
            <a:avLst/>
          </a:prstGeom>
          <a:noFill/>
          <a:ln>
            <a:solidFill>
              <a:srgbClr val="4600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68580" bIns="68580" rtlCol="0" anchor="ctr"/>
          <a:lstStyle/>
          <a:p>
            <a:pPr algn="ctr" defTabSz="685800"/>
            <a:endParaRPr lang="en-US" sz="1350" err="1">
              <a:solidFill>
                <a:srgbClr val="FFFFFF"/>
              </a:solidFill>
              <a:latin typeface="Graphik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90AC31-5E1E-69FC-C023-3AA9053DCA6C}"/>
              </a:ext>
            </a:extLst>
          </p:cNvPr>
          <p:cNvSpPr txBox="1"/>
          <p:nvPr/>
        </p:nvSpPr>
        <p:spPr>
          <a:xfrm>
            <a:off x="5886652" y="632969"/>
            <a:ext cx="2935187" cy="1007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85800">
              <a:spcBef>
                <a:spcPts val="750"/>
              </a:spcBef>
              <a:spcAft>
                <a:spcPts val="900"/>
              </a:spcAft>
            </a:pPr>
            <a:r>
              <a:rPr lang="en-US" sz="750" b="1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Scope of Improvement: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5F3BD2-E27F-190C-31DE-FDD68A645522}"/>
              </a:ext>
            </a:extLst>
          </p:cNvPr>
          <p:cNvSpPr txBox="1">
            <a:spLocks/>
          </p:cNvSpPr>
          <p:nvPr/>
        </p:nvSpPr>
        <p:spPr>
          <a:xfrm>
            <a:off x="233786" y="4038149"/>
            <a:ext cx="4338213" cy="81960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85800">
              <a:spcBef>
                <a:spcPts val="0"/>
              </a:spcBef>
              <a:buNone/>
            </a:pPr>
            <a:r>
              <a:rPr lang="en-US" sz="700" b="1" dirty="0">
                <a:solidFill>
                  <a:srgbClr val="460073"/>
                </a:solidFill>
                <a:latin typeface="Graphik"/>
                <a:cs typeface="Arial" panose="020B0604020202020204" pitchFamily="34" charset="0"/>
              </a:rPr>
              <a:t>Additional Contribution </a:t>
            </a:r>
            <a:r>
              <a:rPr lang="en-US" sz="700" b="1" dirty="0">
                <a:solidFill>
                  <a:srgbClr val="460073"/>
                </a:solidFill>
                <a:latin typeface="Graphik"/>
              </a:rPr>
              <a:t>Beyond Project Scope (Optional</a:t>
            </a:r>
            <a:r>
              <a:rPr lang="en-US" sz="700" b="1" dirty="0">
                <a:solidFill>
                  <a:srgbClr val="460073"/>
                </a:solidFill>
                <a:latin typeface="Graphik"/>
                <a:cs typeface="Arial" panose="020B0604020202020204" pitchFamily="34" charset="0"/>
              </a:rPr>
              <a:t>):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7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Document Sensitivity Classifier Agent: </a:t>
            </a:r>
            <a:r>
              <a:rPr lang="en-US" sz="7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Designed &amp; built an agent with permission guardrails &amp; sharing logic that </a:t>
            </a:r>
            <a:r>
              <a:rPr lang="en-US" sz="7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classifies documents and recommends access controls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7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(CGS)AI Tool Landscape: </a:t>
            </a:r>
            <a:r>
              <a:rPr lang="en-US" sz="7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Created enterprise AI tool map for leadership evaluation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7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(CGS)Agentic AI PoV</a:t>
            </a:r>
            <a:r>
              <a:rPr lang="en-US" sz="700" dirty="0">
                <a:solidFill>
                  <a:srgbClr val="000000"/>
                </a:solidFill>
                <a:latin typeface="Graphik"/>
                <a:cs typeface="Arial" panose="020B0604020202020204" pitchFamily="34" charset="0"/>
              </a:rPr>
              <a:t>: Created "Why Now" narrative covering capability trajectory, governance prerequisite &amp; investment signal on recent agentic AI developments for practitioner awareness</a:t>
            </a:r>
          </a:p>
          <a:p>
            <a:pPr marL="137160" lvl="1" indent="-137160" defTabSz="6858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700" b="1" dirty="0">
                <a:solidFill>
                  <a:srgbClr val="460073"/>
                </a:solidFill>
                <a:latin typeface="Graphik Semibold" panose="020B0703030202060203" pitchFamily="34" charset="0"/>
                <a:cs typeface="Arial" panose="020B0604020202020204" pitchFamily="34" charset="0"/>
              </a:rPr>
              <a:t>(CGS)Staffing Support</a:t>
            </a:r>
            <a:r>
              <a:rPr lang="en-US" sz="700" dirty="0">
                <a:solidFill>
                  <a:srgbClr val="000000"/>
                </a:solidFill>
                <a:cs typeface="Arial" panose="020B0604020202020204" pitchFamily="34" charset="0"/>
              </a:rPr>
              <a:t>: Vetted and collated practitioner profiles to support resource allocation</a:t>
            </a:r>
            <a:endParaRPr lang="en-US" sz="700" dirty="0">
              <a:solidFill>
                <a:srgbClr val="000000"/>
              </a:solidFill>
              <a:latin typeface="Graphik"/>
              <a:cs typeface="Arial" panose="020B060402020202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1A20BD-B87A-58BA-BBED-4D08E2A50D5E}"/>
              </a:ext>
            </a:extLst>
          </p:cNvPr>
          <p:cNvGrpSpPr/>
          <p:nvPr/>
        </p:nvGrpSpPr>
        <p:grpSpPr>
          <a:xfrm>
            <a:off x="904752" y="404622"/>
            <a:ext cx="737811" cy="733806"/>
            <a:chOff x="6326749" y="713449"/>
            <a:chExt cx="1248703" cy="1254417"/>
          </a:xfrm>
        </p:grpSpPr>
        <p:sp>
          <p:nvSpPr>
            <p:cNvPr id="5" name="Shape 0">
              <a:extLst>
                <a:ext uri="{FF2B5EF4-FFF2-40B4-BE49-F238E27FC236}">
                  <a16:creationId xmlns:a16="http://schemas.microsoft.com/office/drawing/2014/main" id="{BEBFA709-93A1-7F9B-2155-22F14A69DDE8}"/>
                </a:ext>
              </a:extLst>
            </p:cNvPr>
            <p:cNvSpPr/>
            <p:nvPr/>
          </p:nvSpPr>
          <p:spPr>
            <a:xfrm>
              <a:off x="6326749" y="713449"/>
              <a:ext cx="1248703" cy="1254417"/>
            </a:xfrm>
            <a:prstGeom prst="ellipse">
              <a:avLst/>
            </a:prstGeom>
            <a:solidFill>
              <a:srgbClr val="F0F0F0"/>
            </a:solidFill>
            <a:ln w="25400">
              <a:solidFill>
                <a:srgbClr val="D0D0D0"/>
              </a:solidFill>
              <a:prstDash val="solid"/>
            </a:ln>
          </p:spPr>
          <p:txBody>
            <a:bodyPr wrap="square" lIns="0" tIns="0" rIns="0" bIns="0" rtlCol="0" anchor="ctr" anchorCtr="1"/>
            <a:lstStyle/>
            <a:p>
              <a:pPr algn="ctr" defTabSz="685800"/>
              <a:r>
                <a:rPr lang="en-US" sz="750">
                  <a:solidFill>
                    <a:srgbClr val="888888"/>
                  </a:solidFill>
                  <a:latin typeface="Graphik" panose="020B0503030202060203" pitchFamily="34" charset="0"/>
                </a:rPr>
                <a:t>[Photo]</a:t>
              </a:r>
              <a:endParaRPr lang="en-US" sz="135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92C1728-C226-F18C-C39A-2AE86B170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34"/>
            <a:stretch>
              <a:fillRect/>
            </a:stretch>
          </p:blipFill>
          <p:spPr>
            <a:xfrm>
              <a:off x="6358401" y="756175"/>
              <a:ext cx="1188877" cy="1194316"/>
            </a:xfrm>
            <a:prstGeom prst="ellipse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769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460073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7000000" cy="1321308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4400" b="1">
                <a:solidFill>
                  <a:srgbClr val="FFFFFF"/>
                </a:solidFill>
                <a:latin typeface="Graphik"/>
              </a:rPr>
              <a:t>INTERNSHIP PROGRAM</a:t>
            </a:r>
            <a:br>
              <a:rPr lang="en-US" sz="4400" b="1">
                <a:solidFill>
                  <a:srgbClr val="FFFFFF"/>
                </a:solidFill>
                <a:latin typeface="Graphik"/>
              </a:rPr>
            </a:br>
            <a:br>
              <a:rPr lang="en-US" sz="4400" b="1">
                <a:solidFill>
                  <a:srgbClr val="FFFFFF"/>
                </a:solidFill>
                <a:latin typeface="Graphik"/>
              </a:rPr>
            </a:br>
            <a:r>
              <a:rPr lang="en-US" sz="2400" b="1">
                <a:solidFill>
                  <a:srgbClr val="FFFFFF"/>
                </a:solidFill>
                <a:latin typeface="Graphik"/>
              </a:rPr>
              <a:t>FY26  ·  END-REVIEW</a:t>
            </a:r>
            <a:endParaRPr sz="4400" b="1">
              <a:solidFill>
                <a:srgbClr val="FFFFFF"/>
              </a:solidFill>
              <a:latin typeface="Graphik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4114800" cy="27432"/>
          </a:xfrm>
          <a:prstGeom prst="rect">
            <a:avLst/>
          </a:prstGeom>
          <a:solidFill>
            <a:srgbClr val="C85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4800" y="3314700"/>
            <a:ext cx="7000000" cy="5029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lang="en-US" sz="3200" b="1">
                <a:solidFill>
                  <a:srgbClr val="C850F0"/>
                </a:solidFill>
                <a:latin typeface="Graphik"/>
              </a:rPr>
              <a:t>TS&amp;T</a:t>
            </a:r>
            <a:endParaRPr sz="3200" b="1">
              <a:solidFill>
                <a:srgbClr val="C850F0"/>
              </a:solidFill>
              <a:latin typeface="Graphik"/>
            </a:endParaRP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r>
              <a:rPr sz="2200" b="1">
                <a:solidFill>
                  <a:srgbClr val="A100FF"/>
                </a:solidFill>
                <a:latin typeface="Graphik" panose="020B0503030202060203" pitchFamily="34" charset="0"/>
              </a:rPr>
              <a:t>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5302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/>
            <a:r>
              <a:rPr sz="1200" b="1">
                <a:solidFill>
                  <a:srgbClr val="FFFFFF"/>
                </a:solidFill>
                <a:latin typeface="Graphik"/>
              </a:rPr>
              <a:t>Accenture </a:t>
            </a:r>
            <a:r>
              <a:rPr sz="1200" b="0">
                <a:solidFill>
                  <a:srgbClr val="D0D0D0"/>
                </a:solidFill>
                <a:latin typeface="Graphik"/>
              </a:rPr>
              <a:t>Strategy &amp; Consulting</a:t>
            </a: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DD319259-6F6E-4BE1-1609-5D22366FF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434340"/>
            <a:ext cx="4114800" cy="4302728"/>
          </a:xfrm>
          <a:prstGeom prst="rect">
            <a:avLst/>
          </a:prstGeom>
        </p:spPr>
      </p:pic>
      <p:sp>
        <p:nvSpPr>
          <p:cNvPr id="17" name="Footer Placeholder 5">
            <a:extLst>
              <a:ext uri="{FF2B5EF4-FFF2-40B4-BE49-F238E27FC236}">
                <a16:creationId xmlns:a16="http://schemas.microsoft.com/office/drawing/2014/main" id="{E73D44C3-4A12-797D-9801-AE1E25B38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18" name="Slide Number Placeholder 8">
            <a:extLst>
              <a:ext uri="{FF2B5EF4-FFF2-40B4-BE49-F238E27FC236}">
                <a16:creationId xmlns:a16="http://schemas.microsoft.com/office/drawing/2014/main" id="{085F7D51-E016-087C-160E-2013502A1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0" y="4767263"/>
            <a:ext cx="320386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163E55A-5CF1-78D5-487C-31C39543D7F2}"/>
              </a:ext>
            </a:extLst>
          </p:cNvPr>
          <p:cNvGrpSpPr/>
          <p:nvPr/>
        </p:nvGrpSpPr>
        <p:grpSpPr>
          <a:xfrm>
            <a:off x="429067" y="1447203"/>
            <a:ext cx="4606310" cy="2760000"/>
            <a:chOff x="2600000" y="380000"/>
            <a:chExt cx="6200000" cy="2760000"/>
          </a:xfrm>
        </p:grpSpPr>
        <p:sp>
          <p:nvSpPr>
            <p:cNvPr id="201" name="Num01"/>
            <p:cNvSpPr/>
            <p:nvPr/>
          </p:nvSpPr>
          <p:spPr>
            <a:xfrm>
              <a:off x="2600000" y="380000"/>
              <a:ext cx="800000" cy="6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 anchorCtr="0"/>
            <a:lstStyle/>
            <a:p>
              <a:pPr marL="0" indent="0">
                <a:buNone/>
              </a:pPr>
              <a:r>
                <a:rPr lang="en-US" sz="3200" b="1">
                  <a:solidFill>
                    <a:srgbClr val="222222"/>
                  </a:solidFill>
                  <a:latin typeface="Graphik" panose="020B0503030202060203" pitchFamily="34" charset="0"/>
                </a:rPr>
                <a:t>01</a:t>
              </a:r>
              <a:endParaRPr lang="en-US" sz="3200" b="1">
                <a:latin typeface="Graphik" panose="020B0503030202060203" pitchFamily="34" charset="0"/>
              </a:endParaRPr>
            </a:p>
          </p:txBody>
        </p:sp>
        <p:sp>
          <p:nvSpPr>
            <p:cNvPr id="202" name="Title01"/>
            <p:cNvSpPr/>
            <p:nvPr/>
          </p:nvSpPr>
          <p:spPr>
            <a:xfrm>
              <a:off x="3500000" y="563812"/>
              <a:ext cx="530000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6B0F8C"/>
                  </a:solidFill>
                  <a:latin typeface="Graphik" panose="020B0503030202060203" pitchFamily="34" charset="0"/>
                </a:rPr>
                <a:t>About Me</a:t>
              </a:r>
              <a:endParaRPr lang="en-US" sz="1500" b="1" dirty="0">
                <a:latin typeface="Graphik" panose="020B0503030202060203" pitchFamily="34" charset="0"/>
              </a:endParaRPr>
            </a:p>
          </p:txBody>
        </p:sp>
        <p:sp>
          <p:nvSpPr>
            <p:cNvPr id="204" name="Div01"/>
            <p:cNvSpPr/>
            <p:nvPr/>
          </p:nvSpPr>
          <p:spPr>
            <a:xfrm>
              <a:off x="3500000" y="1040000"/>
              <a:ext cx="4744535" cy="0"/>
            </a:xfrm>
            <a:prstGeom prst="line">
              <a:avLst/>
            </a:prstGeom>
            <a:noFill/>
            <a:ln w="635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Num02"/>
            <p:cNvSpPr/>
            <p:nvPr/>
          </p:nvSpPr>
          <p:spPr>
            <a:xfrm>
              <a:off x="2600000" y="1080000"/>
              <a:ext cx="800000" cy="6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 anchorCtr="0"/>
            <a:lstStyle/>
            <a:p>
              <a:pPr marL="0" indent="0">
                <a:buNone/>
              </a:pPr>
              <a:r>
                <a:rPr lang="en-US" sz="3200" b="1">
                  <a:solidFill>
                    <a:srgbClr val="222222"/>
                  </a:solidFill>
                  <a:latin typeface="Graphik" panose="020B0503030202060203" pitchFamily="34" charset="0"/>
                </a:rPr>
                <a:t>02</a:t>
              </a:r>
              <a:endParaRPr lang="en-US" sz="3200" b="1">
                <a:latin typeface="Graphik" panose="020B0503030202060203" pitchFamily="34" charset="0"/>
              </a:endParaRPr>
            </a:p>
          </p:txBody>
        </p:sp>
        <p:sp>
          <p:nvSpPr>
            <p:cNvPr id="212" name="Title02"/>
            <p:cNvSpPr/>
            <p:nvPr/>
          </p:nvSpPr>
          <p:spPr>
            <a:xfrm>
              <a:off x="3500000" y="1130000"/>
              <a:ext cx="530000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6B0F8C"/>
                  </a:solidFill>
                  <a:latin typeface="Graphik" panose="020B0503030202060203" pitchFamily="34" charset="0"/>
                </a:rPr>
                <a:t>Project Overview</a:t>
              </a:r>
              <a:endParaRPr lang="en-US" sz="1500" b="1" dirty="0">
                <a:latin typeface="Graphik" panose="020B0503030202060203" pitchFamily="34" charset="0"/>
              </a:endParaRPr>
            </a:p>
          </p:txBody>
        </p:sp>
        <p:sp>
          <p:nvSpPr>
            <p:cNvPr id="213" name="Sub02"/>
            <p:cNvSpPr/>
            <p:nvPr/>
          </p:nvSpPr>
          <p:spPr>
            <a:xfrm>
              <a:off x="3500000" y="1440000"/>
              <a:ext cx="53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44444"/>
                  </a:solidFill>
                  <a:latin typeface="Graphik" panose="020B0503030202060203" pitchFamily="34" charset="0"/>
                </a:rPr>
                <a:t>Project Objective &amp; Discovery-Led Approach</a:t>
              </a:r>
              <a:endParaRPr lang="en-US" sz="1050" dirty="0">
                <a:latin typeface="Graphik" panose="020B0503030202060203" pitchFamily="34" charset="0"/>
              </a:endParaRPr>
            </a:p>
          </p:txBody>
        </p:sp>
        <p:sp>
          <p:nvSpPr>
            <p:cNvPr id="214" name="Div02"/>
            <p:cNvSpPr/>
            <p:nvPr/>
          </p:nvSpPr>
          <p:spPr>
            <a:xfrm>
              <a:off x="3500000" y="1740000"/>
              <a:ext cx="4744535" cy="0"/>
            </a:xfrm>
            <a:prstGeom prst="line">
              <a:avLst/>
            </a:prstGeom>
            <a:noFill/>
            <a:ln w="635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Num03"/>
            <p:cNvSpPr/>
            <p:nvPr/>
          </p:nvSpPr>
          <p:spPr>
            <a:xfrm>
              <a:off x="2600000" y="1780000"/>
              <a:ext cx="800000" cy="6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 anchorCtr="0"/>
            <a:lstStyle/>
            <a:p>
              <a:pPr marL="0" indent="0">
                <a:buNone/>
              </a:pPr>
              <a:r>
                <a:rPr lang="en-US" sz="3200" b="1">
                  <a:solidFill>
                    <a:srgbClr val="222222"/>
                  </a:solidFill>
                  <a:latin typeface="Graphik" panose="020B0503030202060203" pitchFamily="34" charset="0"/>
                </a:rPr>
                <a:t>03</a:t>
              </a:r>
              <a:endParaRPr lang="en-US" sz="3200" b="1">
                <a:latin typeface="Graphik" panose="020B0503030202060203" pitchFamily="34" charset="0"/>
              </a:endParaRPr>
            </a:p>
          </p:txBody>
        </p:sp>
        <p:sp>
          <p:nvSpPr>
            <p:cNvPr id="222" name="Title03"/>
            <p:cNvSpPr/>
            <p:nvPr/>
          </p:nvSpPr>
          <p:spPr>
            <a:xfrm>
              <a:off x="3500000" y="1830000"/>
              <a:ext cx="530000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6B0F8C"/>
                  </a:solidFill>
                  <a:latin typeface="Graphik" panose="020B0503030202060203" pitchFamily="34" charset="0"/>
                </a:rPr>
                <a:t>Work Deliverables</a:t>
              </a:r>
              <a:endParaRPr lang="en-US" sz="1500" b="1" dirty="0">
                <a:latin typeface="Graphik" panose="020B0503030202060203" pitchFamily="34" charset="0"/>
              </a:endParaRPr>
            </a:p>
          </p:txBody>
        </p:sp>
        <p:sp>
          <p:nvSpPr>
            <p:cNvPr id="223" name="Sub03"/>
            <p:cNvSpPr/>
            <p:nvPr/>
          </p:nvSpPr>
          <p:spPr>
            <a:xfrm>
              <a:off x="3500000" y="2140000"/>
              <a:ext cx="53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44444"/>
                  </a:solidFill>
                  <a:latin typeface="Graphik" panose="020B0503030202060203" pitchFamily="34" charset="0"/>
                </a:rPr>
                <a:t>Key outputs from my work</a:t>
              </a:r>
              <a:endParaRPr lang="en-US" sz="1050" dirty="0">
                <a:latin typeface="Graphik" panose="020B0503030202060203" pitchFamily="34" charset="0"/>
              </a:endParaRPr>
            </a:p>
          </p:txBody>
        </p:sp>
        <p:sp>
          <p:nvSpPr>
            <p:cNvPr id="224" name="Div03"/>
            <p:cNvSpPr/>
            <p:nvPr/>
          </p:nvSpPr>
          <p:spPr>
            <a:xfrm>
              <a:off x="3500000" y="2440000"/>
              <a:ext cx="4744535" cy="0"/>
            </a:xfrm>
            <a:prstGeom prst="line">
              <a:avLst/>
            </a:prstGeom>
            <a:noFill/>
            <a:ln w="635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Num04"/>
            <p:cNvSpPr/>
            <p:nvPr/>
          </p:nvSpPr>
          <p:spPr>
            <a:xfrm>
              <a:off x="2600000" y="2480000"/>
              <a:ext cx="800000" cy="60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 anchorCtr="0"/>
            <a:lstStyle/>
            <a:p>
              <a:pPr marL="0" indent="0">
                <a:buNone/>
              </a:pPr>
              <a:r>
                <a:rPr lang="en-US" sz="3200" b="1">
                  <a:solidFill>
                    <a:srgbClr val="222222"/>
                  </a:solidFill>
                  <a:latin typeface="Graphik" panose="020B0503030202060203" pitchFamily="34" charset="0"/>
                </a:rPr>
                <a:t>04</a:t>
              </a:r>
              <a:endParaRPr lang="en-US" sz="3200" b="1">
                <a:latin typeface="Graphik" panose="020B0503030202060203" pitchFamily="34" charset="0"/>
              </a:endParaRPr>
            </a:p>
          </p:txBody>
        </p:sp>
        <p:sp>
          <p:nvSpPr>
            <p:cNvPr id="232" name="Title04"/>
            <p:cNvSpPr/>
            <p:nvPr/>
          </p:nvSpPr>
          <p:spPr>
            <a:xfrm>
              <a:off x="3500000" y="2530000"/>
              <a:ext cx="5300000" cy="28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6B0F8C"/>
                  </a:solidFill>
                  <a:latin typeface="Graphik" panose="020B0503030202060203" pitchFamily="34" charset="0"/>
                </a:rPr>
                <a:t>Contributions Beyond Scope</a:t>
              </a:r>
              <a:endParaRPr lang="en-US" sz="1500" b="1" dirty="0">
                <a:latin typeface="Graphik" panose="020B0503030202060203" pitchFamily="34" charset="0"/>
              </a:endParaRPr>
            </a:p>
          </p:txBody>
        </p:sp>
        <p:sp>
          <p:nvSpPr>
            <p:cNvPr id="233" name="Sub04"/>
            <p:cNvSpPr/>
            <p:nvPr/>
          </p:nvSpPr>
          <p:spPr>
            <a:xfrm>
              <a:off x="3500000" y="2840000"/>
              <a:ext cx="5300000" cy="24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44444"/>
                  </a:solidFill>
                  <a:latin typeface="Graphik" panose="020B0503030202060203" pitchFamily="34" charset="0"/>
                </a:rPr>
                <a:t>Value delivered outside PDLC Project</a:t>
              </a:r>
              <a:endParaRPr lang="en-US" sz="1050" dirty="0">
                <a:latin typeface="Graphik" panose="020B0503030202060203" pitchFamily="34" charset="0"/>
              </a:endParaRPr>
            </a:p>
          </p:txBody>
        </p:sp>
        <p:sp>
          <p:nvSpPr>
            <p:cNvPr id="234" name="Div04"/>
            <p:cNvSpPr/>
            <p:nvPr/>
          </p:nvSpPr>
          <p:spPr>
            <a:xfrm>
              <a:off x="3500000" y="3140000"/>
              <a:ext cx="4744535" cy="0"/>
            </a:xfrm>
            <a:prstGeom prst="line">
              <a:avLst/>
            </a:prstGeom>
            <a:noFill/>
            <a:ln w="635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0" name="Arrow"/>
          <p:cNvSpPr>
            <a:spLocks/>
          </p:cNvSpPr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2200" b="1">
                <a:solidFill>
                  <a:srgbClr val="A100FF"/>
                </a:solidFill>
                <a:latin typeface="Graphik" panose="020B0503030202060203" pitchFamily="34" charset="0"/>
              </a:rPr>
              <a:t>&gt;</a:t>
            </a:r>
            <a:endParaRPr lang="en-US" sz="2200" b="1">
              <a:latin typeface="Graphik" panose="020B0503030202060203" pitchFamily="34" charset="0"/>
            </a:endParaRPr>
          </a:p>
        </p:txBody>
      </p:sp>
      <p:pic>
        <p:nvPicPr>
          <p:cNvPr id="3" name="Picture 2" descr="A compass in a purple water  Description automatically generated with medium confidence">
            <a:extLst>
              <a:ext uri="{FF2B5EF4-FFF2-40B4-BE49-F238E27FC236}">
                <a16:creationId xmlns:a16="http://schemas.microsoft.com/office/drawing/2014/main" id="{9E46BA44-D5C0-BDE6-AD33-06A1D2EAA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924425" y="-96644"/>
            <a:ext cx="4230330" cy="5352585"/>
          </a:xfrm>
          <a:prstGeom prst="rect">
            <a:avLst/>
          </a:prstGeom>
        </p:spPr>
      </p:pic>
      <p:sp>
        <p:nvSpPr>
          <p:cNvPr id="4" name="T">
            <a:extLst>
              <a:ext uri="{FF2B5EF4-FFF2-40B4-BE49-F238E27FC236}">
                <a16:creationId xmlns:a16="http://schemas.microsoft.com/office/drawing/2014/main" id="{9EA27490-C2FE-E8B0-C78D-41F44DD6E5CC}"/>
              </a:ext>
            </a:extLst>
          </p:cNvPr>
          <p:cNvSpPr/>
          <p:nvPr/>
        </p:nvSpPr>
        <p:spPr>
          <a:xfrm>
            <a:off x="429067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>
              <a:latin typeface="Graphik" panose="020B0503030202060203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36291-CDE6-7C78-C91F-652DB203F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>
                <a:solidFill>
                  <a:schemeClr val="tx1"/>
                </a:solidFill>
              </a:rPr>
              <a:t>Copyright © 20</a:t>
            </a:r>
            <a:r>
              <a:rPr lang="en-US">
                <a:solidFill>
                  <a:schemeClr val="bg1"/>
                </a:solidFill>
              </a:rPr>
              <a:t>26 Accenture. All rights reserved.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8A1B4C91-B044-9301-A6A0-9C0DAB499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0" y="4767263"/>
            <a:ext cx="320386" cy="273844"/>
          </a:xfrm>
        </p:spPr>
        <p:txBody>
          <a:bodyPr/>
          <a:lstStyle/>
          <a:p>
            <a:fld id="{48F63A3B-78C7-47BE-AE5E-E10140E04643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"/>
            <a:ext cx="4572000" cy="4310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>
                    <a:alpha val="60000"/>
                  </a:srgbClr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000">
              <a:latin typeface="Graphik" panose="020B050303020206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3600">
              <a:latin typeface="Graphik" panose="020B050303020206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>
                    <a:alpha val="60000"/>
                  </a:srgbClr>
                </a:solidFill>
                <a:latin typeface="Graphik" panose="020B0503030202060203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200">
              <a:latin typeface="Graphik" panose="020B0503030202060203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4F23A-7446-7156-D008-0A7CC9165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C4403F9A-6395-B193-C34E-E7E2AC683B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EC477D25-F0E8-9210-67E4-1C496B418A76}"/>
              </a:ext>
            </a:extLst>
          </p:cNvPr>
          <p:cNvSpPr txBox="1">
            <a:spLocks/>
          </p:cNvSpPr>
          <p:nvPr/>
        </p:nvSpPr>
        <p:spPr>
          <a:xfrm>
            <a:off x="8638100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"/>
          <p:cNvSpPr/>
          <p:nvPr/>
        </p:nvSpPr>
        <p:spPr>
          <a:xfrm>
            <a:off x="429067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2400">
              <a:latin typeface="Graphik" panose="020B0503030202060203" pitchFamily="34" charset="0"/>
            </a:endParaRPr>
          </a:p>
        </p:txBody>
      </p:sp>
      <p:sp>
        <p:nvSpPr>
          <p:cNvPr id="7" name="EBar"/>
          <p:cNvSpPr/>
          <p:nvPr/>
        </p:nvSpPr>
        <p:spPr>
          <a:xfrm>
            <a:off x="411480" y="1436317"/>
            <a:ext cx="3886200" cy="208931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Graphik" panose="020B0503030202060203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4A238CF-F837-F319-2AE2-41DEA840AB10}"/>
              </a:ext>
            </a:extLst>
          </p:cNvPr>
          <p:cNvGrpSpPr/>
          <p:nvPr/>
        </p:nvGrpSpPr>
        <p:grpSpPr>
          <a:xfrm>
            <a:off x="457200" y="813294"/>
            <a:ext cx="4114800" cy="1226005"/>
            <a:chOff x="457200" y="731520"/>
            <a:chExt cx="4114800" cy="1226005"/>
          </a:xfrm>
        </p:grpSpPr>
        <p:sp>
          <p:nvSpPr>
            <p:cNvPr id="4" name="Nm"/>
            <p:cNvSpPr/>
            <p:nvPr/>
          </p:nvSpPr>
          <p:spPr>
            <a:xfrm>
              <a:off x="457200" y="731520"/>
              <a:ext cx="4114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b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000000"/>
                  </a:solidFill>
                  <a:latin typeface="Graphik" panose="020B0503030202060203" pitchFamily="34" charset="0"/>
                  <a:ea typeface="Calibri" pitchFamily="34" charset="-122"/>
                  <a:cs typeface="Calibri" pitchFamily="34" charset="-120"/>
                </a:rPr>
                <a:t>Himanshu</a:t>
              </a:r>
              <a:endParaRPr lang="en-US" dirty="0">
                <a:latin typeface="Graphik" panose="020B0503030202060203" pitchFamily="34" charset="0"/>
              </a:endParaRPr>
            </a:p>
          </p:txBody>
        </p:sp>
        <p:sp>
          <p:nvSpPr>
            <p:cNvPr id="5" name="Inst"/>
            <p:cNvSpPr/>
            <p:nvPr/>
          </p:nvSpPr>
          <p:spPr>
            <a:xfrm>
              <a:off x="457200" y="1143000"/>
              <a:ext cx="411480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A100FF"/>
                  </a:solidFill>
                  <a:latin typeface="Graphik Semibold" panose="020B0703030202060203" pitchFamily="34" charset="0"/>
                  <a:ea typeface="Calibri" pitchFamily="34" charset="-122"/>
                  <a:cs typeface="Calibri" pitchFamily="34" charset="-120"/>
                </a:rPr>
                <a:t>IIM Bangalore </a:t>
              </a:r>
              <a:r>
                <a:rPr lang="en-US" sz="900" dirty="0">
                  <a:solidFill>
                    <a:srgbClr val="888888"/>
                  </a:solidFill>
                  <a:latin typeface="Graphik" panose="020B0503030202060203" pitchFamily="34" charset="0"/>
                  <a:ea typeface="Calibri" pitchFamily="34" charset="-122"/>
                  <a:cs typeface="Calibri" pitchFamily="34" charset="-120"/>
                </a:rPr>
                <a:t>| MBA(PGP), 2025-27</a:t>
              </a:r>
            </a:p>
            <a:p>
              <a:pPr marL="0" indent="0">
                <a:buNone/>
              </a:pPr>
              <a:endParaRPr lang="en-US" sz="900" dirty="0">
                <a:solidFill>
                  <a:srgbClr val="888888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>
                <a:buNone/>
              </a:pPr>
              <a:endParaRPr lang="en-US" sz="1100" dirty="0">
                <a:latin typeface="Graphik" panose="020B0503030202060203" pitchFamily="34" charset="0"/>
              </a:endParaRPr>
            </a:p>
          </p:txBody>
        </p:sp>
        <p:sp>
          <p:nvSpPr>
            <p:cNvPr id="8" name="ELbl"/>
            <p:cNvSpPr/>
            <p:nvPr/>
          </p:nvSpPr>
          <p:spPr>
            <a:xfrm>
              <a:off x="484632" y="1470282"/>
              <a:ext cx="39319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i="1" dirty="0">
                  <a:solidFill>
                    <a:srgbClr val="000000"/>
                  </a:solidFill>
                  <a:latin typeface="Graphik" panose="020B0503030202060203" pitchFamily="34" charset="0"/>
                  <a:ea typeface="Calibri" pitchFamily="34" charset="-122"/>
                  <a:cs typeface="Calibri" pitchFamily="34" charset="-120"/>
                </a:rPr>
                <a:t>Education</a:t>
              </a:r>
              <a:endParaRPr lang="en-US" sz="1000" i="1" dirty="0">
                <a:latin typeface="Graphik" panose="020B0503030202060203" pitchFamily="34" charset="0"/>
              </a:endParaRPr>
            </a:p>
          </p:txBody>
        </p:sp>
        <p:sp>
          <p:nvSpPr>
            <p:cNvPr id="10" name="E0"/>
            <p:cNvSpPr/>
            <p:nvPr/>
          </p:nvSpPr>
          <p:spPr>
            <a:xfrm>
              <a:off x="484632" y="1710637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00000"/>
                  </a:solidFill>
                  <a:latin typeface="Graphik Semibold" panose="020B0703030202060203" pitchFamily="34" charset="0"/>
                  <a:ea typeface="Calibri" pitchFamily="34" charset="-122"/>
                  <a:cs typeface="Calibri" pitchFamily="34" charset="-120"/>
                </a:rPr>
                <a:t>B. Tech, Mechanical Engineering</a:t>
              </a:r>
              <a:endParaRPr lang="en-US" sz="1000" dirty="0">
                <a:latin typeface="Graphik Semibold" panose="020B0703030202060203" pitchFamily="34" charset="0"/>
              </a:endParaRPr>
            </a:p>
            <a:p>
              <a:pPr marL="0" indent="0">
                <a:buNone/>
              </a:pPr>
              <a:r>
                <a:rPr lang="en-US" sz="1000" b="1" dirty="0">
                  <a:solidFill>
                    <a:srgbClr val="888888"/>
                  </a:solidFill>
                  <a:latin typeface="Graphik" panose="020B0503030202060203" pitchFamily="34" charset="0"/>
                  <a:ea typeface="Calibri" pitchFamily="34" charset="-122"/>
                  <a:cs typeface="Calibri" pitchFamily="34" charset="-120"/>
                </a:rPr>
                <a:t>IIT Kharagpur</a:t>
              </a:r>
              <a:r>
                <a:rPr lang="en-US" sz="1000" dirty="0">
                  <a:solidFill>
                    <a:srgbClr val="888888"/>
                  </a:solidFill>
                  <a:latin typeface="Graphik" panose="020B0503030202060203" pitchFamily="34" charset="0"/>
                  <a:ea typeface="Calibri" pitchFamily="34" charset="-122"/>
                  <a:cs typeface="Calibri" pitchFamily="34" charset="-120"/>
                </a:rPr>
                <a:t>, 2018-22</a:t>
              </a:r>
              <a:endParaRPr lang="en-US" sz="1000" dirty="0">
                <a:latin typeface="Graphik" panose="020B0503030202060203" pitchFamily="34" charset="0"/>
              </a:endParaRPr>
            </a:p>
          </p:txBody>
        </p:sp>
      </p:grpSp>
      <p:sp>
        <p:nvSpPr>
          <p:cNvPr id="23" name="WE"/>
          <p:cNvSpPr/>
          <p:nvPr/>
        </p:nvSpPr>
        <p:spPr>
          <a:xfrm>
            <a:off x="393192" y="2490397"/>
            <a:ext cx="3978224" cy="18288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2400">
              <a:latin typeface="Graphik" panose="020B0503030202060203" pitchFamily="34" charset="0"/>
            </a:endParaRPr>
          </a:p>
        </p:txBody>
      </p:sp>
      <p:sp>
        <p:nvSpPr>
          <p:cNvPr id="25" name="WR"/>
          <p:cNvSpPr/>
          <p:nvPr/>
        </p:nvSpPr>
        <p:spPr>
          <a:xfrm>
            <a:off x="484632" y="2526973"/>
            <a:ext cx="3703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Sr. Data Analyst</a:t>
            </a:r>
            <a:endParaRPr lang="en-US" sz="1300">
              <a:latin typeface="Graphik" panose="020B0503030202060203" pitchFamily="34" charset="0"/>
            </a:endParaRPr>
          </a:p>
        </p:txBody>
      </p:sp>
      <p:sp>
        <p:nvSpPr>
          <p:cNvPr id="26" name="WC"/>
          <p:cNvSpPr/>
          <p:nvPr/>
        </p:nvSpPr>
        <p:spPr>
          <a:xfrm>
            <a:off x="484632" y="2737285"/>
            <a:ext cx="3703320" cy="2103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A100FF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American Express [CFR(CoE) - AI Labs division]</a:t>
            </a:r>
            <a:endParaRPr lang="en-US" sz="1000" dirty="0">
              <a:latin typeface="Graphik Semibold" panose="020B0703030202060203" pitchFamily="34" charset="0"/>
            </a:endParaRPr>
          </a:p>
        </p:txBody>
      </p:sp>
      <p:sp>
        <p:nvSpPr>
          <p:cNvPr id="27" name="HLs"/>
          <p:cNvSpPr/>
          <p:nvPr/>
        </p:nvSpPr>
        <p:spPr>
          <a:xfrm>
            <a:off x="484632" y="2993317"/>
            <a:ext cx="380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>
                <a:solidFill>
                  <a:srgbClr val="4A4A4A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Designed ML models and automated pipelines across 6 global markets, saving </a:t>
            </a:r>
            <a:r>
              <a:rPr lang="en-US" sz="1050" b="1">
                <a:solidFill>
                  <a:srgbClr val="4A4A4A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$5M+ </a:t>
            </a:r>
            <a:r>
              <a:rPr lang="en-US" sz="1050">
                <a:solidFill>
                  <a:srgbClr val="4A4A4A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and cutting timelines by 60%. Drove analytics for </a:t>
            </a:r>
            <a:r>
              <a:rPr lang="en-US" sz="1050" b="1">
                <a:solidFill>
                  <a:srgbClr val="4A4A4A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100K+</a:t>
            </a:r>
            <a:r>
              <a:rPr lang="en-US" sz="1050">
                <a:solidFill>
                  <a:srgbClr val="4A4A4A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customers, unlocking </a:t>
            </a:r>
            <a:r>
              <a:rPr lang="en-US" sz="1050" b="1">
                <a:solidFill>
                  <a:srgbClr val="4A4A4A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$10M+ </a:t>
            </a:r>
            <a:r>
              <a:rPr lang="en-US" sz="1050">
                <a:solidFill>
                  <a:srgbClr val="4A4A4A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in retention value.</a:t>
            </a:r>
            <a:endParaRPr lang="en-US" sz="1050">
              <a:latin typeface="Graphik" panose="020B050303020206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2055D9F-7F8B-0935-F9DC-C890A985E8DF}"/>
              </a:ext>
            </a:extLst>
          </p:cNvPr>
          <p:cNvGrpSpPr/>
          <p:nvPr/>
        </p:nvGrpSpPr>
        <p:grpSpPr>
          <a:xfrm>
            <a:off x="374904" y="2162521"/>
            <a:ext cx="8229600" cy="283127"/>
            <a:chOff x="374904" y="2088181"/>
            <a:chExt cx="8229600" cy="283127"/>
          </a:xfrm>
        </p:grpSpPr>
        <p:sp>
          <p:nvSpPr>
            <p:cNvPr id="21" name="WH"/>
            <p:cNvSpPr/>
            <p:nvPr/>
          </p:nvSpPr>
          <p:spPr>
            <a:xfrm>
              <a:off x="374904" y="2096988"/>
              <a:ext cx="4014800" cy="27432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1E265E"/>
                </a:gs>
                <a:gs pos="0">
                  <a:srgbClr val="7400C0"/>
                </a:gs>
                <a:gs pos="100000">
                  <a:srgbClr val="A000FF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68580" bIns="68580" rtlCol="0" anchor="ctr"/>
            <a:lstStyle/>
            <a:p>
              <a:pPr algn="ctr" defTabSz="685783"/>
              <a:endParaRPr lang="en-US" sz="900" b="1" kern="0" spc="-23">
                <a:solidFill>
                  <a:srgbClr val="FFFFFF"/>
                </a:solidFill>
                <a:latin typeface="Graphik"/>
              </a:endParaRPr>
            </a:p>
          </p:txBody>
        </p:sp>
        <p:sp>
          <p:nvSpPr>
            <p:cNvPr id="22" name="WHL"/>
            <p:cNvSpPr/>
            <p:nvPr/>
          </p:nvSpPr>
          <p:spPr>
            <a:xfrm>
              <a:off x="502920" y="2088181"/>
              <a:ext cx="3703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Graphik" panose="020B0503030202060203" pitchFamily="34" charset="0"/>
                  <a:ea typeface="Calibri" pitchFamily="34" charset="-122"/>
                  <a:cs typeface="Calibri" pitchFamily="34" charset="-120"/>
                </a:rPr>
                <a:t>Work Experience</a:t>
              </a:r>
              <a:endParaRPr lang="en-US" sz="1050" dirty="0">
                <a:latin typeface="Graphik" panose="020B0503030202060203" pitchFamily="34" charset="0"/>
              </a:endParaRPr>
            </a:p>
          </p:txBody>
        </p:sp>
        <p:sp>
          <p:nvSpPr>
            <p:cNvPr id="201" name="RH"/>
            <p:cNvSpPr/>
            <p:nvPr/>
          </p:nvSpPr>
          <p:spPr>
            <a:xfrm>
              <a:off x="4589704" y="2096988"/>
              <a:ext cx="4014800" cy="274320"/>
            </a:xfrm>
            <a:prstGeom prst="roundRect">
              <a:avLst>
                <a:gd name="adj" fmla="val 5000"/>
              </a:avLst>
            </a:prstGeom>
            <a:gradFill>
              <a:gsLst>
                <a:gs pos="0">
                  <a:srgbClr val="1E265E"/>
                </a:gs>
                <a:gs pos="0">
                  <a:srgbClr val="7400C0"/>
                </a:gs>
                <a:gs pos="100000">
                  <a:srgbClr val="A000FF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68580" bIns="68580" rtlCol="0" anchor="ctr"/>
            <a:lstStyle/>
            <a:p>
              <a:pPr algn="ctr" defTabSz="685783"/>
              <a:endParaRPr lang="en-US" sz="900" b="1" kern="0" spc="-23">
                <a:solidFill>
                  <a:srgbClr val="FFFFFF"/>
                </a:solidFill>
                <a:latin typeface="Graphik"/>
              </a:endParaRPr>
            </a:p>
          </p:txBody>
        </p:sp>
        <p:sp>
          <p:nvSpPr>
            <p:cNvPr id="202" name="RHL"/>
            <p:cNvSpPr/>
            <p:nvPr/>
          </p:nvSpPr>
          <p:spPr>
            <a:xfrm>
              <a:off x="4717720" y="2088181"/>
              <a:ext cx="3703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>
                  <a:solidFill>
                    <a:srgbClr val="FFFFFF"/>
                  </a:solidFill>
                  <a:latin typeface="Graphik" panose="020B0503030202060203" pitchFamily="34" charset="0"/>
                </a:rPr>
                <a:t>Research</a:t>
              </a:r>
              <a:endParaRPr lang="en-US" sz="1050">
                <a:latin typeface="Graphik" panose="020B0503030202060203" pitchFamily="34" charset="0"/>
              </a:endParaRPr>
            </a:p>
          </p:txBody>
        </p:sp>
      </p:grpSp>
      <p:sp>
        <p:nvSpPr>
          <p:cNvPr id="203" name="RE"/>
          <p:cNvSpPr/>
          <p:nvPr/>
        </p:nvSpPr>
        <p:spPr>
          <a:xfrm>
            <a:off x="4607992" y="2490397"/>
            <a:ext cx="3978224" cy="1828800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 sz="2400">
              <a:latin typeface="Graphik" panose="020B0503030202060203" pitchFamily="34" charset="0"/>
            </a:endParaRPr>
          </a:p>
        </p:txBody>
      </p:sp>
      <p:sp>
        <p:nvSpPr>
          <p:cNvPr id="204" name="RR"/>
          <p:cNvSpPr/>
          <p:nvPr/>
        </p:nvSpPr>
        <p:spPr>
          <a:xfrm>
            <a:off x="4699432" y="2526973"/>
            <a:ext cx="38867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>
                <a:solidFill>
                  <a:srgbClr val="000000"/>
                </a:solidFill>
                <a:latin typeface="Graphik" panose="020B0503030202060203" pitchFamily="34" charset="0"/>
              </a:rPr>
              <a:t>(Published) COVID-19 Detection Using Cough Recordings</a:t>
            </a:r>
            <a:endParaRPr lang="en-US" sz="1050">
              <a:latin typeface="Graphik" panose="020B0503030202060203" pitchFamily="34" charset="0"/>
            </a:endParaRPr>
          </a:p>
        </p:txBody>
      </p:sp>
      <p:sp>
        <p:nvSpPr>
          <p:cNvPr id="205" name="RC"/>
          <p:cNvSpPr/>
          <p:nvPr/>
        </p:nvSpPr>
        <p:spPr>
          <a:xfrm>
            <a:off x="4699432" y="2737285"/>
            <a:ext cx="3703320" cy="210312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4A4A4A"/>
                </a:solidFill>
                <a:latin typeface="Graphik" panose="020B0503030202060203" pitchFamily="34" charset="0"/>
              </a:rPr>
              <a:t>Prof. Ram Babu Roy, IIT Kharagpur</a:t>
            </a:r>
          </a:p>
        </p:txBody>
      </p:sp>
      <p:sp>
        <p:nvSpPr>
          <p:cNvPr id="206" name="RD"/>
          <p:cNvSpPr/>
          <p:nvPr/>
        </p:nvSpPr>
        <p:spPr>
          <a:xfrm>
            <a:off x="4699432" y="2993317"/>
            <a:ext cx="380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Graphik" panose="020B0503030202060203" pitchFamily="34" charset="0"/>
              </a:rPr>
              <a:t>Built an ML model to detect </a:t>
            </a:r>
            <a:r>
              <a:rPr lang="en-US" sz="1050" dirty="0">
                <a:solidFill>
                  <a:srgbClr val="4A4A4A"/>
                </a:solidFill>
                <a:latin typeface="Graphik Semibold" panose="020B0703030202060203" pitchFamily="34" charset="0"/>
              </a:rPr>
              <a:t>COVID-19 from cough audio</a:t>
            </a:r>
            <a:r>
              <a:rPr lang="en-US" sz="1050" dirty="0">
                <a:solidFill>
                  <a:srgbClr val="4A4A4A"/>
                </a:solidFill>
                <a:latin typeface="Graphik" panose="020B0503030202060203" pitchFamily="34" charset="0"/>
              </a:rPr>
              <a:t>, achieving 98% precision and </a:t>
            </a:r>
            <a:r>
              <a:rPr lang="en-US" sz="1050" b="1" dirty="0">
                <a:solidFill>
                  <a:srgbClr val="4A4A4A"/>
                </a:solidFill>
                <a:latin typeface="Graphik Semibold" panose="020B0703030202060203" pitchFamily="34" charset="0"/>
              </a:rPr>
              <a:t>100% recall on asymptomatic patients</a:t>
            </a:r>
            <a:r>
              <a:rPr lang="en-US" sz="1050" dirty="0">
                <a:solidFill>
                  <a:srgbClr val="4A4A4A"/>
                </a:solidFill>
                <a:latin typeface="Graphik" panose="020B0503030202060203" pitchFamily="34" charset="0"/>
              </a:rPr>
              <a:t>. Used in few departments in AIIMS Delhi and AIIMS Bhubaneshwar.</a:t>
            </a:r>
            <a:endParaRPr lang="en-US" sz="1050" dirty="0">
              <a:latin typeface="Graphik" panose="020B0503030202060203" pitchFamily="34" charset="0"/>
            </a:endParaRPr>
          </a:p>
        </p:txBody>
      </p:sp>
      <p:sp>
        <p:nvSpPr>
          <p:cNvPr id="28" name="SKB"/>
          <p:cNvSpPr/>
          <p:nvPr/>
        </p:nvSpPr>
        <p:spPr>
          <a:xfrm>
            <a:off x="374904" y="4424511"/>
            <a:ext cx="3886200" cy="2286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n-US">
              <a:latin typeface="Graphik" panose="020B0503030202060203" pitchFamily="34" charset="0"/>
            </a:endParaRPr>
          </a:p>
        </p:txBody>
      </p:sp>
      <p:sp>
        <p:nvSpPr>
          <p:cNvPr id="29" name="SKL"/>
          <p:cNvSpPr/>
          <p:nvPr/>
        </p:nvSpPr>
        <p:spPr>
          <a:xfrm>
            <a:off x="466344" y="4424511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Domains:  </a:t>
            </a:r>
            <a:r>
              <a:rPr lang="en-US" sz="800">
                <a:solidFill>
                  <a:srgbClr val="4A4A4A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[Domain 1]  ·  [Domain 2]  ·  [Domain 3]  ·  [Domain 4]  ·  [Domain 5]</a:t>
            </a:r>
            <a:endParaRPr lang="en-US" sz="800">
              <a:latin typeface="Graphik" panose="020B0503030202060203" pitchFamily="34" charset="0"/>
            </a:endParaRPr>
          </a:p>
        </p:txBody>
      </p:sp>
      <p:sp>
        <p:nvSpPr>
          <p:cNvPr id="30" name="AB"/>
          <p:cNvSpPr/>
          <p:nvPr/>
        </p:nvSpPr>
        <p:spPr>
          <a:xfrm>
            <a:off x="393192" y="4338866"/>
            <a:ext cx="8229600" cy="365760"/>
          </a:xfrm>
          <a:prstGeom prst="roundRect">
            <a:avLst>
              <a:gd name="adj" fmla="val 6000"/>
            </a:avLst>
          </a:prstGeom>
          <a:solidFill>
            <a:srgbClr val="F8F0FF"/>
          </a:solidFill>
          <a:ln/>
        </p:spPr>
        <p:txBody>
          <a:bodyPr/>
          <a:lstStyle/>
          <a:p>
            <a:endParaRPr lang="en-US">
              <a:latin typeface="Graphik" panose="020B0503030202060203" pitchFamily="34" charset="0"/>
            </a:endParaRPr>
          </a:p>
        </p:txBody>
      </p:sp>
      <p:sp>
        <p:nvSpPr>
          <p:cNvPr id="32" name="AT"/>
          <p:cNvSpPr/>
          <p:nvPr/>
        </p:nvSpPr>
        <p:spPr>
          <a:xfrm>
            <a:off x="484632" y="433886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5" b="1">
                <a:solidFill>
                  <a:srgbClr val="7030A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Highlights:  </a:t>
            </a:r>
            <a:r>
              <a:rPr lang="en-US" sz="800">
                <a:solidFill>
                  <a:srgbClr val="4A4A4A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Executive VP Award (AMEX '24)  ·  </a:t>
            </a:r>
            <a:r>
              <a:rPr lang="en-US" sz="800" b="1">
                <a:solidFill>
                  <a:srgbClr val="4A4A4A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Patented</a:t>
            </a:r>
            <a:r>
              <a:rPr lang="en-US" sz="800">
                <a:solidFill>
                  <a:srgbClr val="4A4A4A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ML Innovation (COVID Detection)  ·  </a:t>
            </a:r>
            <a:r>
              <a:rPr lang="en-US" sz="800" b="1">
                <a:solidFill>
                  <a:srgbClr val="4A4A4A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$18M</a:t>
            </a:r>
            <a:r>
              <a:rPr lang="en-US" sz="800">
                <a:solidFill>
                  <a:srgbClr val="4A4A4A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+ Value Delivered</a:t>
            </a:r>
            <a:endParaRPr lang="en-US" sz="825">
              <a:latin typeface="Graphik" panose="020B0503030202060203" pitchFamily="34" charset="0"/>
            </a:endParaRPr>
          </a:p>
        </p:txBody>
      </p:sp>
      <p:sp>
        <p:nvSpPr>
          <p:cNvPr id="33" name="F1"/>
          <p:cNvSpPr>
            <a:spLocks/>
          </p:cNvSpPr>
          <p:nvPr/>
        </p:nvSpPr>
        <p:spPr>
          <a:xfrm>
            <a:off x="274320" y="467534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US" sz="2200" b="1">
                <a:solidFill>
                  <a:srgbClr val="A100FF"/>
                </a:solidFill>
                <a:latin typeface="Graphik" panose="020B0503030202060203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200">
              <a:latin typeface="Graphik" panose="020B0503030202060203" pitchFamily="34" charset="0"/>
            </a:endParaRPr>
          </a:p>
        </p:txBody>
      </p:sp>
      <p:sp>
        <p:nvSpPr>
          <p:cNvPr id="37" name="XInline"/>
          <p:cNvSpPr/>
          <p:nvPr/>
        </p:nvSpPr>
        <p:spPr>
          <a:xfrm>
            <a:off x="324612" y="4067248"/>
            <a:ext cx="8183880" cy="228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 Semibold" panose="020B0703030202060203" pitchFamily="34" charset="0"/>
              </a:rPr>
              <a:t>  Stakeholder Management  ·  Data-Driven Strategy  · AI/ML Solutioning  ·  Process Optimization · Cross-functional Leadership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D6C39-98AF-818B-1697-FBDFD437E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2BBF64-5A18-9F7D-76C6-2F462EF36B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0" y="4767263"/>
            <a:ext cx="320386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5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8F11B6-AC1D-CE21-56AE-A5C75842FA4F}"/>
              </a:ext>
            </a:extLst>
          </p:cNvPr>
          <p:cNvGrpSpPr/>
          <p:nvPr/>
        </p:nvGrpSpPr>
        <p:grpSpPr>
          <a:xfrm>
            <a:off x="7154049" y="769627"/>
            <a:ext cx="1248703" cy="1254417"/>
            <a:chOff x="6326749" y="713449"/>
            <a:chExt cx="1248703" cy="1254417"/>
          </a:xfrm>
        </p:grpSpPr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57A6CB77-B88A-2957-C752-37EC4443EF91}"/>
                </a:ext>
              </a:extLst>
            </p:cNvPr>
            <p:cNvSpPr/>
            <p:nvPr/>
          </p:nvSpPr>
          <p:spPr>
            <a:xfrm>
              <a:off x="6326749" y="713449"/>
              <a:ext cx="1248703" cy="1254417"/>
            </a:xfrm>
            <a:prstGeom prst="ellipse">
              <a:avLst/>
            </a:prstGeom>
            <a:solidFill>
              <a:srgbClr val="F0F0F0"/>
            </a:solidFill>
            <a:ln w="25400">
              <a:solidFill>
                <a:srgbClr val="D0D0D0"/>
              </a:solidFill>
              <a:prstDash val="solid"/>
            </a:ln>
          </p:spPr>
          <p:txBody>
            <a:bodyPr wrap="square" lIns="0" tIns="0" rIns="0" bIns="0" rtlCol="0" anchor="ctr" anchorCtr="1"/>
            <a:lstStyle/>
            <a:p>
              <a:pPr algn="ctr">
                <a:buNone/>
              </a:pPr>
              <a:r>
                <a:rPr lang="en-US" sz="1000">
                  <a:solidFill>
                    <a:srgbClr val="888888"/>
                  </a:solidFill>
                  <a:latin typeface="Graphik" panose="020B0503030202060203" pitchFamily="34" charset="0"/>
                </a:rPr>
                <a:t>[Photo]</a:t>
              </a:r>
              <a:endParaRPr lang="en-US">
                <a:latin typeface="Graphik" panose="020B0503030202060203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E1643C9-2FBF-BE90-1012-E129F1404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834"/>
            <a:stretch>
              <a:fillRect/>
            </a:stretch>
          </p:blipFill>
          <p:spPr>
            <a:xfrm>
              <a:off x="6358401" y="756175"/>
              <a:ext cx="1188877" cy="1194316"/>
            </a:xfrm>
            <a:prstGeom prst="ellipse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"/>
            <a:ext cx="4572000" cy="4310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>
                    <a:alpha val="60000"/>
                  </a:srgbClr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000">
              <a:latin typeface="Graphik" panose="020B050303020206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>
              <a:latin typeface="Graphik" panose="020B050303020206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>
                    <a:alpha val="80000"/>
                  </a:srgbClr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Project Objective &amp; Discovery-Led Approach</a:t>
            </a:r>
            <a:endParaRPr lang="en-US" sz="1600">
              <a:latin typeface="Graphik" panose="020B050303020206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>
                    <a:alpha val="60000"/>
                  </a:srgbClr>
                </a:solidFill>
                <a:latin typeface="Graphik" panose="020B0503030202060203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200">
              <a:latin typeface="Graphik" panose="020B0503030202060203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36378-5F0D-C980-2E9F-A8150F488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7988C261-A926-42ED-A6D6-82CD14CB0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8D198756-8A12-A7B8-EB64-73BA0D0A3BC9}"/>
              </a:ext>
            </a:extLst>
          </p:cNvPr>
          <p:cNvSpPr txBox="1">
            <a:spLocks/>
          </p:cNvSpPr>
          <p:nvPr/>
        </p:nvSpPr>
        <p:spPr>
          <a:xfrm>
            <a:off x="8638100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A68B0-ADB7-BD66-81EE-A0B09146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Line">
            <a:extLst>
              <a:ext uri="{FF2B5EF4-FFF2-40B4-BE49-F238E27FC236}">
                <a16:creationId xmlns:a16="http://schemas.microsoft.com/office/drawing/2014/main" id="{351B3631-E85F-0DF4-BA0C-E4380FF01943}"/>
              </a:ext>
            </a:extLst>
          </p:cNvPr>
          <p:cNvSpPr/>
          <p:nvPr/>
        </p:nvSpPr>
        <p:spPr>
          <a:xfrm>
            <a:off x="728886" y="-992068"/>
            <a:ext cx="8503920" cy="0"/>
          </a:xfrm>
          <a:prstGeom prst="line">
            <a:avLst/>
          </a:prstGeom>
          <a:noFill/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6" name="Footer Placeholder 5">
            <a:extLst>
              <a:ext uri="{FF2B5EF4-FFF2-40B4-BE49-F238E27FC236}">
                <a16:creationId xmlns:a16="http://schemas.microsoft.com/office/drawing/2014/main" id="{2C8FE5A7-3D4C-8B7C-293D-9B1F5079E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467" name="Slide Number Placeholder 8">
            <a:extLst>
              <a:ext uri="{FF2B5EF4-FFF2-40B4-BE49-F238E27FC236}">
                <a16:creationId xmlns:a16="http://schemas.microsoft.com/office/drawing/2014/main" id="{CBEDCFE8-2915-047D-C6A3-84F16494A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0" y="4767263"/>
            <a:ext cx="320386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/>
          </a:p>
        </p:txBody>
      </p:sp>
      <p:sp>
        <p:nvSpPr>
          <p:cNvPr id="604" name="T">
            <a:extLst>
              <a:ext uri="{FF2B5EF4-FFF2-40B4-BE49-F238E27FC236}">
                <a16:creationId xmlns:a16="http://schemas.microsoft.com/office/drawing/2014/main" id="{8375BF28-BDC1-047C-2425-8323F87E9341}"/>
              </a:ext>
            </a:extLst>
          </p:cNvPr>
          <p:cNvSpPr/>
          <p:nvPr/>
        </p:nvSpPr>
        <p:spPr>
          <a:xfrm>
            <a:off x="429067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GMI PDLC Transformation | Project Scope &amp; Approach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AFCFE27-EC4F-3C2A-069B-C463A113D590}"/>
              </a:ext>
            </a:extLst>
          </p:cNvPr>
          <p:cNvSpPr/>
          <p:nvPr/>
        </p:nvSpPr>
        <p:spPr>
          <a:xfrm>
            <a:off x="4104215" y="983802"/>
            <a:ext cx="4685457" cy="1803335"/>
          </a:xfrm>
          <a:prstGeom prst="roundRect">
            <a:avLst>
              <a:gd name="adj" fmla="val 4926"/>
            </a:avLst>
          </a:prstGeom>
          <a:solidFill>
            <a:srgbClr val="FFFFFF"/>
          </a:solidFill>
          <a:ln w="19050">
            <a:solidFill>
              <a:srgbClr val="A000FF"/>
            </a:solidFill>
            <a:prstDash val="solid"/>
          </a:ln>
        </p:spPr>
        <p:txBody>
          <a:bodyPr/>
          <a:lstStyle/>
          <a:p>
            <a:pPr marL="0" marR="0" lvl="0" indent="0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2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9594CE4-83C4-65C8-54DA-662CA63AD25C}"/>
              </a:ext>
            </a:extLst>
          </p:cNvPr>
          <p:cNvGrpSpPr/>
          <p:nvPr/>
        </p:nvGrpSpPr>
        <p:grpSpPr>
          <a:xfrm>
            <a:off x="463020" y="957221"/>
            <a:ext cx="2911116" cy="3806622"/>
            <a:chOff x="617361" y="1345303"/>
            <a:chExt cx="3270880" cy="5011738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3E38BEF-C1F7-CA79-25A7-6BBB02186403}"/>
                </a:ext>
              </a:extLst>
            </p:cNvPr>
            <p:cNvSpPr/>
            <p:nvPr/>
          </p:nvSpPr>
          <p:spPr>
            <a:xfrm>
              <a:off x="617361" y="1345303"/>
              <a:ext cx="3270880" cy="5011738"/>
            </a:xfrm>
            <a:prstGeom prst="rect">
              <a:avLst/>
            </a:prstGeom>
            <a:gradFill>
              <a:gsLst>
                <a:gs pos="0">
                  <a:srgbClr val="1E265E"/>
                </a:gs>
                <a:gs pos="0">
                  <a:srgbClr val="7400C0"/>
                </a:gs>
                <a:gs pos="100000">
                  <a:srgbClr val="A000FF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68580" bIns="68580" rtlCol="0" anchor="ctr"/>
            <a:lstStyle/>
            <a:p>
              <a:pPr marL="0" marR="0" lvl="0" indent="0" algn="ctr" defTabSz="68578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2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43F907AD-A9FF-C83A-CC4D-E6E1E85693F1}"/>
                </a:ext>
              </a:extLst>
            </p:cNvPr>
            <p:cNvSpPr/>
            <p:nvPr/>
          </p:nvSpPr>
          <p:spPr bwMode="auto">
            <a:xfrm rot="10800000">
              <a:off x="734317" y="1493239"/>
              <a:ext cx="3036297" cy="4725719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20002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45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</a:endParaRPr>
            </a:p>
          </p:txBody>
        </p:sp>
      </p:grpSp>
      <p:sp>
        <p:nvSpPr>
          <p:cNvPr id="49" name="Text 14">
            <a:extLst>
              <a:ext uri="{FF2B5EF4-FFF2-40B4-BE49-F238E27FC236}">
                <a16:creationId xmlns:a16="http://schemas.microsoft.com/office/drawing/2014/main" id="{17CAF37B-97EC-70AE-BFA3-2244AD8E95A9}"/>
              </a:ext>
            </a:extLst>
          </p:cNvPr>
          <p:cNvSpPr/>
          <p:nvPr/>
        </p:nvSpPr>
        <p:spPr>
          <a:xfrm>
            <a:off x="670302" y="1558968"/>
            <a:ext cx="2467739" cy="229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585" indent="-128585" algn="just" defTabSz="68578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333333"/>
                </a:solidFill>
                <a:latin typeface="Graphik"/>
                <a:ea typeface="Calibri" pitchFamily="34" charset="-122"/>
                <a:cs typeface="Calibri" pitchFamily="34" charset="-120"/>
              </a:rPr>
              <a:t>Move GMI from fragmented, tool-level AI pilots to an </a:t>
            </a:r>
            <a:r>
              <a:rPr lang="en-US" sz="750" b="1" dirty="0">
                <a:solidFill>
                  <a:srgbClr val="A000FF"/>
                </a:solidFill>
                <a:latin typeface="Graphik"/>
                <a:ea typeface="Calibri" pitchFamily="34" charset="-122"/>
                <a:cs typeface="Calibri" pitchFamily="34" charset="-120"/>
              </a:rPr>
              <a:t>end-to-end AI-embedded delivery lifecycle</a:t>
            </a:r>
            <a:r>
              <a:rPr lang="en-US" sz="750" dirty="0">
                <a:solidFill>
                  <a:srgbClr val="A000FF"/>
                </a:solidFill>
                <a:latin typeface="Graphik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50" dirty="0">
                <a:solidFill>
                  <a:srgbClr val="333333"/>
                </a:solidFill>
                <a:latin typeface="Graphik"/>
                <a:ea typeface="Calibri" pitchFamily="34" charset="-122"/>
                <a:cs typeface="Calibri" pitchFamily="34" charset="-120"/>
              </a:rPr>
              <a:t>across all five archetypes.</a:t>
            </a:r>
          </a:p>
          <a:p>
            <a:pPr marL="128585" indent="-128585" algn="just" defTabSz="68578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333333"/>
                </a:solidFill>
                <a:latin typeface="Graphik"/>
                <a:ea typeface="Calibri" pitchFamily="34" charset="-122"/>
                <a:cs typeface="Calibri" pitchFamily="34" charset="-120"/>
              </a:rPr>
              <a:t>Unified </a:t>
            </a:r>
            <a:r>
              <a:rPr lang="en-US" sz="750" dirty="0">
                <a:solidFill>
                  <a:srgbClr val="000000"/>
                </a:solidFill>
                <a:latin typeface="Graphik"/>
                <a:ea typeface="Calibri" pitchFamily="34" charset="-122"/>
                <a:cs typeface="Calibri" pitchFamily="34" charset="-120"/>
              </a:rPr>
              <a:t>process baseline</a:t>
            </a:r>
            <a:r>
              <a:rPr lang="en-US" sz="750" b="1" dirty="0">
                <a:solidFill>
                  <a:srgbClr val="A000FF"/>
                </a:solidFill>
                <a:latin typeface="Graphik"/>
                <a:ea typeface="Calibri" pitchFamily="34" charset="-122"/>
                <a:cs typeface="Calibri" pitchFamily="34" charset="-120"/>
              </a:rPr>
              <a:t> where none existed across archetypes</a:t>
            </a:r>
            <a:endParaRPr lang="en-US" sz="750" b="1" dirty="0">
              <a:solidFill>
                <a:srgbClr val="A000FF"/>
              </a:solidFill>
              <a:latin typeface="Graphik"/>
            </a:endParaRPr>
          </a:p>
          <a:p>
            <a:pPr marL="128585" indent="-128585" algn="just" defTabSz="68578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333333"/>
                </a:solidFill>
                <a:latin typeface="Graphik"/>
                <a:ea typeface="Calibri"/>
                <a:cs typeface="Calibri"/>
              </a:rPr>
              <a:t>AI </a:t>
            </a:r>
            <a:r>
              <a:rPr lang="en-US" sz="750" b="1" dirty="0">
                <a:solidFill>
                  <a:srgbClr val="A000FF"/>
                </a:solidFill>
                <a:latin typeface="Graphik"/>
                <a:ea typeface="Calibri"/>
                <a:cs typeface="Calibri"/>
              </a:rPr>
              <a:t>embedded at every lifecycle stage </a:t>
            </a:r>
            <a:r>
              <a:rPr lang="en-US" sz="750" dirty="0">
                <a:solidFill>
                  <a:srgbClr val="333333"/>
                </a:solidFill>
                <a:latin typeface="Graphik"/>
                <a:ea typeface="Calibri"/>
                <a:cs typeface="Calibri"/>
              </a:rPr>
              <a:t>not bolted on at one</a:t>
            </a:r>
            <a:endParaRPr lang="en-US" sz="750" dirty="0">
              <a:solidFill>
                <a:srgbClr val="000000"/>
              </a:solidFill>
              <a:latin typeface="Graphik"/>
              <a:ea typeface="Calibri"/>
              <a:cs typeface="Calibri"/>
            </a:endParaRPr>
          </a:p>
          <a:p>
            <a:pPr marL="128585" indent="-128585" algn="just" defTabSz="68578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333333"/>
                </a:solidFill>
                <a:latin typeface="Graphik"/>
                <a:ea typeface="Calibri" pitchFamily="34" charset="-122"/>
                <a:cs typeface="Calibri" pitchFamily="34" charset="-120"/>
              </a:rPr>
              <a:t>Measurable </a:t>
            </a:r>
            <a:r>
              <a:rPr lang="en-US" sz="750" b="1" dirty="0">
                <a:solidFill>
                  <a:srgbClr val="A000FF"/>
                </a:solidFill>
                <a:latin typeface="Graphik"/>
                <a:ea typeface="Calibri" pitchFamily="34" charset="-122"/>
                <a:cs typeface="Calibri" pitchFamily="34" charset="-120"/>
              </a:rPr>
              <a:t>outcomes replacing activity-based tracking</a:t>
            </a:r>
            <a:endParaRPr lang="en-US" sz="750" b="1" dirty="0">
              <a:solidFill>
                <a:srgbClr val="A000FF"/>
              </a:solidFill>
              <a:latin typeface="Graphik"/>
            </a:endParaRPr>
          </a:p>
          <a:p>
            <a:pPr marL="128585" indent="-128585" algn="just" defTabSz="685783"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750" dirty="0">
                <a:solidFill>
                  <a:srgbClr val="333333"/>
                </a:solidFill>
                <a:latin typeface="Graphik"/>
                <a:ea typeface="Calibri"/>
                <a:cs typeface="Calibri"/>
              </a:rPr>
              <a:t>Delivery model designed for </a:t>
            </a:r>
            <a:r>
              <a:rPr lang="en-US" sz="750" b="1" dirty="0">
                <a:solidFill>
                  <a:srgbClr val="A000FF"/>
                </a:solidFill>
                <a:latin typeface="Graphik"/>
                <a:ea typeface="Calibri"/>
                <a:cs typeface="Calibri"/>
              </a:rPr>
              <a:t>Human + Agent collaboration</a:t>
            </a:r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A8C4EA29-1D04-7D77-3CA8-E81EF67C1DE7}"/>
              </a:ext>
            </a:extLst>
          </p:cNvPr>
          <p:cNvSpPr/>
          <p:nvPr/>
        </p:nvSpPr>
        <p:spPr>
          <a:xfrm>
            <a:off x="731605" y="1176958"/>
            <a:ext cx="1840706" cy="235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783">
              <a:defRPr/>
            </a:pPr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/>
              </a:rPr>
              <a:t>Project Objective</a:t>
            </a:r>
          </a:p>
        </p:txBody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C4D511ED-4A15-EC05-F812-33555870E545}"/>
              </a:ext>
            </a:extLst>
          </p:cNvPr>
          <p:cNvSpPr/>
          <p:nvPr/>
        </p:nvSpPr>
        <p:spPr>
          <a:xfrm>
            <a:off x="3715707" y="973874"/>
            <a:ext cx="462570" cy="1828800"/>
          </a:xfrm>
          <a:prstGeom prst="roundRect">
            <a:avLst>
              <a:gd name="adj" fmla="val 7273"/>
            </a:avLst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1" i="0" u="none" strike="noStrike" kern="0" cap="none" spc="-23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608D22F3-E02A-0F19-0D02-4C58D7D76308}"/>
              </a:ext>
            </a:extLst>
          </p:cNvPr>
          <p:cNvSpPr/>
          <p:nvPr/>
        </p:nvSpPr>
        <p:spPr>
          <a:xfrm rot="16200000">
            <a:off x="3036558" y="1667256"/>
            <a:ext cx="1783081" cy="46257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marL="0" marR="0" lvl="0" indent="0" algn="ctr" defTabSz="6857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-2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Discovery Led Approach</a:t>
            </a:r>
          </a:p>
        </p:txBody>
      </p:sp>
      <p:sp>
        <p:nvSpPr>
          <p:cNvPr id="56" name="Text 22">
            <a:extLst>
              <a:ext uri="{FF2B5EF4-FFF2-40B4-BE49-F238E27FC236}">
                <a16:creationId xmlns:a16="http://schemas.microsoft.com/office/drawing/2014/main" id="{2438ADA9-9031-E0EB-3BE8-F31983574C25}"/>
              </a:ext>
            </a:extLst>
          </p:cNvPr>
          <p:cNvSpPr/>
          <p:nvPr/>
        </p:nvSpPr>
        <p:spPr>
          <a:xfrm>
            <a:off x="4335043" y="1808048"/>
            <a:ext cx="173736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defTabSz="685783"/>
            <a:endParaRPr lang="en-US" sz="600">
              <a:solidFill>
                <a:srgbClr val="000000"/>
              </a:solidFill>
              <a:latin typeface="Graphik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31F41A3-7CF5-BF02-E9FF-B48E02DC68B3}"/>
              </a:ext>
            </a:extLst>
          </p:cNvPr>
          <p:cNvGrpSpPr/>
          <p:nvPr/>
        </p:nvGrpSpPr>
        <p:grpSpPr>
          <a:xfrm>
            <a:off x="7414794" y="1284543"/>
            <a:ext cx="1383025" cy="1353792"/>
            <a:chOff x="7288416" y="1143299"/>
            <a:chExt cx="1383025" cy="1415891"/>
          </a:xfrm>
        </p:grpSpPr>
        <p:pic>
          <p:nvPicPr>
            <p:cNvPr id="448" name="Graphic 447">
              <a:extLst>
                <a:ext uri="{FF2B5EF4-FFF2-40B4-BE49-F238E27FC236}">
                  <a16:creationId xmlns:a16="http://schemas.microsoft.com/office/drawing/2014/main" id="{4C467555-33B9-463A-2139-B17567A0D8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48073" y="1143299"/>
              <a:ext cx="303065" cy="303065"/>
            </a:xfrm>
            <a:prstGeom prst="rect">
              <a:avLst/>
            </a:prstGeom>
          </p:spPr>
        </p:pic>
        <p:sp>
          <p:nvSpPr>
            <p:cNvPr id="449" name="Text 21">
              <a:extLst>
                <a:ext uri="{FF2B5EF4-FFF2-40B4-BE49-F238E27FC236}">
                  <a16:creationId xmlns:a16="http://schemas.microsoft.com/office/drawing/2014/main" id="{2CE6A18B-4B2D-30F4-74FC-1DDFA8E6C8F1}"/>
                </a:ext>
              </a:extLst>
            </p:cNvPr>
            <p:cNvSpPr/>
            <p:nvPr/>
          </p:nvSpPr>
          <p:spPr>
            <a:xfrm>
              <a:off x="7288416" y="1287969"/>
              <a:ext cx="1383025" cy="1271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>
                <a:defRPr/>
              </a:pPr>
              <a:r>
                <a:rPr lang="en-US" sz="900" b="1" spc="-23" dirty="0">
                  <a:gradFill flip="none" rotWithShape="1">
                    <a:gsLst>
                      <a:gs pos="0">
                        <a:srgbClr val="A000FF">
                          <a:lumMod val="50000"/>
                        </a:srgbClr>
                      </a:gs>
                      <a:gs pos="99000">
                        <a:srgbClr val="A000FF"/>
                      </a:gs>
                    </a:gsLst>
                    <a:lin ang="10800000" scaled="1"/>
                    <a:tileRect/>
                  </a:gradFill>
                  <a:latin typeface="Graphik Semibold" panose="020B0703030202060203" pitchFamily="34" charset="0"/>
                </a:rPr>
                <a:t>Measure &amp; Scale</a:t>
              </a:r>
            </a:p>
            <a:p>
              <a:pPr defTabSz="685783"/>
              <a:endParaRPr lang="en-US" sz="675" b="1" i="1" dirty="0">
                <a:solidFill>
                  <a:srgbClr val="007B6E"/>
                </a:solidFill>
                <a:latin typeface="Graphik"/>
                <a:ea typeface="Calibri" pitchFamily="34" charset="-122"/>
                <a:cs typeface="Calibri" pitchFamily="34" charset="-120"/>
              </a:endParaRPr>
            </a:p>
            <a:p>
              <a:pPr defTabSz="685783"/>
              <a:r>
                <a:rPr lang="en-US" sz="675" dirty="0">
                  <a:solidFill>
                    <a:srgbClr val="333333"/>
                  </a:solidFill>
                  <a:latin typeface="Graphik"/>
                  <a:ea typeface="Calibri" pitchFamily="34" charset="-122"/>
                  <a:cs typeface="Calibri" pitchFamily="34" charset="-120"/>
                </a:rPr>
                <a:t>Define metrics framework, governance structure and phased scale-up roadmap from utility agents to orchestrated delivery</a:t>
              </a:r>
            </a:p>
          </p:txBody>
        </p:sp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6B604E78-82E6-2739-786C-839F7CF23EFE}"/>
              </a:ext>
            </a:extLst>
          </p:cNvPr>
          <p:cNvGrpSpPr/>
          <p:nvPr/>
        </p:nvGrpSpPr>
        <p:grpSpPr>
          <a:xfrm>
            <a:off x="4348822" y="1321715"/>
            <a:ext cx="1383025" cy="1353794"/>
            <a:chOff x="4222444" y="1205396"/>
            <a:chExt cx="1383025" cy="1353794"/>
          </a:xfrm>
        </p:grpSpPr>
        <p:sp>
          <p:nvSpPr>
            <p:cNvPr id="451" name="Text 21">
              <a:extLst>
                <a:ext uri="{FF2B5EF4-FFF2-40B4-BE49-F238E27FC236}">
                  <a16:creationId xmlns:a16="http://schemas.microsoft.com/office/drawing/2014/main" id="{FF7F0102-2770-3E73-60B4-0EB1CD4362E2}"/>
                </a:ext>
              </a:extLst>
            </p:cNvPr>
            <p:cNvSpPr/>
            <p:nvPr/>
          </p:nvSpPr>
          <p:spPr>
            <a:xfrm>
              <a:off x="4222444" y="1287969"/>
              <a:ext cx="1383025" cy="1271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>
                <a:defRPr/>
              </a:pPr>
              <a:r>
                <a:rPr lang="en-US" sz="900" b="1" spc="-23" dirty="0">
                  <a:gradFill flip="none" rotWithShape="1">
                    <a:gsLst>
                      <a:gs pos="0">
                        <a:srgbClr val="A000FF">
                          <a:lumMod val="50000"/>
                        </a:srgbClr>
                      </a:gs>
                      <a:gs pos="99000">
                        <a:srgbClr val="A000FF"/>
                      </a:gs>
                    </a:gsLst>
                    <a:lin ang="10800000" scaled="1"/>
                    <a:tileRect/>
                  </a:gradFill>
                  <a:latin typeface="Graphik Semibold" panose="020B0703030202060203" pitchFamily="34" charset="0"/>
                </a:rPr>
                <a:t>Diagnose</a:t>
              </a:r>
            </a:p>
            <a:p>
              <a:pPr defTabSz="685783"/>
              <a:endParaRPr lang="en-US" sz="675" b="1" i="1" dirty="0">
                <a:solidFill>
                  <a:srgbClr val="007B6E"/>
                </a:solidFill>
                <a:latin typeface="Graphik"/>
                <a:ea typeface="Calibri" pitchFamily="34" charset="-122"/>
                <a:cs typeface="Calibri" pitchFamily="34" charset="-120"/>
              </a:endParaRPr>
            </a:p>
            <a:p>
              <a:pPr defTabSz="685783"/>
              <a:r>
                <a:rPr lang="en-US" sz="675" dirty="0">
                  <a:solidFill>
                    <a:srgbClr val="333333"/>
                  </a:solidFill>
                  <a:latin typeface="Graphik"/>
                  <a:ea typeface="Calibri" pitchFamily="34" charset="-122"/>
                  <a:cs typeface="Calibri" pitchFamily="34" charset="-120"/>
                </a:rPr>
                <a:t>Map current-state PDLC across five archetypes and six lifecycle phases, surface friction</a:t>
              </a:r>
              <a:r>
                <a:rPr lang="en-US" sz="675" b="1" dirty="0">
                  <a:solidFill>
                    <a:srgbClr val="333333"/>
                  </a:solidFill>
                  <a:latin typeface="Graphik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675" dirty="0">
                  <a:solidFill>
                    <a:srgbClr val="333333"/>
                  </a:solidFill>
                  <a:latin typeface="Graphik"/>
                  <a:ea typeface="Calibri" pitchFamily="34" charset="-122"/>
                  <a:cs typeface="Calibri" pitchFamily="34" charset="-120"/>
                </a:rPr>
                <a:t>through cross-archetype pattern evidence</a:t>
              </a:r>
            </a:p>
          </p:txBody>
        </p:sp>
        <p:pic>
          <p:nvPicPr>
            <p:cNvPr id="452" name="Graphic 451">
              <a:extLst>
                <a:ext uri="{FF2B5EF4-FFF2-40B4-BE49-F238E27FC236}">
                  <a16:creationId xmlns:a16="http://schemas.microsoft.com/office/drawing/2014/main" id="{DEFE2A95-E19C-25C5-A47E-A4AE8F344FB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300423" y="1205396"/>
              <a:ext cx="274698" cy="274698"/>
            </a:xfrm>
            <a:prstGeom prst="rect">
              <a:avLst/>
            </a:prstGeom>
          </p:spPr>
        </p:pic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40F876A5-667C-2239-7C0E-50EDEDEE7C11}"/>
              </a:ext>
            </a:extLst>
          </p:cNvPr>
          <p:cNvGrpSpPr/>
          <p:nvPr/>
        </p:nvGrpSpPr>
        <p:grpSpPr>
          <a:xfrm>
            <a:off x="5874374" y="1284545"/>
            <a:ext cx="1383025" cy="1353794"/>
            <a:chOff x="5755430" y="1161024"/>
            <a:chExt cx="1383025" cy="1398166"/>
          </a:xfrm>
        </p:grpSpPr>
        <p:sp>
          <p:nvSpPr>
            <p:cNvPr id="463" name="Text 21">
              <a:extLst>
                <a:ext uri="{FF2B5EF4-FFF2-40B4-BE49-F238E27FC236}">
                  <a16:creationId xmlns:a16="http://schemas.microsoft.com/office/drawing/2014/main" id="{D6F2689E-37CC-47C1-7013-B52FBF85EC66}"/>
                </a:ext>
              </a:extLst>
            </p:cNvPr>
            <p:cNvSpPr/>
            <p:nvPr/>
          </p:nvSpPr>
          <p:spPr>
            <a:xfrm>
              <a:off x="5755430" y="1287969"/>
              <a:ext cx="1383025" cy="12712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>
                <a:defRPr/>
              </a:pPr>
              <a:r>
                <a:rPr lang="en-US" sz="900" b="1" spc="-23" dirty="0">
                  <a:gradFill flip="none" rotWithShape="1">
                    <a:gsLst>
                      <a:gs pos="0">
                        <a:srgbClr val="A000FF">
                          <a:lumMod val="50000"/>
                        </a:srgbClr>
                      </a:gs>
                      <a:gs pos="99000">
                        <a:srgbClr val="A000FF"/>
                      </a:gs>
                    </a:gsLst>
                    <a:lin ang="10800000" scaled="1"/>
                    <a:tileRect/>
                  </a:gradFill>
                  <a:latin typeface="Graphik Semibold" panose="020B0703030202060203" pitchFamily="34" charset="0"/>
                </a:rPr>
                <a:t>Prioritize &amp; Prove</a:t>
              </a:r>
            </a:p>
            <a:p>
              <a:pPr defTabSz="685783"/>
              <a:endParaRPr lang="en-US" sz="675" b="1" i="1" dirty="0">
                <a:solidFill>
                  <a:srgbClr val="007B6E"/>
                </a:solidFill>
                <a:latin typeface="Graphik"/>
                <a:ea typeface="Calibri" pitchFamily="34" charset="-122"/>
                <a:cs typeface="Calibri" pitchFamily="34" charset="-120"/>
              </a:endParaRPr>
            </a:p>
            <a:p>
              <a:pPr defTabSz="685783"/>
              <a:r>
                <a:rPr lang="en-US" sz="675" dirty="0">
                  <a:solidFill>
                    <a:srgbClr val="333333"/>
                  </a:solidFill>
                  <a:latin typeface="Graphik"/>
                  <a:ea typeface="Calibri" pitchFamily="34" charset="-122"/>
                  <a:cs typeface="Calibri" pitchFamily="34" charset="-120"/>
                </a:rPr>
                <a:t>Convert friction into stage-wise AI opportunities, prioritize by value and feasibility, validate through three focused PoC pilots</a:t>
              </a:r>
            </a:p>
          </p:txBody>
        </p:sp>
        <p:pic>
          <p:nvPicPr>
            <p:cNvPr id="464" name="Graphic 463">
              <a:extLst>
                <a:ext uri="{FF2B5EF4-FFF2-40B4-BE49-F238E27FC236}">
                  <a16:creationId xmlns:a16="http://schemas.microsoft.com/office/drawing/2014/main" id="{8AB392AC-891C-1376-9E5D-497F0C6328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14546" y="1161024"/>
              <a:ext cx="315466" cy="315466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2BC22DB-5E9F-D2F6-6157-B3D077652E55}"/>
              </a:ext>
            </a:extLst>
          </p:cNvPr>
          <p:cNvGrpSpPr/>
          <p:nvPr/>
        </p:nvGrpSpPr>
        <p:grpSpPr>
          <a:xfrm>
            <a:off x="3699859" y="2966223"/>
            <a:ext cx="5139426" cy="1785569"/>
            <a:chOff x="3699859" y="2966223"/>
            <a:chExt cx="5139426" cy="1785569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694071D-1293-0333-8ED2-DD0EF019DA2D}"/>
                </a:ext>
              </a:extLst>
            </p:cNvPr>
            <p:cNvSpPr>
              <a:spLocks/>
            </p:cNvSpPr>
            <p:nvPr/>
          </p:nvSpPr>
          <p:spPr>
            <a:xfrm>
              <a:off x="4104215" y="2973659"/>
              <a:ext cx="4685457" cy="1754458"/>
            </a:xfrm>
            <a:prstGeom prst="roundRect">
              <a:avLst>
                <a:gd name="adj" fmla="val 4926"/>
              </a:avLst>
            </a:prstGeom>
            <a:solidFill>
              <a:srgbClr val="FFFFFF"/>
            </a:solidFill>
            <a:ln w="19050">
              <a:solidFill>
                <a:srgbClr val="A000FF"/>
              </a:solidFill>
              <a:prstDash val="solid"/>
            </a:ln>
          </p:spPr>
          <p:txBody>
            <a:bodyPr/>
            <a:lstStyle/>
            <a:p>
              <a:pPr marL="0" marR="0" lvl="0" indent="0" defTabSz="68578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82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4" name="Shape 1">
              <a:extLst>
                <a:ext uri="{FF2B5EF4-FFF2-40B4-BE49-F238E27FC236}">
                  <a16:creationId xmlns:a16="http://schemas.microsoft.com/office/drawing/2014/main" id="{00EAE152-C498-7273-E853-245583D07FEB}"/>
                </a:ext>
              </a:extLst>
            </p:cNvPr>
            <p:cNvSpPr>
              <a:spLocks/>
            </p:cNvSpPr>
            <p:nvPr/>
          </p:nvSpPr>
          <p:spPr>
            <a:xfrm>
              <a:off x="3715709" y="2966223"/>
              <a:ext cx="462570" cy="1778327"/>
            </a:xfrm>
            <a:prstGeom prst="roundRect">
              <a:avLst>
                <a:gd name="adj" fmla="val 7273"/>
              </a:avLst>
            </a:prstGeom>
            <a:gradFill>
              <a:gsLst>
                <a:gs pos="0">
                  <a:srgbClr val="1E265E"/>
                </a:gs>
                <a:gs pos="0">
                  <a:srgbClr val="7400C0"/>
                </a:gs>
                <a:gs pos="100000">
                  <a:srgbClr val="A000FF"/>
                </a:gs>
              </a:gsLst>
              <a:lin ang="0" scaled="1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tIns="68580" bIns="68580" rtlCol="0" anchor="ctr"/>
            <a:lstStyle/>
            <a:p>
              <a:pPr marL="0" marR="0" lvl="0" indent="0" algn="ctr" defTabSz="68578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00" b="1" i="0" u="none" strike="noStrike" kern="0" cap="none" spc="-2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84A2C9FF-1797-CBD7-4127-ACB1380575EC}"/>
                </a:ext>
              </a:extLst>
            </p:cNvPr>
            <p:cNvSpPr>
              <a:spLocks/>
            </p:cNvSpPr>
            <p:nvPr/>
          </p:nvSpPr>
          <p:spPr>
            <a:xfrm rot="16200000">
              <a:off x="3039605" y="3628967"/>
              <a:ext cx="1783079" cy="4625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defTabSz="685783">
                <a:defRPr/>
              </a:pPr>
              <a:r>
                <a:rPr lang="en-US" sz="900" b="1" spc="-23">
                  <a:solidFill>
                    <a:srgbClr val="FFFFFF"/>
                  </a:solidFill>
                  <a:latin typeface="Graphik"/>
                </a:rPr>
                <a:t>My Key Workstreams</a:t>
              </a:r>
            </a:p>
          </p:txBody>
        </p:sp>
        <p:sp>
          <p:nvSpPr>
            <p:cNvPr id="453" name="Text 21">
              <a:extLst>
                <a:ext uri="{FF2B5EF4-FFF2-40B4-BE49-F238E27FC236}">
                  <a16:creationId xmlns:a16="http://schemas.microsoft.com/office/drawing/2014/main" id="{8EA21637-0F4B-FD0A-5F8C-78E1FE952B06}"/>
                </a:ext>
              </a:extLst>
            </p:cNvPr>
            <p:cNvSpPr/>
            <p:nvPr/>
          </p:nvSpPr>
          <p:spPr>
            <a:xfrm>
              <a:off x="4286889" y="3814534"/>
              <a:ext cx="1036268" cy="7723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/>
              <a:r>
                <a:rPr lang="en-US" sz="675">
                  <a:solidFill>
                    <a:srgbClr val="333333"/>
                  </a:solidFill>
                  <a:latin typeface="Graphik"/>
                  <a:ea typeface="Calibri" pitchFamily="34" charset="-122"/>
                  <a:cs typeface="Calibri" pitchFamily="34" charset="-120"/>
                </a:rPr>
                <a:t>Map pain points across archetypes and lifecycle stages, isolate shared vs. unique friction</a:t>
              </a:r>
            </a:p>
          </p:txBody>
        </p:sp>
        <p:sp>
          <p:nvSpPr>
            <p:cNvPr id="454" name="Text 21">
              <a:extLst>
                <a:ext uri="{FF2B5EF4-FFF2-40B4-BE49-F238E27FC236}">
                  <a16:creationId xmlns:a16="http://schemas.microsoft.com/office/drawing/2014/main" id="{32AAB667-CAFD-4092-9B34-E0F8EEEE7C54}"/>
                </a:ext>
              </a:extLst>
            </p:cNvPr>
            <p:cNvSpPr/>
            <p:nvPr/>
          </p:nvSpPr>
          <p:spPr>
            <a:xfrm>
              <a:off x="4301756" y="3466599"/>
              <a:ext cx="1181881" cy="40740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>
                <a:defRPr/>
              </a:pPr>
              <a:r>
                <a:rPr lang="en-US" sz="900" b="1" spc="-23" dirty="0">
                  <a:gradFill flip="none" rotWithShape="1">
                    <a:gsLst>
                      <a:gs pos="0">
                        <a:srgbClr val="A000FF">
                          <a:lumMod val="50000"/>
                        </a:srgbClr>
                      </a:gs>
                      <a:gs pos="99000">
                        <a:srgbClr val="A000FF"/>
                      </a:gs>
                    </a:gsLst>
                    <a:lin ang="10800000" scaled="1"/>
                    <a:tileRect/>
                  </a:gradFill>
                  <a:latin typeface="Graphik Semibold" panose="020B0703030202060203" pitchFamily="34" charset="0"/>
                </a:rPr>
                <a:t>Problem </a:t>
              </a:r>
            </a:p>
            <a:p>
              <a:pPr defTabSz="685783">
                <a:defRPr/>
              </a:pPr>
              <a:r>
                <a:rPr lang="en-US" sz="900" b="1" spc="-23" dirty="0">
                  <a:gradFill flip="none" rotWithShape="1">
                    <a:gsLst>
                      <a:gs pos="0">
                        <a:srgbClr val="A000FF">
                          <a:lumMod val="50000"/>
                        </a:srgbClr>
                      </a:gs>
                      <a:gs pos="99000">
                        <a:srgbClr val="A000FF"/>
                      </a:gs>
                    </a:gsLst>
                    <a:lin ang="10800000" scaled="1"/>
                    <a:tileRect/>
                  </a:gradFill>
                  <a:latin typeface="Graphik Semibold" panose="020B0703030202060203" pitchFamily="34" charset="0"/>
                </a:rPr>
                <a:t>Diagnosis</a:t>
              </a:r>
            </a:p>
          </p:txBody>
        </p:sp>
        <p:pic>
          <p:nvPicPr>
            <p:cNvPr id="455" name="Graphic 454">
              <a:extLst>
                <a:ext uri="{FF2B5EF4-FFF2-40B4-BE49-F238E27FC236}">
                  <a16:creationId xmlns:a16="http://schemas.microsoft.com/office/drawing/2014/main" id="{95B8F7A7-996A-94CC-C2FB-C0B78AEA07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83362" y="3213207"/>
              <a:ext cx="274698" cy="274698"/>
            </a:xfrm>
            <a:prstGeom prst="rect">
              <a:avLst/>
            </a:prstGeom>
          </p:spPr>
        </p:pic>
        <p:sp>
          <p:nvSpPr>
            <p:cNvPr id="456" name="Text 21">
              <a:extLst>
                <a:ext uri="{FF2B5EF4-FFF2-40B4-BE49-F238E27FC236}">
                  <a16:creationId xmlns:a16="http://schemas.microsoft.com/office/drawing/2014/main" id="{4179F9FE-1A2D-21CA-C467-911C80059521}"/>
                </a:ext>
              </a:extLst>
            </p:cNvPr>
            <p:cNvSpPr/>
            <p:nvPr/>
          </p:nvSpPr>
          <p:spPr>
            <a:xfrm>
              <a:off x="5364861" y="3814534"/>
              <a:ext cx="1164955" cy="7723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/>
              <a:r>
                <a:rPr lang="en-US" sz="675">
                  <a:solidFill>
                    <a:srgbClr val="333333"/>
                  </a:solidFill>
                  <a:latin typeface="Graphik"/>
                  <a:ea typeface="Calibri" pitchFamily="34" charset="-122"/>
                  <a:cs typeface="Calibri" pitchFamily="34" charset="-120"/>
                </a:rPr>
                <a:t>Define AI opportunities per archetype, build capability taxonomy, prioritize PoC candidates</a:t>
              </a:r>
            </a:p>
          </p:txBody>
        </p:sp>
        <p:sp>
          <p:nvSpPr>
            <p:cNvPr id="457" name="Text 21">
              <a:extLst>
                <a:ext uri="{FF2B5EF4-FFF2-40B4-BE49-F238E27FC236}">
                  <a16:creationId xmlns:a16="http://schemas.microsoft.com/office/drawing/2014/main" id="{83B96A94-FF31-AC48-54E1-16A47F299A1C}"/>
                </a:ext>
              </a:extLst>
            </p:cNvPr>
            <p:cNvSpPr/>
            <p:nvPr/>
          </p:nvSpPr>
          <p:spPr>
            <a:xfrm>
              <a:off x="5357427" y="3466883"/>
              <a:ext cx="1181881" cy="40740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>
                <a:defRPr/>
              </a:pPr>
              <a:r>
                <a:rPr lang="en-US" sz="900" b="1" spc="-23" dirty="0">
                  <a:gradFill flip="none" rotWithShape="1">
                    <a:gsLst>
                      <a:gs pos="0">
                        <a:srgbClr val="A000FF">
                          <a:lumMod val="50000"/>
                        </a:srgbClr>
                      </a:gs>
                      <a:gs pos="99000">
                        <a:srgbClr val="A000FF"/>
                      </a:gs>
                    </a:gsLst>
                    <a:lin ang="10800000" scaled="1"/>
                    <a:tileRect/>
                  </a:gradFill>
                  <a:latin typeface="Graphik Semibold" panose="020B0703030202060203" pitchFamily="34" charset="0"/>
                </a:rPr>
                <a:t>Opportunity Identification</a:t>
              </a:r>
            </a:p>
          </p:txBody>
        </p:sp>
        <p:pic>
          <p:nvPicPr>
            <p:cNvPr id="458" name="Graphic 457">
              <a:extLst>
                <a:ext uri="{FF2B5EF4-FFF2-40B4-BE49-F238E27FC236}">
                  <a16:creationId xmlns:a16="http://schemas.microsoft.com/office/drawing/2014/main" id="{367A8E97-4E32-1F2B-2B2F-F7094F1DFE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382188" y="3190645"/>
              <a:ext cx="284924" cy="284924"/>
            </a:xfrm>
            <a:prstGeom prst="rect">
              <a:avLst/>
            </a:prstGeom>
          </p:spPr>
        </p:pic>
        <p:sp>
          <p:nvSpPr>
            <p:cNvPr id="459" name="Text 21">
              <a:extLst>
                <a:ext uri="{FF2B5EF4-FFF2-40B4-BE49-F238E27FC236}">
                  <a16:creationId xmlns:a16="http://schemas.microsoft.com/office/drawing/2014/main" id="{4B3795B7-4B94-90FD-86F1-5B6D43EC2F71}"/>
                </a:ext>
              </a:extLst>
            </p:cNvPr>
            <p:cNvSpPr/>
            <p:nvPr/>
          </p:nvSpPr>
          <p:spPr>
            <a:xfrm>
              <a:off x="6509741" y="3799666"/>
              <a:ext cx="1164956" cy="77233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/>
              <a:r>
                <a:rPr lang="en-US" sz="675">
                  <a:solidFill>
                    <a:srgbClr val="333333"/>
                  </a:solidFill>
                  <a:latin typeface="Graphik"/>
                  <a:ea typeface="Calibri" pitchFamily="34" charset="-122"/>
                  <a:cs typeface="Calibri" pitchFamily="34" charset="-120"/>
                </a:rPr>
                <a:t>Shape PoC scope and narratives, co-define architectures, package for stakeholder alignment</a:t>
              </a:r>
            </a:p>
          </p:txBody>
        </p:sp>
        <p:sp>
          <p:nvSpPr>
            <p:cNvPr id="460" name="Text 21">
              <a:extLst>
                <a:ext uri="{FF2B5EF4-FFF2-40B4-BE49-F238E27FC236}">
                  <a16:creationId xmlns:a16="http://schemas.microsoft.com/office/drawing/2014/main" id="{55908BEE-A5BB-6FEF-063C-02E6CB9AD1D1}"/>
                </a:ext>
              </a:extLst>
            </p:cNvPr>
            <p:cNvSpPr/>
            <p:nvPr/>
          </p:nvSpPr>
          <p:spPr>
            <a:xfrm>
              <a:off x="6509740" y="3468564"/>
              <a:ext cx="1181881" cy="40740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defTabSz="685783">
                <a:defRPr/>
              </a:pPr>
              <a:r>
                <a:rPr lang="en-US" sz="900" b="1" spc="-23" dirty="0">
                  <a:gradFill flip="none" rotWithShape="1">
                    <a:gsLst>
                      <a:gs pos="0">
                        <a:srgbClr val="A000FF">
                          <a:lumMod val="50000"/>
                        </a:srgbClr>
                      </a:gs>
                      <a:gs pos="99000">
                        <a:srgbClr val="A000FF"/>
                      </a:gs>
                    </a:gsLst>
                    <a:lin ang="10800000" scaled="1"/>
                    <a:tileRect/>
                  </a:gradFill>
                  <a:latin typeface="Graphik Semibold" panose="020B0703030202060203" pitchFamily="34" charset="0"/>
                </a:rPr>
                <a:t>Solution </a:t>
              </a:r>
            </a:p>
            <a:p>
              <a:pPr defTabSz="685783">
                <a:defRPr/>
              </a:pPr>
              <a:r>
                <a:rPr lang="en-US" sz="900" b="1" spc="-23" dirty="0">
                  <a:gradFill flip="none" rotWithShape="1">
                    <a:gsLst>
                      <a:gs pos="0">
                        <a:srgbClr val="A000FF">
                          <a:lumMod val="50000"/>
                        </a:srgbClr>
                      </a:gs>
                      <a:gs pos="99000">
                        <a:srgbClr val="A000FF"/>
                      </a:gs>
                    </a:gsLst>
                    <a:lin ang="10800000" scaled="1"/>
                    <a:tileRect/>
                  </a:gradFill>
                  <a:latin typeface="Graphik Semibold" panose="020B0703030202060203" pitchFamily="34" charset="0"/>
                </a:rPr>
                <a:t>Positioning</a:t>
              </a:r>
            </a:p>
          </p:txBody>
        </p:sp>
        <p:pic>
          <p:nvPicPr>
            <p:cNvPr id="461" name="Graphic 460">
              <a:extLst>
                <a:ext uri="{FF2B5EF4-FFF2-40B4-BE49-F238E27FC236}">
                  <a16:creationId xmlns:a16="http://schemas.microsoft.com/office/drawing/2014/main" id="{BCA1EEB2-782A-095A-30DA-D1BC2DF9110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601778" y="3198052"/>
              <a:ext cx="262795" cy="262795"/>
            </a:xfrm>
            <a:prstGeom prst="rect">
              <a:avLst/>
            </a:prstGeom>
          </p:spPr>
        </p:pic>
        <p:grpSp>
          <p:nvGrpSpPr>
            <p:cNvPr id="465" name="Group 464">
              <a:extLst>
                <a:ext uri="{FF2B5EF4-FFF2-40B4-BE49-F238E27FC236}">
                  <a16:creationId xmlns:a16="http://schemas.microsoft.com/office/drawing/2014/main" id="{8DED3C5F-697A-F5D4-695B-F368816B5561}"/>
                </a:ext>
              </a:extLst>
            </p:cNvPr>
            <p:cNvGrpSpPr/>
            <p:nvPr/>
          </p:nvGrpSpPr>
          <p:grpSpPr>
            <a:xfrm>
              <a:off x="7657404" y="3183211"/>
              <a:ext cx="1181881" cy="1381355"/>
              <a:chOff x="7627668" y="3190645"/>
              <a:chExt cx="1181881" cy="1381355"/>
            </a:xfrm>
          </p:grpSpPr>
          <p:sp>
            <p:nvSpPr>
              <p:cNvPr id="468" name="Text 21">
                <a:extLst>
                  <a:ext uri="{FF2B5EF4-FFF2-40B4-BE49-F238E27FC236}">
                    <a16:creationId xmlns:a16="http://schemas.microsoft.com/office/drawing/2014/main" id="{85D5FC5B-2437-0A9A-2877-629E5F6DBF99}"/>
                  </a:ext>
                </a:extLst>
              </p:cNvPr>
              <p:cNvSpPr/>
              <p:nvPr/>
            </p:nvSpPr>
            <p:spPr>
              <a:xfrm>
                <a:off x="7627668" y="3799666"/>
                <a:ext cx="1109966" cy="77233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685783"/>
                <a:r>
                  <a:rPr lang="en-US" sz="675">
                    <a:solidFill>
                      <a:srgbClr val="333333"/>
                    </a:solidFill>
                    <a:latin typeface="Graphik"/>
                    <a:ea typeface="Calibri" pitchFamily="34" charset="-122"/>
                    <a:cs typeface="Calibri" pitchFamily="34" charset="-120"/>
                  </a:rPr>
                  <a:t>Build KPI framework, benchmark against industry, design baseline protocols for pilot validation</a:t>
                </a:r>
              </a:p>
            </p:txBody>
          </p:sp>
          <p:sp>
            <p:nvSpPr>
              <p:cNvPr id="469" name="Text 21">
                <a:extLst>
                  <a:ext uri="{FF2B5EF4-FFF2-40B4-BE49-F238E27FC236}">
                    <a16:creationId xmlns:a16="http://schemas.microsoft.com/office/drawing/2014/main" id="{D9E01486-FA24-7A7C-6123-A6CECE6C6845}"/>
                  </a:ext>
                </a:extLst>
              </p:cNvPr>
              <p:cNvSpPr/>
              <p:nvPr/>
            </p:nvSpPr>
            <p:spPr>
              <a:xfrm>
                <a:off x="7627668" y="3475569"/>
                <a:ext cx="1181881" cy="40740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defTabSz="685783">
                  <a:defRPr/>
                </a:pPr>
                <a:r>
                  <a:rPr lang="en-US" sz="900" b="1" spc="-23" dirty="0">
                    <a:gradFill flip="none" rotWithShape="1">
                      <a:gsLst>
                        <a:gs pos="0">
                          <a:srgbClr val="A000FF">
                            <a:lumMod val="50000"/>
                          </a:srgbClr>
                        </a:gs>
                        <a:gs pos="99000">
                          <a:srgbClr val="A000FF"/>
                        </a:gs>
                      </a:gsLst>
                      <a:lin ang="10800000" scaled="1"/>
                      <a:tileRect/>
                    </a:gradFill>
                    <a:latin typeface="Graphik Semibold" panose="020B0703030202060203" pitchFamily="34" charset="0"/>
                  </a:rPr>
                  <a:t>Measurement Design</a:t>
                </a:r>
              </a:p>
            </p:txBody>
          </p:sp>
          <p:pic>
            <p:nvPicPr>
              <p:cNvPr id="470" name="Graphic 469">
                <a:extLst>
                  <a:ext uri="{FF2B5EF4-FFF2-40B4-BE49-F238E27FC236}">
                    <a16:creationId xmlns:a16="http://schemas.microsoft.com/office/drawing/2014/main" id="{A6CFDD19-5F4C-7F7D-431A-EA16177573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7685183" y="3190645"/>
                <a:ext cx="284495" cy="284495"/>
              </a:xfrm>
              <a:prstGeom prst="rect">
                <a:avLst/>
              </a:prstGeom>
            </p:spPr>
          </p:pic>
        </p:grpSp>
      </p:grpSp>
      <p:pic>
        <p:nvPicPr>
          <p:cNvPr id="1026" name="Picture 2" descr="Crispy Cheerios Cereal Bowl Close-Up food diet isolated on transparent  background 55609431 PNG">
            <a:extLst>
              <a:ext uri="{FF2B5EF4-FFF2-40B4-BE49-F238E27FC236}">
                <a16:creationId xmlns:a16="http://schemas.microsoft.com/office/drawing/2014/main" id="{8F986DF9-1547-E182-FA3F-75C634269B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53"/>
          <a:stretch>
            <a:fillRect/>
          </a:stretch>
        </p:blipFill>
        <p:spPr bwMode="auto">
          <a:xfrm>
            <a:off x="1057227" y="3462087"/>
            <a:ext cx="1634032" cy="1196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05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"/>
            <a:ext cx="4572000" cy="4310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FFFFFF">
                    <a:alpha val="60000"/>
                  </a:srgbClr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000">
              <a:latin typeface="Graphik" panose="020B050303020206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Work Deliverables</a:t>
            </a:r>
            <a:endParaRPr lang="en-US" sz="3600">
              <a:latin typeface="Graphik" panose="020B050303020206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3108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FFFFF">
                    <a:alpha val="80000"/>
                  </a:srgbClr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Key outputs from my work</a:t>
            </a:r>
            <a:endParaRPr lang="en-US" sz="1600">
              <a:latin typeface="Graphik" panose="020B050303020206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>
                    <a:alpha val="60000"/>
                  </a:srgbClr>
                </a:solidFill>
                <a:latin typeface="Graphik" panose="020B0503030202060203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2200">
              <a:latin typeface="Graphik" panose="020B0503030202060203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D75260-2070-9D38-AB37-FE16DFB62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8</a:t>
            </a:fld>
            <a:endParaRPr 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9A56695-3CFC-7D85-B704-48E2959977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5414F025-AF4D-E700-BDBD-E2162A0AD166}"/>
              </a:ext>
            </a:extLst>
          </p:cNvPr>
          <p:cNvSpPr txBox="1">
            <a:spLocks/>
          </p:cNvSpPr>
          <p:nvPr/>
        </p:nvSpPr>
        <p:spPr>
          <a:xfrm>
            <a:off x="8638100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8C04A-E00C-4CCE-7C54-605C5C4A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Line">
            <a:extLst>
              <a:ext uri="{FF2B5EF4-FFF2-40B4-BE49-F238E27FC236}">
                <a16:creationId xmlns:a16="http://schemas.microsoft.com/office/drawing/2014/main" id="{43753248-CF4A-533D-5C8F-3089C625DA84}"/>
              </a:ext>
            </a:extLst>
          </p:cNvPr>
          <p:cNvSpPr/>
          <p:nvPr/>
        </p:nvSpPr>
        <p:spPr>
          <a:xfrm>
            <a:off x="728886" y="-992068"/>
            <a:ext cx="8503920" cy="0"/>
          </a:xfrm>
          <a:prstGeom prst="line">
            <a:avLst/>
          </a:prstGeom>
          <a:noFill/>
          <a:ln w="12700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6" name="Footer Placeholder 5">
            <a:extLst>
              <a:ext uri="{FF2B5EF4-FFF2-40B4-BE49-F238E27FC236}">
                <a16:creationId xmlns:a16="http://schemas.microsoft.com/office/drawing/2014/main" id="{CDE726AA-470A-CEB4-B4EB-A539F32C2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 dirty="0"/>
              <a:t>Copyright © 2026 Accenture. All rights reserved.</a:t>
            </a:r>
          </a:p>
        </p:txBody>
      </p:sp>
      <p:sp>
        <p:nvSpPr>
          <p:cNvPr id="467" name="Slide Number Placeholder 8">
            <a:extLst>
              <a:ext uri="{FF2B5EF4-FFF2-40B4-BE49-F238E27FC236}">
                <a16:creationId xmlns:a16="http://schemas.microsoft.com/office/drawing/2014/main" id="{C7D2BC27-E4E8-1168-98C8-A4DF21FD9B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0" y="4767263"/>
            <a:ext cx="320386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/>
          </a:p>
        </p:txBody>
      </p:sp>
      <p:sp>
        <p:nvSpPr>
          <p:cNvPr id="558" name="Freeform 343">
            <a:extLst>
              <a:ext uri="{FF2B5EF4-FFF2-40B4-BE49-F238E27FC236}">
                <a16:creationId xmlns:a16="http://schemas.microsoft.com/office/drawing/2014/main" id="{258ED16A-E752-F70B-49A0-3C91BCB7E24E}"/>
              </a:ext>
            </a:extLst>
          </p:cNvPr>
          <p:cNvSpPr>
            <a:spLocks/>
          </p:cNvSpPr>
          <p:nvPr/>
        </p:nvSpPr>
        <p:spPr bwMode="auto">
          <a:xfrm>
            <a:off x="2438173" y="918327"/>
            <a:ext cx="2057400" cy="3729991"/>
          </a:xfrm>
          <a:custGeom>
            <a:avLst/>
            <a:gdLst>
              <a:gd name="T0" fmla="*/ 2147483646 w 860"/>
              <a:gd name="T1" fmla="*/ 2147483646 h 1328"/>
              <a:gd name="T2" fmla="*/ 2147483646 w 860"/>
              <a:gd name="T3" fmla="*/ 2147483646 h 1328"/>
              <a:gd name="T4" fmla="*/ 0 w 860"/>
              <a:gd name="T5" fmla="*/ 2147483646 h 1328"/>
              <a:gd name="T6" fmla="*/ 0 w 860"/>
              <a:gd name="T7" fmla="*/ 2147483646 h 1328"/>
              <a:gd name="T8" fmla="*/ 2147483646 w 860"/>
              <a:gd name="T9" fmla="*/ 0 h 1328"/>
              <a:gd name="T10" fmla="*/ 2147483646 w 860"/>
              <a:gd name="T11" fmla="*/ 0 h 1328"/>
              <a:gd name="T12" fmla="*/ 2147483646 w 860"/>
              <a:gd name="T13" fmla="*/ 2147483646 h 1328"/>
              <a:gd name="T14" fmla="*/ 2147483646 w 860"/>
              <a:gd name="T15" fmla="*/ 2147483646 h 1328"/>
              <a:gd name="T16" fmla="*/ 2147483646 w 860"/>
              <a:gd name="T17" fmla="*/ 2147483646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0" y="1328"/>
                  <a:pt x="50" y="1328"/>
                  <a:pt x="50" y="1328"/>
                </a:cubicBezTo>
                <a:cubicBezTo>
                  <a:pt x="22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7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7" y="1328"/>
                  <a:pt x="810" y="1328"/>
                </a:cubicBezTo>
                <a:close/>
              </a:path>
            </a:pathLst>
          </a:custGeom>
          <a:noFill/>
          <a:ln w="3175">
            <a:solidFill>
              <a:schemeClr val="accent1">
                <a:alpha val="53000"/>
              </a:schemeClr>
            </a:solidFill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559" name="Rectangle 313">
            <a:extLst>
              <a:ext uri="{FF2B5EF4-FFF2-40B4-BE49-F238E27FC236}">
                <a16:creationId xmlns:a16="http://schemas.microsoft.com/office/drawing/2014/main" id="{BD7A03F7-C279-FBC8-6F35-7DF821745D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008" y="1498868"/>
            <a:ext cx="629732" cy="18918"/>
          </a:xfrm>
          <a:prstGeom prst="rect">
            <a:avLst/>
          </a:prstGeom>
          <a:solidFill>
            <a:srgbClr val="AB71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defTabSz="685800"/>
            <a:endParaRPr lang="en-US" altLang="en-US" sz="1678">
              <a:latin typeface="Calibri" panose="020F0502020204030204" pitchFamily="34" charset="0"/>
            </a:endParaRPr>
          </a:p>
        </p:txBody>
      </p:sp>
      <p:sp>
        <p:nvSpPr>
          <p:cNvPr id="560" name="Freeform 314">
            <a:extLst>
              <a:ext uri="{FF2B5EF4-FFF2-40B4-BE49-F238E27FC236}">
                <a16:creationId xmlns:a16="http://schemas.microsoft.com/office/drawing/2014/main" id="{C92260FC-2FF9-291E-3785-EFF9725CD1C0}"/>
              </a:ext>
            </a:extLst>
          </p:cNvPr>
          <p:cNvSpPr>
            <a:spLocks/>
          </p:cNvSpPr>
          <p:nvPr/>
        </p:nvSpPr>
        <p:spPr bwMode="auto">
          <a:xfrm>
            <a:off x="3152008" y="1498868"/>
            <a:ext cx="629732" cy="18918"/>
          </a:xfrm>
          <a:custGeom>
            <a:avLst/>
            <a:gdLst>
              <a:gd name="T0" fmla="*/ 0 w 539"/>
              <a:gd name="T1" fmla="*/ 2147483646 h 16"/>
              <a:gd name="T2" fmla="*/ 2147483646 w 539"/>
              <a:gd name="T3" fmla="*/ 2147483646 h 16"/>
              <a:gd name="T4" fmla="*/ 2147483646 w 539"/>
              <a:gd name="T5" fmla="*/ 0 h 16"/>
              <a:gd name="T6" fmla="*/ 0 w 539"/>
              <a:gd name="T7" fmla="*/ 0 h 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39" h="16">
                <a:moveTo>
                  <a:pt x="0" y="16"/>
                </a:moveTo>
                <a:lnTo>
                  <a:pt x="539" y="16"/>
                </a:lnTo>
                <a:lnTo>
                  <a:pt x="539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 sz="2157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CE9E3CB2-4E96-1EE6-AAE3-FB9F1BFF44FD}"/>
              </a:ext>
            </a:extLst>
          </p:cNvPr>
          <p:cNvSpPr/>
          <p:nvPr/>
        </p:nvSpPr>
        <p:spPr>
          <a:xfrm>
            <a:off x="2549233" y="981906"/>
            <a:ext cx="1835282" cy="46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 panose="020B0503030202060203" pitchFamily="34" charset="0"/>
              </a:rPr>
              <a:t>Opportunity</a:t>
            </a:r>
          </a:p>
          <a:p>
            <a:pPr algn="ctr"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 panose="020B0503030202060203" pitchFamily="34" charset="0"/>
              </a:rPr>
              <a:t>Identification</a:t>
            </a:r>
          </a:p>
        </p:txBody>
      </p:sp>
      <p:sp>
        <p:nvSpPr>
          <p:cNvPr id="569" name="Freeform 345">
            <a:extLst>
              <a:ext uri="{FF2B5EF4-FFF2-40B4-BE49-F238E27FC236}">
                <a16:creationId xmlns:a16="http://schemas.microsoft.com/office/drawing/2014/main" id="{45E1B746-8777-712F-31AE-EC05F20A4ACD}"/>
              </a:ext>
            </a:extLst>
          </p:cNvPr>
          <p:cNvSpPr>
            <a:spLocks/>
          </p:cNvSpPr>
          <p:nvPr/>
        </p:nvSpPr>
        <p:spPr bwMode="auto">
          <a:xfrm>
            <a:off x="285751" y="925364"/>
            <a:ext cx="2057400" cy="3722954"/>
          </a:xfrm>
          <a:custGeom>
            <a:avLst/>
            <a:gdLst>
              <a:gd name="T0" fmla="*/ 2147483646 w 860"/>
              <a:gd name="T1" fmla="*/ 2147483646 h 1328"/>
              <a:gd name="T2" fmla="*/ 2147483646 w 860"/>
              <a:gd name="T3" fmla="*/ 2147483646 h 1328"/>
              <a:gd name="T4" fmla="*/ 0 w 860"/>
              <a:gd name="T5" fmla="*/ 2147483646 h 1328"/>
              <a:gd name="T6" fmla="*/ 0 w 860"/>
              <a:gd name="T7" fmla="*/ 2147483646 h 1328"/>
              <a:gd name="T8" fmla="*/ 2147483646 w 860"/>
              <a:gd name="T9" fmla="*/ 0 h 1328"/>
              <a:gd name="T10" fmla="*/ 2147483646 w 860"/>
              <a:gd name="T11" fmla="*/ 0 h 1328"/>
              <a:gd name="T12" fmla="*/ 2147483646 w 860"/>
              <a:gd name="T13" fmla="*/ 2147483646 h 1328"/>
              <a:gd name="T14" fmla="*/ 2147483646 w 860"/>
              <a:gd name="T15" fmla="*/ 2147483646 h 1328"/>
              <a:gd name="T16" fmla="*/ 2147483646 w 860"/>
              <a:gd name="T17" fmla="*/ 2147483646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0" y="1328"/>
                  <a:pt x="50" y="1328"/>
                  <a:pt x="50" y="1328"/>
                </a:cubicBezTo>
                <a:cubicBezTo>
                  <a:pt x="22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8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8" y="1328"/>
                  <a:pt x="810" y="1328"/>
                </a:cubicBezTo>
                <a:close/>
              </a:path>
            </a:pathLst>
          </a:custGeom>
          <a:noFill/>
          <a:ln w="3175">
            <a:solidFill>
              <a:schemeClr val="accent1">
                <a:alpha val="53000"/>
              </a:schemeClr>
            </a:solidFill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577" name="Rectangle 311">
            <a:extLst>
              <a:ext uri="{FF2B5EF4-FFF2-40B4-BE49-F238E27FC236}">
                <a16:creationId xmlns:a16="http://schemas.microsoft.com/office/drawing/2014/main" id="{9FA58AF6-EB09-88C7-5303-5067EE8D8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517" y="1507726"/>
            <a:ext cx="606329" cy="18918"/>
          </a:xfrm>
          <a:prstGeom prst="rect">
            <a:avLst/>
          </a:prstGeom>
          <a:solidFill>
            <a:srgbClr val="DCAFFF">
              <a:lumMod val="9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78" name="Freeform 312">
            <a:extLst>
              <a:ext uri="{FF2B5EF4-FFF2-40B4-BE49-F238E27FC236}">
                <a16:creationId xmlns:a16="http://schemas.microsoft.com/office/drawing/2014/main" id="{D3A36CE2-892B-94AA-6E73-451898D740C3}"/>
              </a:ext>
            </a:extLst>
          </p:cNvPr>
          <p:cNvSpPr>
            <a:spLocks/>
          </p:cNvSpPr>
          <p:nvPr/>
        </p:nvSpPr>
        <p:spPr bwMode="auto">
          <a:xfrm>
            <a:off x="1062517" y="1507726"/>
            <a:ext cx="606329" cy="18918"/>
          </a:xfrm>
          <a:custGeom>
            <a:avLst/>
            <a:gdLst>
              <a:gd name="T0" fmla="*/ 0 w 539"/>
              <a:gd name="T1" fmla="*/ 2147483646 h 16"/>
              <a:gd name="T2" fmla="*/ 2147483646 w 539"/>
              <a:gd name="T3" fmla="*/ 2147483646 h 16"/>
              <a:gd name="T4" fmla="*/ 2147483646 w 539"/>
              <a:gd name="T5" fmla="*/ 0 h 16"/>
              <a:gd name="T6" fmla="*/ 0 w 539"/>
              <a:gd name="T7" fmla="*/ 0 h 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39" h="16">
                <a:moveTo>
                  <a:pt x="0" y="16"/>
                </a:moveTo>
                <a:lnTo>
                  <a:pt x="539" y="16"/>
                </a:lnTo>
                <a:lnTo>
                  <a:pt x="539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defTabSz="685800"/>
            <a:endParaRPr lang="en-US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896C168B-8AC4-F3A1-795C-04D4FB64A1A7}"/>
              </a:ext>
            </a:extLst>
          </p:cNvPr>
          <p:cNvSpPr/>
          <p:nvPr/>
        </p:nvSpPr>
        <p:spPr>
          <a:xfrm>
            <a:off x="459742" y="981906"/>
            <a:ext cx="1835282" cy="46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 panose="020B0503030202060203" pitchFamily="34" charset="0"/>
              </a:rPr>
              <a:t>Problem </a:t>
            </a:r>
          </a:p>
          <a:p>
            <a:pPr algn="ctr"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 panose="020B0503030202060203" pitchFamily="34" charset="0"/>
              </a:rPr>
              <a:t>Diagnosis</a:t>
            </a:r>
          </a:p>
        </p:txBody>
      </p:sp>
      <p:sp>
        <p:nvSpPr>
          <p:cNvPr id="581" name="Freeform 344">
            <a:extLst>
              <a:ext uri="{FF2B5EF4-FFF2-40B4-BE49-F238E27FC236}">
                <a16:creationId xmlns:a16="http://schemas.microsoft.com/office/drawing/2014/main" id="{544FE499-2BB6-A3C0-F9E9-791876CAF910}"/>
              </a:ext>
            </a:extLst>
          </p:cNvPr>
          <p:cNvSpPr>
            <a:spLocks/>
          </p:cNvSpPr>
          <p:nvPr/>
        </p:nvSpPr>
        <p:spPr bwMode="auto">
          <a:xfrm>
            <a:off x="4587858" y="918327"/>
            <a:ext cx="2057400" cy="3727853"/>
          </a:xfrm>
          <a:custGeom>
            <a:avLst/>
            <a:gdLst>
              <a:gd name="T0" fmla="*/ 2147483646 w 860"/>
              <a:gd name="T1" fmla="*/ 2147483646 h 1328"/>
              <a:gd name="T2" fmla="*/ 2147483646 w 860"/>
              <a:gd name="T3" fmla="*/ 2147483646 h 1328"/>
              <a:gd name="T4" fmla="*/ 0 w 860"/>
              <a:gd name="T5" fmla="*/ 2147483646 h 1328"/>
              <a:gd name="T6" fmla="*/ 0 w 860"/>
              <a:gd name="T7" fmla="*/ 2147483646 h 1328"/>
              <a:gd name="T8" fmla="*/ 2147483646 w 860"/>
              <a:gd name="T9" fmla="*/ 0 h 1328"/>
              <a:gd name="T10" fmla="*/ 2147483646 w 860"/>
              <a:gd name="T11" fmla="*/ 0 h 1328"/>
              <a:gd name="T12" fmla="*/ 2147483646 w 860"/>
              <a:gd name="T13" fmla="*/ 2147483646 h 1328"/>
              <a:gd name="T14" fmla="*/ 2147483646 w 860"/>
              <a:gd name="T15" fmla="*/ 2147483646 h 1328"/>
              <a:gd name="T16" fmla="*/ 2147483646 w 860"/>
              <a:gd name="T17" fmla="*/ 2147483646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1" y="1328"/>
                  <a:pt x="51" y="1328"/>
                  <a:pt x="51" y="1328"/>
                </a:cubicBezTo>
                <a:cubicBezTo>
                  <a:pt x="23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3" y="0"/>
                  <a:pt x="51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8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8" y="1328"/>
                  <a:pt x="810" y="1328"/>
                </a:cubicBezTo>
                <a:close/>
              </a:path>
            </a:pathLst>
          </a:custGeom>
          <a:noFill/>
          <a:ln w="3175">
            <a:solidFill>
              <a:schemeClr val="accent1">
                <a:alpha val="53000"/>
              </a:schemeClr>
            </a:solidFill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588" name="Rectangle 309">
            <a:extLst>
              <a:ext uri="{FF2B5EF4-FFF2-40B4-BE49-F238E27FC236}">
                <a16:creationId xmlns:a16="http://schemas.microsoft.com/office/drawing/2014/main" id="{755C6020-5B08-6E62-C152-FD87A6D74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0523" y="1498868"/>
            <a:ext cx="632069" cy="18918"/>
          </a:xfrm>
          <a:prstGeom prst="rect">
            <a:avLst/>
          </a:prstGeom>
          <a:solidFill>
            <a:srgbClr val="2FC1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defTabSz="685800"/>
            <a:endParaRPr lang="en-US" altLang="en-US" sz="1678">
              <a:latin typeface="Calibri" panose="020F0502020204030204" pitchFamily="34" charset="0"/>
            </a:endParaRPr>
          </a:p>
        </p:txBody>
      </p:sp>
      <p:sp>
        <p:nvSpPr>
          <p:cNvPr id="589" name="Freeform 310">
            <a:extLst>
              <a:ext uri="{FF2B5EF4-FFF2-40B4-BE49-F238E27FC236}">
                <a16:creationId xmlns:a16="http://schemas.microsoft.com/office/drawing/2014/main" id="{32990624-2B98-1274-A21F-D17683DF0A15}"/>
              </a:ext>
            </a:extLst>
          </p:cNvPr>
          <p:cNvSpPr>
            <a:spLocks/>
          </p:cNvSpPr>
          <p:nvPr/>
        </p:nvSpPr>
        <p:spPr bwMode="auto">
          <a:xfrm>
            <a:off x="5300523" y="1498868"/>
            <a:ext cx="632069" cy="18918"/>
          </a:xfrm>
          <a:custGeom>
            <a:avLst/>
            <a:gdLst>
              <a:gd name="T0" fmla="*/ 0 w 541"/>
              <a:gd name="T1" fmla="*/ 2147483646 h 16"/>
              <a:gd name="T2" fmla="*/ 2147483646 w 541"/>
              <a:gd name="T3" fmla="*/ 2147483646 h 16"/>
              <a:gd name="T4" fmla="*/ 2147483646 w 541"/>
              <a:gd name="T5" fmla="*/ 0 h 16"/>
              <a:gd name="T6" fmla="*/ 0 w 541"/>
              <a:gd name="T7" fmla="*/ 0 h 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41" h="16">
                <a:moveTo>
                  <a:pt x="0" y="16"/>
                </a:moveTo>
                <a:lnTo>
                  <a:pt x="541" y="16"/>
                </a:lnTo>
                <a:lnTo>
                  <a:pt x="541" y="0"/>
                </a:lnTo>
                <a:lnTo>
                  <a:pt x="0" y="0"/>
                </a:lnTo>
              </a:path>
            </a:pathLst>
          </a:custGeom>
          <a:solidFill>
            <a:srgbClr val="BE82FF">
              <a:lumMod val="60000"/>
              <a:lumOff val="40000"/>
            </a:srgbClr>
          </a:solidFill>
          <a:ln>
            <a:noFill/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30A5132-270F-073B-DDF9-0A66261251DB}"/>
              </a:ext>
            </a:extLst>
          </p:cNvPr>
          <p:cNvSpPr/>
          <p:nvPr/>
        </p:nvSpPr>
        <p:spPr>
          <a:xfrm>
            <a:off x="4698917" y="981906"/>
            <a:ext cx="1835282" cy="46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 panose="020B0503030202060203" pitchFamily="34" charset="0"/>
              </a:rPr>
              <a:t>Solution</a:t>
            </a:r>
          </a:p>
          <a:p>
            <a:pPr algn="ctr"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 panose="020B0503030202060203" pitchFamily="34" charset="0"/>
              </a:rPr>
              <a:t>Positioning</a:t>
            </a:r>
          </a:p>
        </p:txBody>
      </p:sp>
      <p:sp>
        <p:nvSpPr>
          <p:cNvPr id="592" name="Freeform 344">
            <a:extLst>
              <a:ext uri="{FF2B5EF4-FFF2-40B4-BE49-F238E27FC236}">
                <a16:creationId xmlns:a16="http://schemas.microsoft.com/office/drawing/2014/main" id="{D64F8DB5-B89E-4E61-F49F-2D990CC20A27}"/>
              </a:ext>
            </a:extLst>
          </p:cNvPr>
          <p:cNvSpPr>
            <a:spLocks/>
          </p:cNvSpPr>
          <p:nvPr/>
        </p:nvSpPr>
        <p:spPr bwMode="auto">
          <a:xfrm>
            <a:off x="6720233" y="916189"/>
            <a:ext cx="2057400" cy="3729991"/>
          </a:xfrm>
          <a:custGeom>
            <a:avLst/>
            <a:gdLst>
              <a:gd name="T0" fmla="*/ 2147483646 w 860"/>
              <a:gd name="T1" fmla="*/ 2147483646 h 1328"/>
              <a:gd name="T2" fmla="*/ 2147483646 w 860"/>
              <a:gd name="T3" fmla="*/ 2147483646 h 1328"/>
              <a:gd name="T4" fmla="*/ 0 w 860"/>
              <a:gd name="T5" fmla="*/ 2147483646 h 1328"/>
              <a:gd name="T6" fmla="*/ 0 w 860"/>
              <a:gd name="T7" fmla="*/ 2147483646 h 1328"/>
              <a:gd name="T8" fmla="*/ 2147483646 w 860"/>
              <a:gd name="T9" fmla="*/ 0 h 1328"/>
              <a:gd name="T10" fmla="*/ 2147483646 w 860"/>
              <a:gd name="T11" fmla="*/ 0 h 1328"/>
              <a:gd name="T12" fmla="*/ 2147483646 w 860"/>
              <a:gd name="T13" fmla="*/ 2147483646 h 1328"/>
              <a:gd name="T14" fmla="*/ 2147483646 w 860"/>
              <a:gd name="T15" fmla="*/ 2147483646 h 1328"/>
              <a:gd name="T16" fmla="*/ 2147483646 w 860"/>
              <a:gd name="T17" fmla="*/ 2147483646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1" y="1328"/>
                  <a:pt x="51" y="1328"/>
                  <a:pt x="51" y="1328"/>
                </a:cubicBezTo>
                <a:cubicBezTo>
                  <a:pt x="23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3" y="0"/>
                  <a:pt x="51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8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8" y="1328"/>
                  <a:pt x="810" y="1328"/>
                </a:cubicBezTo>
                <a:close/>
              </a:path>
            </a:pathLst>
          </a:custGeom>
          <a:noFill/>
          <a:ln w="3175">
            <a:solidFill>
              <a:schemeClr val="accent1">
                <a:alpha val="53000"/>
              </a:schemeClr>
            </a:solidFill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599" name="Rectangle 309">
            <a:extLst>
              <a:ext uri="{FF2B5EF4-FFF2-40B4-BE49-F238E27FC236}">
                <a16:creationId xmlns:a16="http://schemas.microsoft.com/office/drawing/2014/main" id="{FFC7765C-1E95-3E22-A368-B45323857F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5718" y="1498868"/>
            <a:ext cx="632069" cy="18918"/>
          </a:xfrm>
          <a:prstGeom prst="rect">
            <a:avLst/>
          </a:prstGeom>
          <a:solidFill>
            <a:srgbClr val="2FC1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defTabSz="685800"/>
            <a:endParaRPr lang="en-US" altLang="en-US" sz="1678">
              <a:latin typeface="Calibri" panose="020F0502020204030204" pitchFamily="34" charset="0"/>
            </a:endParaRPr>
          </a:p>
        </p:txBody>
      </p:sp>
      <p:sp>
        <p:nvSpPr>
          <p:cNvPr id="600" name="Freeform 310">
            <a:extLst>
              <a:ext uri="{FF2B5EF4-FFF2-40B4-BE49-F238E27FC236}">
                <a16:creationId xmlns:a16="http://schemas.microsoft.com/office/drawing/2014/main" id="{4948AF36-A680-318C-2C0C-37E5891988AA}"/>
              </a:ext>
            </a:extLst>
          </p:cNvPr>
          <p:cNvSpPr>
            <a:spLocks/>
          </p:cNvSpPr>
          <p:nvPr/>
        </p:nvSpPr>
        <p:spPr bwMode="auto">
          <a:xfrm>
            <a:off x="7435718" y="1498868"/>
            <a:ext cx="632069" cy="18918"/>
          </a:xfrm>
          <a:custGeom>
            <a:avLst/>
            <a:gdLst>
              <a:gd name="T0" fmla="*/ 0 w 541"/>
              <a:gd name="T1" fmla="*/ 2147483646 h 16"/>
              <a:gd name="T2" fmla="*/ 2147483646 w 541"/>
              <a:gd name="T3" fmla="*/ 2147483646 h 16"/>
              <a:gd name="T4" fmla="*/ 2147483646 w 541"/>
              <a:gd name="T5" fmla="*/ 0 h 16"/>
              <a:gd name="T6" fmla="*/ 0 w 541"/>
              <a:gd name="T7" fmla="*/ 0 h 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41" h="16">
                <a:moveTo>
                  <a:pt x="0" y="16"/>
                </a:moveTo>
                <a:lnTo>
                  <a:pt x="541" y="16"/>
                </a:lnTo>
                <a:lnTo>
                  <a:pt x="541" y="0"/>
                </a:lnTo>
                <a:lnTo>
                  <a:pt x="0" y="0"/>
                </a:lnTo>
              </a:path>
            </a:pathLst>
          </a:custGeom>
          <a:solidFill>
            <a:srgbClr val="B455AA">
              <a:lumMod val="60000"/>
              <a:lumOff val="40000"/>
            </a:srgbClr>
          </a:solidFill>
          <a:ln>
            <a:noFill/>
          </a:ln>
        </p:spPr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5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5773802A-0B33-83EA-2D3E-0422215FF78B}"/>
              </a:ext>
            </a:extLst>
          </p:cNvPr>
          <p:cNvSpPr/>
          <p:nvPr/>
        </p:nvSpPr>
        <p:spPr>
          <a:xfrm>
            <a:off x="6834112" y="981906"/>
            <a:ext cx="1835282" cy="462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 panose="020B0503030202060203" pitchFamily="34" charset="0"/>
              </a:rPr>
              <a:t>Measurement</a:t>
            </a:r>
          </a:p>
          <a:p>
            <a:pPr algn="ctr" defTabSz="685783"/>
            <a:r>
              <a:rPr lang="en-US" sz="1050" b="1" spc="-23" dirty="0">
                <a:gradFill flip="none" rotWithShape="1">
                  <a:gsLst>
                    <a:gs pos="0">
                      <a:srgbClr val="A000FF">
                        <a:lumMod val="50000"/>
                      </a:srgbClr>
                    </a:gs>
                    <a:gs pos="99000">
                      <a:srgbClr val="A000FF"/>
                    </a:gs>
                  </a:gsLst>
                  <a:lin ang="10800000" scaled="1"/>
                  <a:tileRect/>
                </a:gradFill>
                <a:latin typeface="Graphik" panose="020B0503030202060203" pitchFamily="34" charset="0"/>
              </a:rPr>
              <a:t>Design</a:t>
            </a:r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56150A1E-BC79-6782-9034-B140C72AD3EA}"/>
              </a:ext>
            </a:extLst>
          </p:cNvPr>
          <p:cNvSpPr/>
          <p:nvPr/>
        </p:nvSpPr>
        <p:spPr bwMode="auto">
          <a:xfrm>
            <a:off x="6813452" y="1698678"/>
            <a:ext cx="1876603" cy="18138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28588" marR="0" lvl="0" indent="-128588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6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04" name="T">
            <a:extLst>
              <a:ext uri="{FF2B5EF4-FFF2-40B4-BE49-F238E27FC236}">
                <a16:creationId xmlns:a16="http://schemas.microsoft.com/office/drawing/2014/main" id="{6C560622-084A-B890-0FF4-1ED0A214F0AF}"/>
              </a:ext>
            </a:extLst>
          </p:cNvPr>
          <p:cNvSpPr/>
          <p:nvPr/>
        </p:nvSpPr>
        <p:spPr>
          <a:xfrm>
            <a:off x="429067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Key Contributions: AI-Enabled PDLC Transformation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1C12995F-C2D3-3FCF-D53C-9F3CF0B0572F}"/>
              </a:ext>
            </a:extLst>
          </p:cNvPr>
          <p:cNvSpPr txBox="1"/>
          <p:nvPr/>
        </p:nvSpPr>
        <p:spPr>
          <a:xfrm>
            <a:off x="429067" y="611159"/>
            <a:ext cx="642937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 dirty="0">
                <a:latin typeface="Graphik" panose="020B0503030202060203" pitchFamily="34" charset="0"/>
              </a:rPr>
              <a:t>Contributions spanning problem framing, opportunity mapping, solution architecture &amp; performance measurement</a:t>
            </a:r>
          </a:p>
          <a:p>
            <a:pPr algn="l"/>
            <a:endParaRPr sz="900" dirty="0">
              <a:solidFill>
                <a:srgbClr val="7B8794"/>
              </a:solidFill>
              <a:latin typeface="Graphik" panose="020B0503030202060203" pitchFamily="34" charset="0"/>
            </a:endParaRPr>
          </a:p>
        </p:txBody>
      </p: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F9706660-6591-087E-7F8E-20478005AE25}"/>
              </a:ext>
            </a:extLst>
          </p:cNvPr>
          <p:cNvGrpSpPr/>
          <p:nvPr/>
        </p:nvGrpSpPr>
        <p:grpSpPr>
          <a:xfrm>
            <a:off x="6723054" y="4015382"/>
            <a:ext cx="2057400" cy="660673"/>
            <a:chOff x="8521463" y="5033898"/>
            <a:chExt cx="3191889" cy="1220199"/>
          </a:xfrm>
        </p:grpSpPr>
        <p:sp>
          <p:nvSpPr>
            <p:cNvPr id="594" name="Freeform 351">
              <a:extLst>
                <a:ext uri="{FF2B5EF4-FFF2-40B4-BE49-F238E27FC236}">
                  <a16:creationId xmlns:a16="http://schemas.microsoft.com/office/drawing/2014/main" id="{FFDA9D2D-0AE1-7B86-2DE4-C294B0DF2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033898"/>
              <a:ext cx="3191889" cy="1165022"/>
            </a:xfrm>
            <a:custGeom>
              <a:avLst/>
              <a:gdLst>
                <a:gd name="T0" fmla="*/ 2147483646 w 860"/>
                <a:gd name="T1" fmla="*/ 2147483646 h 310"/>
                <a:gd name="T2" fmla="*/ 2147483646 w 860"/>
                <a:gd name="T3" fmla="*/ 2147483646 h 310"/>
                <a:gd name="T4" fmla="*/ 2147483646 w 860"/>
                <a:gd name="T5" fmla="*/ 2147483646 h 310"/>
                <a:gd name="T6" fmla="*/ 2147483646 w 860"/>
                <a:gd name="T7" fmla="*/ 2147483646 h 310"/>
                <a:gd name="T8" fmla="*/ 2147483646 w 860"/>
                <a:gd name="T9" fmla="*/ 2147483646 h 310"/>
                <a:gd name="T10" fmla="*/ 0 w 860"/>
                <a:gd name="T11" fmla="*/ 2147483646 h 310"/>
                <a:gd name="T12" fmla="*/ 0 w 860"/>
                <a:gd name="T13" fmla="*/ 2147483646 h 310"/>
                <a:gd name="T14" fmla="*/ 2147483646 w 860"/>
                <a:gd name="T15" fmla="*/ 2147483646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10">
                  <a:moveTo>
                    <a:pt x="51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8" y="310"/>
                    <a:pt x="860" y="287"/>
                    <a:pt x="860" y="259"/>
                  </a:cubicBezTo>
                  <a:cubicBezTo>
                    <a:pt x="860" y="13"/>
                    <a:pt x="860" y="13"/>
                    <a:pt x="860" y="13"/>
                  </a:cubicBezTo>
                  <a:cubicBezTo>
                    <a:pt x="860" y="13"/>
                    <a:pt x="677" y="0"/>
                    <a:pt x="430" y="45"/>
                  </a:cubicBezTo>
                  <a:cubicBezTo>
                    <a:pt x="224" y="83"/>
                    <a:pt x="0" y="43"/>
                    <a:pt x="0" y="4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3" y="310"/>
                    <a:pt x="51" y="310"/>
                  </a:cubicBezTo>
                  <a:close/>
                </a:path>
              </a:pathLst>
            </a:custGeom>
            <a:solidFill>
              <a:srgbClr val="B455AA">
                <a:lumMod val="20000"/>
                <a:lumOff val="8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95" name="Freeform 352">
              <a:extLst>
                <a:ext uri="{FF2B5EF4-FFF2-40B4-BE49-F238E27FC236}">
                  <a16:creationId xmlns:a16="http://schemas.microsoft.com/office/drawing/2014/main" id="{813AB6A6-2A74-4FD9-09FE-54D209BC8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070157"/>
              <a:ext cx="3191889" cy="1128764"/>
            </a:xfrm>
            <a:custGeom>
              <a:avLst/>
              <a:gdLst>
                <a:gd name="T0" fmla="*/ 2147483646 w 860"/>
                <a:gd name="T1" fmla="*/ 2147483646 h 300"/>
                <a:gd name="T2" fmla="*/ 2147483646 w 860"/>
                <a:gd name="T3" fmla="*/ 2147483646 h 300"/>
                <a:gd name="T4" fmla="*/ 2147483646 w 860"/>
                <a:gd name="T5" fmla="*/ 2147483646 h 300"/>
                <a:gd name="T6" fmla="*/ 2147483646 w 860"/>
                <a:gd name="T7" fmla="*/ 2147483646 h 300"/>
                <a:gd name="T8" fmla="*/ 2147483646 w 860"/>
                <a:gd name="T9" fmla="*/ 2147483646 h 300"/>
                <a:gd name="T10" fmla="*/ 0 w 860"/>
                <a:gd name="T11" fmla="*/ 2147483646 h 300"/>
                <a:gd name="T12" fmla="*/ 0 w 860"/>
                <a:gd name="T13" fmla="*/ 2147483646 h 300"/>
                <a:gd name="T14" fmla="*/ 2147483646 w 860"/>
                <a:gd name="T15" fmla="*/ 2147483646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00">
                  <a:moveTo>
                    <a:pt x="51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8" y="300"/>
                    <a:pt x="860" y="277"/>
                    <a:pt x="860" y="249"/>
                  </a:cubicBezTo>
                  <a:cubicBezTo>
                    <a:pt x="860" y="76"/>
                    <a:pt x="860" y="76"/>
                    <a:pt x="860" y="76"/>
                  </a:cubicBezTo>
                  <a:cubicBezTo>
                    <a:pt x="860" y="76"/>
                    <a:pt x="654" y="126"/>
                    <a:pt x="426" y="58"/>
                  </a:cubicBezTo>
                  <a:cubicBezTo>
                    <a:pt x="231" y="0"/>
                    <a:pt x="0" y="87"/>
                    <a:pt x="0" y="8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3" y="300"/>
                    <a:pt x="51" y="300"/>
                  </a:cubicBezTo>
                  <a:close/>
                </a:path>
              </a:pathLst>
            </a:custGeom>
            <a:solidFill>
              <a:srgbClr val="B455AA">
                <a:lumMod val="40000"/>
                <a:lumOff val="6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96" name="Freeform 353">
              <a:extLst>
                <a:ext uri="{FF2B5EF4-FFF2-40B4-BE49-F238E27FC236}">
                  <a16:creationId xmlns:a16="http://schemas.microsoft.com/office/drawing/2014/main" id="{555BD75C-4CD0-2D64-918C-4632C93B0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303477"/>
              <a:ext cx="3191889" cy="895444"/>
            </a:xfrm>
            <a:custGeom>
              <a:avLst/>
              <a:gdLst>
                <a:gd name="T0" fmla="*/ 2147483646 w 860"/>
                <a:gd name="T1" fmla="*/ 2147483646 h 238"/>
                <a:gd name="T2" fmla="*/ 2147483646 w 860"/>
                <a:gd name="T3" fmla="*/ 2147483646 h 238"/>
                <a:gd name="T4" fmla="*/ 2147483646 w 860"/>
                <a:gd name="T5" fmla="*/ 2147483646 h 238"/>
                <a:gd name="T6" fmla="*/ 2147483646 w 860"/>
                <a:gd name="T7" fmla="*/ 2147483646 h 238"/>
                <a:gd name="T8" fmla="*/ 2147483646 w 860"/>
                <a:gd name="T9" fmla="*/ 2147483646 h 238"/>
                <a:gd name="T10" fmla="*/ 0 w 860"/>
                <a:gd name="T11" fmla="*/ 2147483646 h 238"/>
                <a:gd name="T12" fmla="*/ 0 w 860"/>
                <a:gd name="T13" fmla="*/ 2147483646 h 238"/>
                <a:gd name="T14" fmla="*/ 2147483646 w 860"/>
                <a:gd name="T15" fmla="*/ 2147483646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38">
                  <a:moveTo>
                    <a:pt x="51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8" y="238"/>
                    <a:pt x="860" y="215"/>
                    <a:pt x="860" y="187"/>
                  </a:cubicBezTo>
                  <a:cubicBezTo>
                    <a:pt x="860" y="49"/>
                    <a:pt x="860" y="49"/>
                    <a:pt x="860" y="49"/>
                  </a:cubicBezTo>
                  <a:cubicBezTo>
                    <a:pt x="860" y="49"/>
                    <a:pt x="723" y="149"/>
                    <a:pt x="430" y="77"/>
                  </a:cubicBezTo>
                  <a:cubicBezTo>
                    <a:pt x="121" y="0"/>
                    <a:pt x="0" y="49"/>
                    <a:pt x="0" y="49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3" y="238"/>
                    <a:pt x="51" y="238"/>
                  </a:cubicBezTo>
                  <a:close/>
                </a:path>
              </a:pathLst>
            </a:custGeom>
            <a:solidFill>
              <a:srgbClr val="B455AA">
                <a:lumMod val="60000"/>
                <a:lumOff val="4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97" name="Freeform 354">
              <a:extLst>
                <a:ext uri="{FF2B5EF4-FFF2-40B4-BE49-F238E27FC236}">
                  <a16:creationId xmlns:a16="http://schemas.microsoft.com/office/drawing/2014/main" id="{C1C6E786-847A-E91C-7F92-E7D2978AD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476890"/>
              <a:ext cx="3191889" cy="777207"/>
            </a:xfrm>
            <a:custGeom>
              <a:avLst/>
              <a:gdLst>
                <a:gd name="T0" fmla="*/ 2147483646 w 860"/>
                <a:gd name="T1" fmla="*/ 2147483646 h 207"/>
                <a:gd name="T2" fmla="*/ 2147483646 w 860"/>
                <a:gd name="T3" fmla="*/ 2147483646 h 207"/>
                <a:gd name="T4" fmla="*/ 2147483646 w 860"/>
                <a:gd name="T5" fmla="*/ 2147483646 h 207"/>
                <a:gd name="T6" fmla="*/ 2147483646 w 860"/>
                <a:gd name="T7" fmla="*/ 2147483646 h 207"/>
                <a:gd name="T8" fmla="*/ 2147483646 w 860"/>
                <a:gd name="T9" fmla="*/ 2147483646 h 207"/>
                <a:gd name="T10" fmla="*/ 0 w 860"/>
                <a:gd name="T11" fmla="*/ 2147483646 h 207"/>
                <a:gd name="T12" fmla="*/ 0 w 860"/>
                <a:gd name="T13" fmla="*/ 2147483646 h 207"/>
                <a:gd name="T14" fmla="*/ 2147483646 w 86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07">
                  <a:moveTo>
                    <a:pt x="51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8" y="192"/>
                    <a:pt x="860" y="169"/>
                    <a:pt x="860" y="14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860" y="64"/>
                    <a:pt x="663" y="0"/>
                    <a:pt x="430" y="91"/>
                  </a:cubicBezTo>
                  <a:cubicBezTo>
                    <a:pt x="134" y="207"/>
                    <a:pt x="0" y="63"/>
                    <a:pt x="0" y="63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3" y="192"/>
                    <a:pt x="51" y="192"/>
                  </a:cubicBezTo>
                  <a:close/>
                </a:path>
              </a:pathLst>
            </a:custGeom>
            <a:solidFill>
              <a:srgbClr val="B455AA">
                <a:lumMod val="75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98" name="Freeform 355">
              <a:extLst>
                <a:ext uri="{FF2B5EF4-FFF2-40B4-BE49-F238E27FC236}">
                  <a16:creationId xmlns:a16="http://schemas.microsoft.com/office/drawing/2014/main" id="{3E657507-9CBB-80EE-90F4-29BAE105C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631386"/>
              <a:ext cx="3191889" cy="573841"/>
            </a:xfrm>
            <a:custGeom>
              <a:avLst/>
              <a:gdLst>
                <a:gd name="T0" fmla="*/ 2147483646 w 860"/>
                <a:gd name="T1" fmla="*/ 2147483646 h 153"/>
                <a:gd name="T2" fmla="*/ 2147483646 w 860"/>
                <a:gd name="T3" fmla="*/ 2147483646 h 153"/>
                <a:gd name="T4" fmla="*/ 2147483646 w 860"/>
                <a:gd name="T5" fmla="*/ 2147483646 h 153"/>
                <a:gd name="T6" fmla="*/ 2147483646 w 860"/>
                <a:gd name="T7" fmla="*/ 2147483646 h 153"/>
                <a:gd name="T8" fmla="*/ 2147483646 w 860"/>
                <a:gd name="T9" fmla="*/ 2147483646 h 153"/>
                <a:gd name="T10" fmla="*/ 0 w 860"/>
                <a:gd name="T11" fmla="*/ 2147483646 h 153"/>
                <a:gd name="T12" fmla="*/ 0 w 860"/>
                <a:gd name="T13" fmla="*/ 2147483646 h 153"/>
                <a:gd name="T14" fmla="*/ 2147483646 w 860"/>
                <a:gd name="T15" fmla="*/ 2147483646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153">
                  <a:moveTo>
                    <a:pt x="51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8" y="151"/>
                    <a:pt x="860" y="128"/>
                    <a:pt x="860" y="100"/>
                  </a:cubicBezTo>
                  <a:cubicBezTo>
                    <a:pt x="860" y="43"/>
                    <a:pt x="860" y="43"/>
                    <a:pt x="860" y="43"/>
                  </a:cubicBezTo>
                  <a:cubicBezTo>
                    <a:pt x="860" y="43"/>
                    <a:pt x="659" y="153"/>
                    <a:pt x="430" y="70"/>
                  </a:cubicBezTo>
                  <a:cubicBezTo>
                    <a:pt x="239" y="0"/>
                    <a:pt x="0" y="97"/>
                    <a:pt x="0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3" y="151"/>
                    <a:pt x="51" y="151"/>
                  </a:cubicBezTo>
                  <a:close/>
                </a:path>
              </a:pathLst>
            </a:custGeom>
            <a:solidFill>
              <a:srgbClr val="B455AA">
                <a:lumMod val="5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</p:grpSp>
      <p:sp>
        <p:nvSpPr>
          <p:cNvPr id="580" name="Rectangle 579">
            <a:extLst>
              <a:ext uri="{FF2B5EF4-FFF2-40B4-BE49-F238E27FC236}">
                <a16:creationId xmlns:a16="http://schemas.microsoft.com/office/drawing/2014/main" id="{1DC61357-CFD3-80E6-82E1-496F21A28269}"/>
              </a:ext>
            </a:extLst>
          </p:cNvPr>
          <p:cNvSpPr/>
          <p:nvPr/>
        </p:nvSpPr>
        <p:spPr bwMode="auto">
          <a:xfrm>
            <a:off x="358122" y="1683810"/>
            <a:ext cx="1900502" cy="18138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Mapped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751A6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B2D8E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pain points across archetypes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and lifecycle stages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Built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B2D8E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archetype-wise process summaries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with key takeaways 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Built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B2D8E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cross-archetype differentiation matrix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to isolate unique vs. shared friction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Assessed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751A6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7B2D8E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tool landscape and adoption patterns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across archetypes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128588" marR="0" lvl="0" indent="-128588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2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3668C942-3DC3-8392-125E-D3BF7FDFF8D1}"/>
              </a:ext>
            </a:extLst>
          </p:cNvPr>
          <p:cNvSpPr/>
          <p:nvPr/>
        </p:nvSpPr>
        <p:spPr bwMode="auto">
          <a:xfrm>
            <a:off x="4678257" y="1683810"/>
            <a:ext cx="1876603" cy="18138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Shaped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PoC positioning with pain points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solution approach across all </a:t>
            </a: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PoCs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33344"/>
              </a:solidFill>
              <a:effectLst/>
              <a:uLnTx/>
              <a:uFillTx/>
              <a:latin typeface="Graphik" panose="020B0503030202060203" pitchFamily="34" charset="0"/>
              <a:ea typeface="Calibri" pitchFamily="34" charset="-122"/>
              <a:cs typeface="Calibri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Co-defined reference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architectures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&amp; HITL controls,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coordinated with dev team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Defined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PoC build path, agent components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&amp; expected outcomes for all </a:t>
            </a: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PoCs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33344"/>
              </a:solidFill>
              <a:effectLst/>
              <a:uLnTx/>
              <a:uFillTx/>
              <a:latin typeface="Graphik" panose="020B0503030202060203" pitchFamily="34" charset="0"/>
              <a:ea typeface="Calibri" pitchFamily="34" charset="-122"/>
              <a:cs typeface="Calibri" pitchFamily="34" charset="-12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Researched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A855F7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non-PoC accelerators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and industry best practices across PDLC</a:t>
            </a:r>
            <a:endParaRPr kumimoji="0" lang="en-US" sz="82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28588" marR="0" lvl="0" indent="-128588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82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EFE870C3-F103-057D-A337-E4FC2A4A9436}"/>
              </a:ext>
            </a:extLst>
          </p:cNvPr>
          <p:cNvSpPr/>
          <p:nvPr/>
        </p:nvSpPr>
        <p:spPr bwMode="auto">
          <a:xfrm>
            <a:off x="6801364" y="1683810"/>
            <a:ext cx="1876603" cy="257165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Built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raphik Semibold"/>
                <a:ea typeface="Calibri"/>
                <a:cs typeface="Calibri"/>
              </a:rPr>
              <a:t>PDLC metrics framework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mapped to lifecycle stages, PoCs &amp; measurement types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Structured metrics across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raphik Semibold"/>
                <a:ea typeface="Calibri"/>
                <a:cs typeface="Calibri"/>
              </a:rPr>
              <a:t>current-state, PoC-impact &amp; agentic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 end-state layers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Designed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raphik Semibold"/>
                <a:ea typeface="Calibri"/>
                <a:cs typeface="Calibri"/>
              </a:rPr>
              <a:t>baseline measurement protocols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 with computation logic &amp; survey instruments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4999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,Sans-Serif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Defined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raphik Semibold"/>
                <a:ea typeface="Calibri"/>
                <a:cs typeface="Calibri"/>
              </a:rPr>
              <a:t>industry-standard baseline values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 &amp;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D28D9"/>
                </a:solidFill>
                <a:effectLst/>
                <a:uLnTx/>
                <a:uFillTx/>
                <a:latin typeface="Graphik Semibold"/>
                <a:ea typeface="Calibri"/>
                <a:cs typeface="Calibri"/>
              </a:rPr>
              <a:t>target-state benchmarks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/>
                <a:ea typeface="Graphik"/>
                <a:cs typeface="Calibri"/>
              </a:rPr>
              <a:t> for each metric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333344"/>
              </a:solidFill>
              <a:effectLst/>
              <a:uLnTx/>
              <a:uFillTx/>
              <a:latin typeface="Graphik" panose="020B0503030202060203" pitchFamily="34" charset="0"/>
              <a:ea typeface="Calibri" pitchFamily="34" charset="-122"/>
              <a:cs typeface="Calibri" pitchFamily="34" charset="-120"/>
            </a:endParaRPr>
          </a:p>
          <a:p>
            <a:pPr marL="128588" marR="0" lvl="0" indent="-128588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2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28588" marR="0" lvl="0" indent="-128588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82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324FB0D1-CB00-90F0-490E-80A5BB00E2BF}"/>
              </a:ext>
            </a:extLst>
          </p:cNvPr>
          <p:cNvSpPr/>
          <p:nvPr/>
        </p:nvSpPr>
        <p:spPr bwMode="auto">
          <a:xfrm>
            <a:off x="2522932" y="1683810"/>
            <a:ext cx="1887884" cy="18138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Identified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archetype-specific AI opportunities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across lifecycle stages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Defined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recurring AI opportunity themes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to focus cross-archetype intervention areas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Prioritized PoC candidates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based on value, feasibility &amp; tooling constraints</a:t>
            </a:r>
          </a:p>
          <a:p>
            <a:pPr marL="171450" marR="0" lvl="0" indent="-1714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Created 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Agentic Periodic Table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333344"/>
                </a:solidFill>
                <a:effectLst/>
                <a:uLnTx/>
                <a:uFillTx/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spanning in-flight &amp; future AI agents across PDLC</a:t>
            </a:r>
          </a:p>
          <a:p>
            <a:pPr marL="128588" marR="0" lvl="0" indent="-128588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82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grpSp>
        <p:nvGrpSpPr>
          <p:cNvPr id="561" name="Group 560">
            <a:extLst>
              <a:ext uri="{FF2B5EF4-FFF2-40B4-BE49-F238E27FC236}">
                <a16:creationId xmlns:a16="http://schemas.microsoft.com/office/drawing/2014/main" id="{72C57FCF-539A-6682-2330-ECE3388BE75B}"/>
              </a:ext>
            </a:extLst>
          </p:cNvPr>
          <p:cNvGrpSpPr/>
          <p:nvPr/>
        </p:nvGrpSpPr>
        <p:grpSpPr>
          <a:xfrm>
            <a:off x="4590679" y="4022818"/>
            <a:ext cx="2057400" cy="660671"/>
            <a:chOff x="4339198" y="5043281"/>
            <a:chExt cx="3191889" cy="1220198"/>
          </a:xfrm>
        </p:grpSpPr>
        <p:sp>
          <p:nvSpPr>
            <p:cNvPr id="562" name="Freeform 346">
              <a:extLst>
                <a:ext uri="{FF2B5EF4-FFF2-40B4-BE49-F238E27FC236}">
                  <a16:creationId xmlns:a16="http://schemas.microsoft.com/office/drawing/2014/main" id="{434D2A1C-437C-33EA-5913-9914E205B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198" y="5043281"/>
              <a:ext cx="3191889" cy="1165022"/>
            </a:xfrm>
            <a:custGeom>
              <a:avLst/>
              <a:gdLst>
                <a:gd name="T0" fmla="*/ 2147483646 w 860"/>
                <a:gd name="T1" fmla="*/ 2147483646 h 310"/>
                <a:gd name="T2" fmla="*/ 2147483646 w 860"/>
                <a:gd name="T3" fmla="*/ 2147483646 h 310"/>
                <a:gd name="T4" fmla="*/ 2147483646 w 860"/>
                <a:gd name="T5" fmla="*/ 2147483646 h 310"/>
                <a:gd name="T6" fmla="*/ 2147483646 w 860"/>
                <a:gd name="T7" fmla="*/ 2147483646 h 310"/>
                <a:gd name="T8" fmla="*/ 2147483646 w 860"/>
                <a:gd name="T9" fmla="*/ 2147483646 h 310"/>
                <a:gd name="T10" fmla="*/ 0 w 860"/>
                <a:gd name="T11" fmla="*/ 2147483646 h 310"/>
                <a:gd name="T12" fmla="*/ 0 w 860"/>
                <a:gd name="T13" fmla="*/ 2147483646 h 310"/>
                <a:gd name="T14" fmla="*/ 2147483646 w 860"/>
                <a:gd name="T15" fmla="*/ 2147483646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10">
                  <a:moveTo>
                    <a:pt x="50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7" y="310"/>
                    <a:pt x="860" y="287"/>
                    <a:pt x="860" y="259"/>
                  </a:cubicBezTo>
                  <a:cubicBezTo>
                    <a:pt x="860" y="13"/>
                    <a:pt x="860" y="13"/>
                    <a:pt x="860" y="13"/>
                  </a:cubicBezTo>
                  <a:cubicBezTo>
                    <a:pt x="860" y="13"/>
                    <a:pt x="676" y="0"/>
                    <a:pt x="430" y="45"/>
                  </a:cubicBezTo>
                  <a:cubicBezTo>
                    <a:pt x="223" y="83"/>
                    <a:pt x="0" y="43"/>
                    <a:pt x="0" y="4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2" y="310"/>
                    <a:pt x="50" y="310"/>
                  </a:cubicBezTo>
                  <a:close/>
                </a:path>
              </a:pathLst>
            </a:custGeom>
            <a:solidFill>
              <a:srgbClr val="EBD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2157">
                <a:solidFill>
                  <a:srgbClr val="000000"/>
                </a:solidFill>
                <a:latin typeface="Graphik"/>
              </a:endParaRPr>
            </a:p>
          </p:txBody>
        </p:sp>
        <p:sp>
          <p:nvSpPr>
            <p:cNvPr id="563" name="Freeform 347">
              <a:extLst>
                <a:ext uri="{FF2B5EF4-FFF2-40B4-BE49-F238E27FC236}">
                  <a16:creationId xmlns:a16="http://schemas.microsoft.com/office/drawing/2014/main" id="{1229AAFE-51D2-AD59-5A7B-7723909F9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198" y="5079540"/>
              <a:ext cx="3191889" cy="1128763"/>
            </a:xfrm>
            <a:custGeom>
              <a:avLst/>
              <a:gdLst>
                <a:gd name="T0" fmla="*/ 2147483646 w 860"/>
                <a:gd name="T1" fmla="*/ 2147483646 h 300"/>
                <a:gd name="T2" fmla="*/ 2147483646 w 860"/>
                <a:gd name="T3" fmla="*/ 2147483646 h 300"/>
                <a:gd name="T4" fmla="*/ 2147483646 w 860"/>
                <a:gd name="T5" fmla="*/ 2147483646 h 300"/>
                <a:gd name="T6" fmla="*/ 2147483646 w 860"/>
                <a:gd name="T7" fmla="*/ 2147483646 h 300"/>
                <a:gd name="T8" fmla="*/ 2147483646 w 860"/>
                <a:gd name="T9" fmla="*/ 2147483646 h 300"/>
                <a:gd name="T10" fmla="*/ 0 w 860"/>
                <a:gd name="T11" fmla="*/ 2147483646 h 300"/>
                <a:gd name="T12" fmla="*/ 0 w 860"/>
                <a:gd name="T13" fmla="*/ 2147483646 h 300"/>
                <a:gd name="T14" fmla="*/ 2147483646 w 860"/>
                <a:gd name="T15" fmla="*/ 2147483646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00">
                  <a:moveTo>
                    <a:pt x="50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7" y="300"/>
                    <a:pt x="860" y="277"/>
                    <a:pt x="860" y="249"/>
                  </a:cubicBezTo>
                  <a:cubicBezTo>
                    <a:pt x="860" y="76"/>
                    <a:pt x="860" y="76"/>
                    <a:pt x="860" y="76"/>
                  </a:cubicBezTo>
                  <a:cubicBezTo>
                    <a:pt x="860" y="76"/>
                    <a:pt x="654" y="126"/>
                    <a:pt x="426" y="58"/>
                  </a:cubicBezTo>
                  <a:cubicBezTo>
                    <a:pt x="230" y="0"/>
                    <a:pt x="0" y="87"/>
                    <a:pt x="0" y="8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2" y="300"/>
                    <a:pt x="50" y="300"/>
                  </a:cubicBezTo>
                  <a:close/>
                </a:path>
              </a:pathLst>
            </a:custGeom>
            <a:solidFill>
              <a:srgbClr val="D6B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2157">
                <a:solidFill>
                  <a:srgbClr val="000000"/>
                </a:solidFill>
                <a:latin typeface="Graphik"/>
              </a:endParaRPr>
            </a:p>
          </p:txBody>
        </p:sp>
        <p:sp>
          <p:nvSpPr>
            <p:cNvPr id="564" name="Freeform 348">
              <a:extLst>
                <a:ext uri="{FF2B5EF4-FFF2-40B4-BE49-F238E27FC236}">
                  <a16:creationId xmlns:a16="http://schemas.microsoft.com/office/drawing/2014/main" id="{1D7B8BFD-CB1B-4E00-B986-BE7EE1EB7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198" y="5312859"/>
              <a:ext cx="3191889" cy="895443"/>
            </a:xfrm>
            <a:custGeom>
              <a:avLst/>
              <a:gdLst>
                <a:gd name="T0" fmla="*/ 2147483646 w 860"/>
                <a:gd name="T1" fmla="*/ 2147483646 h 238"/>
                <a:gd name="T2" fmla="*/ 2147483646 w 860"/>
                <a:gd name="T3" fmla="*/ 2147483646 h 238"/>
                <a:gd name="T4" fmla="*/ 2147483646 w 860"/>
                <a:gd name="T5" fmla="*/ 2147483646 h 238"/>
                <a:gd name="T6" fmla="*/ 2147483646 w 860"/>
                <a:gd name="T7" fmla="*/ 2147483646 h 238"/>
                <a:gd name="T8" fmla="*/ 2147483646 w 860"/>
                <a:gd name="T9" fmla="*/ 2147483646 h 238"/>
                <a:gd name="T10" fmla="*/ 0 w 860"/>
                <a:gd name="T11" fmla="*/ 2147483646 h 238"/>
                <a:gd name="T12" fmla="*/ 0 w 860"/>
                <a:gd name="T13" fmla="*/ 2147483646 h 238"/>
                <a:gd name="T14" fmla="*/ 2147483646 w 860"/>
                <a:gd name="T15" fmla="*/ 2147483646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38">
                  <a:moveTo>
                    <a:pt x="50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7" y="238"/>
                    <a:pt x="860" y="215"/>
                    <a:pt x="860" y="187"/>
                  </a:cubicBezTo>
                  <a:cubicBezTo>
                    <a:pt x="860" y="49"/>
                    <a:pt x="860" y="49"/>
                    <a:pt x="860" y="49"/>
                  </a:cubicBezTo>
                  <a:cubicBezTo>
                    <a:pt x="860" y="49"/>
                    <a:pt x="722" y="149"/>
                    <a:pt x="430" y="77"/>
                  </a:cubicBezTo>
                  <a:cubicBezTo>
                    <a:pt x="121" y="0"/>
                    <a:pt x="0" y="49"/>
                    <a:pt x="0" y="49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2" y="238"/>
                    <a:pt x="50" y="238"/>
                  </a:cubicBezTo>
                  <a:close/>
                </a:path>
              </a:pathLst>
            </a:custGeom>
            <a:solidFill>
              <a:srgbClr val="CCA9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2157">
                <a:solidFill>
                  <a:srgbClr val="000000"/>
                </a:solidFill>
                <a:latin typeface="Graphik"/>
              </a:endParaRPr>
            </a:p>
          </p:txBody>
        </p:sp>
        <p:sp>
          <p:nvSpPr>
            <p:cNvPr id="565" name="Freeform 349">
              <a:extLst>
                <a:ext uri="{FF2B5EF4-FFF2-40B4-BE49-F238E27FC236}">
                  <a16:creationId xmlns:a16="http://schemas.microsoft.com/office/drawing/2014/main" id="{EE614BA4-605A-6DA6-A694-18C174478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198" y="5486273"/>
              <a:ext cx="3191889" cy="777206"/>
            </a:xfrm>
            <a:custGeom>
              <a:avLst/>
              <a:gdLst>
                <a:gd name="T0" fmla="*/ 2147483646 w 860"/>
                <a:gd name="T1" fmla="*/ 2147483646 h 207"/>
                <a:gd name="T2" fmla="*/ 2147483646 w 860"/>
                <a:gd name="T3" fmla="*/ 2147483646 h 207"/>
                <a:gd name="T4" fmla="*/ 2147483646 w 860"/>
                <a:gd name="T5" fmla="*/ 2147483646 h 207"/>
                <a:gd name="T6" fmla="*/ 2147483646 w 860"/>
                <a:gd name="T7" fmla="*/ 2147483646 h 207"/>
                <a:gd name="T8" fmla="*/ 2147483646 w 860"/>
                <a:gd name="T9" fmla="*/ 2147483646 h 207"/>
                <a:gd name="T10" fmla="*/ 0 w 860"/>
                <a:gd name="T11" fmla="*/ 2147483646 h 207"/>
                <a:gd name="T12" fmla="*/ 0 w 860"/>
                <a:gd name="T13" fmla="*/ 2147483646 h 207"/>
                <a:gd name="T14" fmla="*/ 2147483646 w 86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07">
                  <a:moveTo>
                    <a:pt x="50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7" y="192"/>
                    <a:pt x="860" y="169"/>
                    <a:pt x="860" y="14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860" y="64"/>
                    <a:pt x="662" y="0"/>
                    <a:pt x="430" y="91"/>
                  </a:cubicBezTo>
                  <a:cubicBezTo>
                    <a:pt x="133" y="207"/>
                    <a:pt x="0" y="63"/>
                    <a:pt x="0" y="63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2" y="192"/>
                    <a:pt x="50" y="192"/>
                  </a:cubicBezTo>
                  <a:close/>
                </a:path>
              </a:pathLst>
            </a:custGeom>
            <a:solidFill>
              <a:srgbClr val="BA8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2157">
                <a:solidFill>
                  <a:srgbClr val="000000"/>
                </a:solidFill>
                <a:latin typeface="Graphik"/>
              </a:endParaRPr>
            </a:p>
          </p:txBody>
        </p:sp>
        <p:sp>
          <p:nvSpPr>
            <p:cNvPr id="566" name="Freeform 350">
              <a:extLst>
                <a:ext uri="{FF2B5EF4-FFF2-40B4-BE49-F238E27FC236}">
                  <a16:creationId xmlns:a16="http://schemas.microsoft.com/office/drawing/2014/main" id="{29C1DD24-AC7F-3E1E-A48E-79113BA9A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9198" y="5640768"/>
              <a:ext cx="3191889" cy="573840"/>
            </a:xfrm>
            <a:custGeom>
              <a:avLst/>
              <a:gdLst>
                <a:gd name="T0" fmla="*/ 2147483646 w 860"/>
                <a:gd name="T1" fmla="*/ 2147483646 h 153"/>
                <a:gd name="T2" fmla="*/ 2147483646 w 860"/>
                <a:gd name="T3" fmla="*/ 2147483646 h 153"/>
                <a:gd name="T4" fmla="*/ 2147483646 w 860"/>
                <a:gd name="T5" fmla="*/ 2147483646 h 153"/>
                <a:gd name="T6" fmla="*/ 2147483646 w 860"/>
                <a:gd name="T7" fmla="*/ 2147483646 h 153"/>
                <a:gd name="T8" fmla="*/ 2147483646 w 860"/>
                <a:gd name="T9" fmla="*/ 2147483646 h 153"/>
                <a:gd name="T10" fmla="*/ 0 w 860"/>
                <a:gd name="T11" fmla="*/ 2147483646 h 153"/>
                <a:gd name="T12" fmla="*/ 0 w 860"/>
                <a:gd name="T13" fmla="*/ 2147483646 h 153"/>
                <a:gd name="T14" fmla="*/ 2147483646 w 860"/>
                <a:gd name="T15" fmla="*/ 2147483646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153">
                  <a:moveTo>
                    <a:pt x="50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7" y="151"/>
                    <a:pt x="860" y="128"/>
                    <a:pt x="860" y="100"/>
                  </a:cubicBezTo>
                  <a:cubicBezTo>
                    <a:pt x="860" y="43"/>
                    <a:pt x="860" y="43"/>
                    <a:pt x="860" y="43"/>
                  </a:cubicBezTo>
                  <a:cubicBezTo>
                    <a:pt x="860" y="43"/>
                    <a:pt x="659" y="153"/>
                    <a:pt x="430" y="70"/>
                  </a:cubicBezTo>
                  <a:cubicBezTo>
                    <a:pt x="238" y="0"/>
                    <a:pt x="0" y="97"/>
                    <a:pt x="0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2" y="151"/>
                    <a:pt x="50" y="151"/>
                  </a:cubicBezTo>
                  <a:close/>
                </a:path>
              </a:pathLst>
            </a:custGeom>
            <a:solidFill>
              <a:srgbClr val="AB71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685800"/>
              <a:endParaRPr lang="en-US" sz="2157">
                <a:solidFill>
                  <a:srgbClr val="000000"/>
                </a:solidFill>
                <a:latin typeface="Graphik"/>
              </a:endParaRPr>
            </a:p>
          </p:txBody>
        </p:sp>
      </p:grp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F6A17BC8-DE8A-7C5D-5422-D45C4B6B9773}"/>
              </a:ext>
            </a:extLst>
          </p:cNvPr>
          <p:cNvGrpSpPr/>
          <p:nvPr/>
        </p:nvGrpSpPr>
        <p:grpSpPr>
          <a:xfrm>
            <a:off x="285751" y="4015384"/>
            <a:ext cx="2057400" cy="660673"/>
            <a:chOff x="381000" y="5043280"/>
            <a:chExt cx="3190331" cy="1220199"/>
          </a:xfrm>
        </p:grpSpPr>
        <p:sp>
          <p:nvSpPr>
            <p:cNvPr id="571" name="Freeform 356">
              <a:extLst>
                <a:ext uri="{FF2B5EF4-FFF2-40B4-BE49-F238E27FC236}">
                  <a16:creationId xmlns:a16="http://schemas.microsoft.com/office/drawing/2014/main" id="{CBE24847-22DD-2256-2106-78B433C91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043280"/>
              <a:ext cx="3190331" cy="1165022"/>
            </a:xfrm>
            <a:custGeom>
              <a:avLst/>
              <a:gdLst>
                <a:gd name="T0" fmla="*/ 2147483646 w 860"/>
                <a:gd name="T1" fmla="*/ 2147483646 h 310"/>
                <a:gd name="T2" fmla="*/ 2147483646 w 860"/>
                <a:gd name="T3" fmla="*/ 2147483646 h 310"/>
                <a:gd name="T4" fmla="*/ 2147483646 w 860"/>
                <a:gd name="T5" fmla="*/ 2147483646 h 310"/>
                <a:gd name="T6" fmla="*/ 2147483646 w 860"/>
                <a:gd name="T7" fmla="*/ 2147483646 h 310"/>
                <a:gd name="T8" fmla="*/ 2147483646 w 860"/>
                <a:gd name="T9" fmla="*/ 2147483646 h 310"/>
                <a:gd name="T10" fmla="*/ 0 w 860"/>
                <a:gd name="T11" fmla="*/ 2147483646 h 310"/>
                <a:gd name="T12" fmla="*/ 0 w 860"/>
                <a:gd name="T13" fmla="*/ 2147483646 h 310"/>
                <a:gd name="T14" fmla="*/ 2147483646 w 860"/>
                <a:gd name="T15" fmla="*/ 2147483646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10">
                  <a:moveTo>
                    <a:pt x="50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8" y="310"/>
                    <a:pt x="860" y="287"/>
                    <a:pt x="860" y="259"/>
                  </a:cubicBezTo>
                  <a:cubicBezTo>
                    <a:pt x="860" y="13"/>
                    <a:pt x="860" y="13"/>
                    <a:pt x="860" y="13"/>
                  </a:cubicBezTo>
                  <a:cubicBezTo>
                    <a:pt x="860" y="13"/>
                    <a:pt x="676" y="0"/>
                    <a:pt x="430" y="45"/>
                  </a:cubicBezTo>
                  <a:cubicBezTo>
                    <a:pt x="223" y="83"/>
                    <a:pt x="0" y="43"/>
                    <a:pt x="0" y="4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2" y="310"/>
                    <a:pt x="50" y="310"/>
                  </a:cubicBezTo>
                  <a:close/>
                </a:path>
              </a:pathLst>
            </a:custGeom>
            <a:solidFill>
              <a:srgbClr val="DCAFFF">
                <a:lumMod val="9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72" name="Freeform 357">
              <a:extLst>
                <a:ext uri="{FF2B5EF4-FFF2-40B4-BE49-F238E27FC236}">
                  <a16:creationId xmlns:a16="http://schemas.microsoft.com/office/drawing/2014/main" id="{9543321A-45E3-A125-7664-0CFCB6A098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079539"/>
              <a:ext cx="3190331" cy="1128764"/>
            </a:xfrm>
            <a:custGeom>
              <a:avLst/>
              <a:gdLst>
                <a:gd name="T0" fmla="*/ 2147483646 w 860"/>
                <a:gd name="T1" fmla="*/ 2147483646 h 300"/>
                <a:gd name="T2" fmla="*/ 2147483646 w 860"/>
                <a:gd name="T3" fmla="*/ 2147483646 h 300"/>
                <a:gd name="T4" fmla="*/ 2147483646 w 860"/>
                <a:gd name="T5" fmla="*/ 2147483646 h 300"/>
                <a:gd name="T6" fmla="*/ 2147483646 w 860"/>
                <a:gd name="T7" fmla="*/ 2147483646 h 300"/>
                <a:gd name="T8" fmla="*/ 2147483646 w 860"/>
                <a:gd name="T9" fmla="*/ 2147483646 h 300"/>
                <a:gd name="T10" fmla="*/ 0 w 860"/>
                <a:gd name="T11" fmla="*/ 2147483646 h 300"/>
                <a:gd name="T12" fmla="*/ 0 w 860"/>
                <a:gd name="T13" fmla="*/ 2147483646 h 300"/>
                <a:gd name="T14" fmla="*/ 2147483646 w 860"/>
                <a:gd name="T15" fmla="*/ 2147483646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00">
                  <a:moveTo>
                    <a:pt x="50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8" y="300"/>
                    <a:pt x="860" y="277"/>
                    <a:pt x="860" y="249"/>
                  </a:cubicBezTo>
                  <a:cubicBezTo>
                    <a:pt x="860" y="76"/>
                    <a:pt x="860" y="76"/>
                    <a:pt x="860" y="76"/>
                  </a:cubicBezTo>
                  <a:cubicBezTo>
                    <a:pt x="860" y="76"/>
                    <a:pt x="654" y="126"/>
                    <a:pt x="426" y="58"/>
                  </a:cubicBezTo>
                  <a:cubicBezTo>
                    <a:pt x="230" y="0"/>
                    <a:pt x="0" y="87"/>
                    <a:pt x="0" y="8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2" y="300"/>
                    <a:pt x="50" y="300"/>
                  </a:cubicBezTo>
                  <a:close/>
                </a:path>
              </a:pathLst>
            </a:custGeom>
            <a:solidFill>
              <a:srgbClr val="DCAFFF">
                <a:lumMod val="75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73" name="Freeform 358">
              <a:extLst>
                <a:ext uri="{FF2B5EF4-FFF2-40B4-BE49-F238E27FC236}">
                  <a16:creationId xmlns:a16="http://schemas.microsoft.com/office/drawing/2014/main" id="{3AF86DC2-2B5E-8D60-8560-C4B491924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312859"/>
              <a:ext cx="3190331" cy="895444"/>
            </a:xfrm>
            <a:custGeom>
              <a:avLst/>
              <a:gdLst>
                <a:gd name="T0" fmla="*/ 2147483646 w 860"/>
                <a:gd name="T1" fmla="*/ 2147483646 h 238"/>
                <a:gd name="T2" fmla="*/ 2147483646 w 860"/>
                <a:gd name="T3" fmla="*/ 2147483646 h 238"/>
                <a:gd name="T4" fmla="*/ 2147483646 w 860"/>
                <a:gd name="T5" fmla="*/ 2147483646 h 238"/>
                <a:gd name="T6" fmla="*/ 2147483646 w 860"/>
                <a:gd name="T7" fmla="*/ 2147483646 h 238"/>
                <a:gd name="T8" fmla="*/ 2147483646 w 860"/>
                <a:gd name="T9" fmla="*/ 2147483646 h 238"/>
                <a:gd name="T10" fmla="*/ 0 w 860"/>
                <a:gd name="T11" fmla="*/ 2147483646 h 238"/>
                <a:gd name="T12" fmla="*/ 0 w 860"/>
                <a:gd name="T13" fmla="*/ 2147483646 h 238"/>
                <a:gd name="T14" fmla="*/ 2147483646 w 860"/>
                <a:gd name="T15" fmla="*/ 2147483646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38">
                  <a:moveTo>
                    <a:pt x="50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8" y="238"/>
                    <a:pt x="860" y="215"/>
                    <a:pt x="860" y="187"/>
                  </a:cubicBezTo>
                  <a:cubicBezTo>
                    <a:pt x="860" y="49"/>
                    <a:pt x="860" y="49"/>
                    <a:pt x="860" y="49"/>
                  </a:cubicBezTo>
                  <a:cubicBezTo>
                    <a:pt x="860" y="49"/>
                    <a:pt x="723" y="149"/>
                    <a:pt x="430" y="77"/>
                  </a:cubicBezTo>
                  <a:cubicBezTo>
                    <a:pt x="121" y="0"/>
                    <a:pt x="0" y="49"/>
                    <a:pt x="0" y="49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2" y="238"/>
                    <a:pt x="50" y="238"/>
                  </a:cubicBezTo>
                  <a:close/>
                </a:path>
              </a:pathLst>
            </a:custGeom>
            <a:solidFill>
              <a:srgbClr val="DCAFFF">
                <a:lumMod val="5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74" name="Freeform 359">
              <a:extLst>
                <a:ext uri="{FF2B5EF4-FFF2-40B4-BE49-F238E27FC236}">
                  <a16:creationId xmlns:a16="http://schemas.microsoft.com/office/drawing/2014/main" id="{34D1718E-4EC3-1021-6798-089887947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486272"/>
              <a:ext cx="3190331" cy="777207"/>
            </a:xfrm>
            <a:custGeom>
              <a:avLst/>
              <a:gdLst>
                <a:gd name="T0" fmla="*/ 2147483646 w 860"/>
                <a:gd name="T1" fmla="*/ 2147483646 h 207"/>
                <a:gd name="T2" fmla="*/ 2147483646 w 860"/>
                <a:gd name="T3" fmla="*/ 2147483646 h 207"/>
                <a:gd name="T4" fmla="*/ 2147483646 w 860"/>
                <a:gd name="T5" fmla="*/ 2147483646 h 207"/>
                <a:gd name="T6" fmla="*/ 2147483646 w 860"/>
                <a:gd name="T7" fmla="*/ 2147483646 h 207"/>
                <a:gd name="T8" fmla="*/ 2147483646 w 860"/>
                <a:gd name="T9" fmla="*/ 2147483646 h 207"/>
                <a:gd name="T10" fmla="*/ 0 w 860"/>
                <a:gd name="T11" fmla="*/ 2147483646 h 207"/>
                <a:gd name="T12" fmla="*/ 0 w 860"/>
                <a:gd name="T13" fmla="*/ 2147483646 h 207"/>
                <a:gd name="T14" fmla="*/ 2147483646 w 86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07">
                  <a:moveTo>
                    <a:pt x="50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8" y="192"/>
                    <a:pt x="860" y="169"/>
                    <a:pt x="860" y="14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860" y="64"/>
                    <a:pt x="662" y="0"/>
                    <a:pt x="430" y="91"/>
                  </a:cubicBezTo>
                  <a:cubicBezTo>
                    <a:pt x="133" y="207"/>
                    <a:pt x="0" y="63"/>
                    <a:pt x="0" y="63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2" y="192"/>
                    <a:pt x="50" y="192"/>
                  </a:cubicBezTo>
                  <a:close/>
                </a:path>
              </a:pathLst>
            </a:custGeom>
            <a:solidFill>
              <a:srgbClr val="A100FF">
                <a:lumMod val="75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75" name="Freeform 360">
              <a:extLst>
                <a:ext uri="{FF2B5EF4-FFF2-40B4-BE49-F238E27FC236}">
                  <a16:creationId xmlns:a16="http://schemas.microsoft.com/office/drawing/2014/main" id="{9B216939-FEE0-4132-78CC-5C0FE2933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00" y="5640768"/>
              <a:ext cx="3190331" cy="573841"/>
            </a:xfrm>
            <a:custGeom>
              <a:avLst/>
              <a:gdLst>
                <a:gd name="T0" fmla="*/ 2147483646 w 860"/>
                <a:gd name="T1" fmla="*/ 2147483646 h 153"/>
                <a:gd name="T2" fmla="*/ 2147483646 w 860"/>
                <a:gd name="T3" fmla="*/ 2147483646 h 153"/>
                <a:gd name="T4" fmla="*/ 2147483646 w 860"/>
                <a:gd name="T5" fmla="*/ 2147483646 h 153"/>
                <a:gd name="T6" fmla="*/ 2147483646 w 860"/>
                <a:gd name="T7" fmla="*/ 2147483646 h 153"/>
                <a:gd name="T8" fmla="*/ 2147483646 w 860"/>
                <a:gd name="T9" fmla="*/ 2147483646 h 153"/>
                <a:gd name="T10" fmla="*/ 0 w 860"/>
                <a:gd name="T11" fmla="*/ 2147483646 h 153"/>
                <a:gd name="T12" fmla="*/ 0 w 860"/>
                <a:gd name="T13" fmla="*/ 2147483646 h 153"/>
                <a:gd name="T14" fmla="*/ 2147483646 w 860"/>
                <a:gd name="T15" fmla="*/ 2147483646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153">
                  <a:moveTo>
                    <a:pt x="50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8" y="151"/>
                    <a:pt x="860" y="128"/>
                    <a:pt x="860" y="100"/>
                  </a:cubicBezTo>
                  <a:cubicBezTo>
                    <a:pt x="860" y="43"/>
                    <a:pt x="860" y="43"/>
                    <a:pt x="860" y="43"/>
                  </a:cubicBezTo>
                  <a:cubicBezTo>
                    <a:pt x="860" y="43"/>
                    <a:pt x="659" y="153"/>
                    <a:pt x="430" y="70"/>
                  </a:cubicBezTo>
                  <a:cubicBezTo>
                    <a:pt x="238" y="0"/>
                    <a:pt x="0" y="97"/>
                    <a:pt x="0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2" y="151"/>
                    <a:pt x="50" y="151"/>
                  </a:cubicBezTo>
                  <a:close/>
                </a:path>
              </a:pathLst>
            </a:custGeom>
            <a:solidFill>
              <a:srgbClr val="DCAFFF">
                <a:lumMod val="25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76" name="Freeform 207">
              <a:extLst>
                <a:ext uri="{FF2B5EF4-FFF2-40B4-BE49-F238E27FC236}">
                  <a16:creationId xmlns:a16="http://schemas.microsoft.com/office/drawing/2014/main" id="{DB1CE9B6-F10E-F7E6-F4AA-313C480A2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834" y="5818910"/>
              <a:ext cx="792909" cy="93012"/>
            </a:xfrm>
            <a:custGeom>
              <a:avLst/>
              <a:gdLst>
                <a:gd name="T0" fmla="*/ 2147483646 w 213"/>
                <a:gd name="T1" fmla="*/ 0 h 25"/>
                <a:gd name="T2" fmla="*/ 0 w 213"/>
                <a:gd name="T3" fmla="*/ 2147483646 h 25"/>
                <a:gd name="T4" fmla="*/ 2147483646 w 213"/>
                <a:gd name="T5" fmla="*/ 2147483646 h 25"/>
                <a:gd name="T6" fmla="*/ 2147483646 w 213"/>
                <a:gd name="T7" fmla="*/ 2147483646 h 25"/>
                <a:gd name="T8" fmla="*/ 2147483646 w 213"/>
                <a:gd name="T9" fmla="*/ 2147483646 h 25"/>
                <a:gd name="T10" fmla="*/ 2147483646 w 213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3" h="25">
                  <a:moveTo>
                    <a:pt x="57" y="0"/>
                  </a:moveTo>
                  <a:cubicBezTo>
                    <a:pt x="37" y="0"/>
                    <a:pt x="18" y="1"/>
                    <a:pt x="0" y="2"/>
                  </a:cubicBezTo>
                  <a:cubicBezTo>
                    <a:pt x="9" y="16"/>
                    <a:pt x="24" y="25"/>
                    <a:pt x="42" y="25"/>
                  </a:cubicBezTo>
                  <a:cubicBezTo>
                    <a:pt x="213" y="25"/>
                    <a:pt x="213" y="25"/>
                    <a:pt x="213" y="25"/>
                  </a:cubicBezTo>
                  <a:cubicBezTo>
                    <a:pt x="203" y="21"/>
                    <a:pt x="194" y="18"/>
                    <a:pt x="184" y="16"/>
                  </a:cubicBezTo>
                  <a:cubicBezTo>
                    <a:pt x="142" y="4"/>
                    <a:pt x="99" y="0"/>
                    <a:pt x="57" y="0"/>
                  </a:cubicBezTo>
                </a:path>
              </a:pathLst>
            </a:custGeom>
            <a:solidFill>
              <a:srgbClr val="DCAFFF">
                <a:lumMod val="25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</p:grpSp>
      <p:grpSp>
        <p:nvGrpSpPr>
          <p:cNvPr id="582" name="Group 581">
            <a:extLst>
              <a:ext uri="{FF2B5EF4-FFF2-40B4-BE49-F238E27FC236}">
                <a16:creationId xmlns:a16="http://schemas.microsoft.com/office/drawing/2014/main" id="{F114A9B0-7644-CE61-E9F5-52EA61B15305}"/>
              </a:ext>
            </a:extLst>
          </p:cNvPr>
          <p:cNvGrpSpPr/>
          <p:nvPr/>
        </p:nvGrpSpPr>
        <p:grpSpPr>
          <a:xfrm>
            <a:off x="2445418" y="4015384"/>
            <a:ext cx="2057400" cy="660673"/>
            <a:chOff x="8521463" y="5033898"/>
            <a:chExt cx="3191889" cy="1220199"/>
          </a:xfrm>
        </p:grpSpPr>
        <p:sp>
          <p:nvSpPr>
            <p:cNvPr id="583" name="Freeform 351">
              <a:extLst>
                <a:ext uri="{FF2B5EF4-FFF2-40B4-BE49-F238E27FC236}">
                  <a16:creationId xmlns:a16="http://schemas.microsoft.com/office/drawing/2014/main" id="{612BC93A-6E82-46A5-D15B-636A9BEF3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033898"/>
              <a:ext cx="3191889" cy="1165022"/>
            </a:xfrm>
            <a:custGeom>
              <a:avLst/>
              <a:gdLst>
                <a:gd name="T0" fmla="*/ 2147483646 w 860"/>
                <a:gd name="T1" fmla="*/ 2147483646 h 310"/>
                <a:gd name="T2" fmla="*/ 2147483646 w 860"/>
                <a:gd name="T3" fmla="*/ 2147483646 h 310"/>
                <a:gd name="T4" fmla="*/ 2147483646 w 860"/>
                <a:gd name="T5" fmla="*/ 2147483646 h 310"/>
                <a:gd name="T6" fmla="*/ 2147483646 w 860"/>
                <a:gd name="T7" fmla="*/ 2147483646 h 310"/>
                <a:gd name="T8" fmla="*/ 2147483646 w 860"/>
                <a:gd name="T9" fmla="*/ 2147483646 h 310"/>
                <a:gd name="T10" fmla="*/ 0 w 860"/>
                <a:gd name="T11" fmla="*/ 2147483646 h 310"/>
                <a:gd name="T12" fmla="*/ 0 w 860"/>
                <a:gd name="T13" fmla="*/ 2147483646 h 310"/>
                <a:gd name="T14" fmla="*/ 2147483646 w 860"/>
                <a:gd name="T15" fmla="*/ 2147483646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10">
                  <a:moveTo>
                    <a:pt x="51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8" y="310"/>
                    <a:pt x="860" y="287"/>
                    <a:pt x="860" y="259"/>
                  </a:cubicBezTo>
                  <a:cubicBezTo>
                    <a:pt x="860" y="13"/>
                    <a:pt x="860" y="13"/>
                    <a:pt x="860" y="13"/>
                  </a:cubicBezTo>
                  <a:cubicBezTo>
                    <a:pt x="860" y="13"/>
                    <a:pt x="677" y="0"/>
                    <a:pt x="430" y="45"/>
                  </a:cubicBezTo>
                  <a:cubicBezTo>
                    <a:pt x="224" y="83"/>
                    <a:pt x="0" y="43"/>
                    <a:pt x="0" y="4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3" y="310"/>
                    <a:pt x="51" y="310"/>
                  </a:cubicBezTo>
                  <a:close/>
                </a:path>
              </a:pathLst>
            </a:custGeom>
            <a:solidFill>
              <a:srgbClr val="BE82FF">
                <a:lumMod val="20000"/>
                <a:lumOff val="8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84" name="Freeform 352">
              <a:extLst>
                <a:ext uri="{FF2B5EF4-FFF2-40B4-BE49-F238E27FC236}">
                  <a16:creationId xmlns:a16="http://schemas.microsoft.com/office/drawing/2014/main" id="{984AAE06-D39F-C9D5-8270-86EEA708C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070157"/>
              <a:ext cx="3191889" cy="1128764"/>
            </a:xfrm>
            <a:custGeom>
              <a:avLst/>
              <a:gdLst>
                <a:gd name="T0" fmla="*/ 2147483646 w 860"/>
                <a:gd name="T1" fmla="*/ 2147483646 h 300"/>
                <a:gd name="T2" fmla="*/ 2147483646 w 860"/>
                <a:gd name="T3" fmla="*/ 2147483646 h 300"/>
                <a:gd name="T4" fmla="*/ 2147483646 w 860"/>
                <a:gd name="T5" fmla="*/ 2147483646 h 300"/>
                <a:gd name="T6" fmla="*/ 2147483646 w 860"/>
                <a:gd name="T7" fmla="*/ 2147483646 h 300"/>
                <a:gd name="T8" fmla="*/ 2147483646 w 860"/>
                <a:gd name="T9" fmla="*/ 2147483646 h 300"/>
                <a:gd name="T10" fmla="*/ 0 w 860"/>
                <a:gd name="T11" fmla="*/ 2147483646 h 300"/>
                <a:gd name="T12" fmla="*/ 0 w 860"/>
                <a:gd name="T13" fmla="*/ 2147483646 h 300"/>
                <a:gd name="T14" fmla="*/ 2147483646 w 860"/>
                <a:gd name="T15" fmla="*/ 2147483646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00">
                  <a:moveTo>
                    <a:pt x="51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8" y="300"/>
                    <a:pt x="860" y="277"/>
                    <a:pt x="860" y="249"/>
                  </a:cubicBezTo>
                  <a:cubicBezTo>
                    <a:pt x="860" y="76"/>
                    <a:pt x="860" y="76"/>
                    <a:pt x="860" y="76"/>
                  </a:cubicBezTo>
                  <a:cubicBezTo>
                    <a:pt x="860" y="76"/>
                    <a:pt x="654" y="126"/>
                    <a:pt x="426" y="58"/>
                  </a:cubicBezTo>
                  <a:cubicBezTo>
                    <a:pt x="231" y="0"/>
                    <a:pt x="0" y="87"/>
                    <a:pt x="0" y="8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3" y="300"/>
                    <a:pt x="51" y="300"/>
                  </a:cubicBezTo>
                  <a:close/>
                </a:path>
              </a:pathLst>
            </a:custGeom>
            <a:solidFill>
              <a:srgbClr val="7500C0">
                <a:lumMod val="20000"/>
                <a:lumOff val="8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85" name="Freeform 353">
              <a:extLst>
                <a:ext uri="{FF2B5EF4-FFF2-40B4-BE49-F238E27FC236}">
                  <a16:creationId xmlns:a16="http://schemas.microsoft.com/office/drawing/2014/main" id="{1C2743F3-EA70-E291-7C08-E0A891C2E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303477"/>
              <a:ext cx="3191889" cy="895444"/>
            </a:xfrm>
            <a:custGeom>
              <a:avLst/>
              <a:gdLst>
                <a:gd name="T0" fmla="*/ 2147483646 w 860"/>
                <a:gd name="T1" fmla="*/ 2147483646 h 238"/>
                <a:gd name="T2" fmla="*/ 2147483646 w 860"/>
                <a:gd name="T3" fmla="*/ 2147483646 h 238"/>
                <a:gd name="T4" fmla="*/ 2147483646 w 860"/>
                <a:gd name="T5" fmla="*/ 2147483646 h 238"/>
                <a:gd name="T6" fmla="*/ 2147483646 w 860"/>
                <a:gd name="T7" fmla="*/ 2147483646 h 238"/>
                <a:gd name="T8" fmla="*/ 2147483646 w 860"/>
                <a:gd name="T9" fmla="*/ 2147483646 h 238"/>
                <a:gd name="T10" fmla="*/ 0 w 860"/>
                <a:gd name="T11" fmla="*/ 2147483646 h 238"/>
                <a:gd name="T12" fmla="*/ 0 w 860"/>
                <a:gd name="T13" fmla="*/ 2147483646 h 238"/>
                <a:gd name="T14" fmla="*/ 2147483646 w 860"/>
                <a:gd name="T15" fmla="*/ 2147483646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38">
                  <a:moveTo>
                    <a:pt x="51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8" y="238"/>
                    <a:pt x="860" y="215"/>
                    <a:pt x="860" y="187"/>
                  </a:cubicBezTo>
                  <a:cubicBezTo>
                    <a:pt x="860" y="49"/>
                    <a:pt x="860" y="49"/>
                    <a:pt x="860" y="49"/>
                  </a:cubicBezTo>
                  <a:cubicBezTo>
                    <a:pt x="860" y="49"/>
                    <a:pt x="723" y="149"/>
                    <a:pt x="430" y="77"/>
                  </a:cubicBezTo>
                  <a:cubicBezTo>
                    <a:pt x="121" y="0"/>
                    <a:pt x="0" y="49"/>
                    <a:pt x="0" y="49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3" y="238"/>
                    <a:pt x="51" y="238"/>
                  </a:cubicBezTo>
                  <a:close/>
                </a:path>
              </a:pathLst>
            </a:custGeom>
            <a:solidFill>
              <a:srgbClr val="A100FF">
                <a:lumMod val="60000"/>
                <a:lumOff val="4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86" name="Freeform 354">
              <a:extLst>
                <a:ext uri="{FF2B5EF4-FFF2-40B4-BE49-F238E27FC236}">
                  <a16:creationId xmlns:a16="http://schemas.microsoft.com/office/drawing/2014/main" id="{3ADF6332-5645-8316-55E5-0498FC929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476890"/>
              <a:ext cx="3191889" cy="777207"/>
            </a:xfrm>
            <a:custGeom>
              <a:avLst/>
              <a:gdLst>
                <a:gd name="T0" fmla="*/ 2147483646 w 860"/>
                <a:gd name="T1" fmla="*/ 2147483646 h 207"/>
                <a:gd name="T2" fmla="*/ 2147483646 w 860"/>
                <a:gd name="T3" fmla="*/ 2147483646 h 207"/>
                <a:gd name="T4" fmla="*/ 2147483646 w 860"/>
                <a:gd name="T5" fmla="*/ 2147483646 h 207"/>
                <a:gd name="T6" fmla="*/ 2147483646 w 860"/>
                <a:gd name="T7" fmla="*/ 2147483646 h 207"/>
                <a:gd name="T8" fmla="*/ 2147483646 w 860"/>
                <a:gd name="T9" fmla="*/ 2147483646 h 207"/>
                <a:gd name="T10" fmla="*/ 0 w 860"/>
                <a:gd name="T11" fmla="*/ 2147483646 h 207"/>
                <a:gd name="T12" fmla="*/ 0 w 860"/>
                <a:gd name="T13" fmla="*/ 2147483646 h 207"/>
                <a:gd name="T14" fmla="*/ 2147483646 w 86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07">
                  <a:moveTo>
                    <a:pt x="51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8" y="192"/>
                    <a:pt x="860" y="169"/>
                    <a:pt x="860" y="14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860" y="64"/>
                    <a:pt x="663" y="0"/>
                    <a:pt x="430" y="91"/>
                  </a:cubicBezTo>
                  <a:cubicBezTo>
                    <a:pt x="134" y="207"/>
                    <a:pt x="0" y="63"/>
                    <a:pt x="0" y="63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3" y="192"/>
                    <a:pt x="51" y="192"/>
                  </a:cubicBezTo>
                  <a:close/>
                </a:path>
              </a:pathLst>
            </a:custGeom>
            <a:solidFill>
              <a:srgbClr val="7500C0">
                <a:lumMod val="60000"/>
                <a:lumOff val="40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  <p:sp>
          <p:nvSpPr>
            <p:cNvPr id="587" name="Freeform 355">
              <a:extLst>
                <a:ext uri="{FF2B5EF4-FFF2-40B4-BE49-F238E27FC236}">
                  <a16:creationId xmlns:a16="http://schemas.microsoft.com/office/drawing/2014/main" id="{82DB1F02-39D3-F2CC-553B-1D2FB1BE1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1463" y="5631386"/>
              <a:ext cx="3191889" cy="573841"/>
            </a:xfrm>
            <a:custGeom>
              <a:avLst/>
              <a:gdLst>
                <a:gd name="T0" fmla="*/ 2147483646 w 860"/>
                <a:gd name="T1" fmla="*/ 2147483646 h 153"/>
                <a:gd name="T2" fmla="*/ 2147483646 w 860"/>
                <a:gd name="T3" fmla="*/ 2147483646 h 153"/>
                <a:gd name="T4" fmla="*/ 2147483646 w 860"/>
                <a:gd name="T5" fmla="*/ 2147483646 h 153"/>
                <a:gd name="T6" fmla="*/ 2147483646 w 860"/>
                <a:gd name="T7" fmla="*/ 2147483646 h 153"/>
                <a:gd name="T8" fmla="*/ 2147483646 w 860"/>
                <a:gd name="T9" fmla="*/ 2147483646 h 153"/>
                <a:gd name="T10" fmla="*/ 0 w 860"/>
                <a:gd name="T11" fmla="*/ 2147483646 h 153"/>
                <a:gd name="T12" fmla="*/ 0 w 860"/>
                <a:gd name="T13" fmla="*/ 2147483646 h 153"/>
                <a:gd name="T14" fmla="*/ 2147483646 w 860"/>
                <a:gd name="T15" fmla="*/ 2147483646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153">
                  <a:moveTo>
                    <a:pt x="51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8" y="151"/>
                    <a:pt x="860" y="128"/>
                    <a:pt x="860" y="100"/>
                  </a:cubicBezTo>
                  <a:cubicBezTo>
                    <a:pt x="860" y="43"/>
                    <a:pt x="860" y="43"/>
                    <a:pt x="860" y="43"/>
                  </a:cubicBezTo>
                  <a:cubicBezTo>
                    <a:pt x="860" y="43"/>
                    <a:pt x="659" y="153"/>
                    <a:pt x="430" y="70"/>
                  </a:cubicBezTo>
                  <a:cubicBezTo>
                    <a:pt x="239" y="0"/>
                    <a:pt x="0" y="97"/>
                    <a:pt x="0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3" y="151"/>
                    <a:pt x="51" y="151"/>
                  </a:cubicBezTo>
                  <a:close/>
                </a:path>
              </a:pathLst>
            </a:custGeom>
            <a:solidFill>
              <a:srgbClr val="A100FF">
                <a:lumMod val="75000"/>
              </a:srgbClr>
            </a:solidFill>
            <a:ln>
              <a:noFill/>
            </a:ln>
          </p:spPr>
          <p:txBody>
            <a:bodyPr/>
            <a:lstStyle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15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3305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0FE97-F6FE-7AE8-0E95-4349E0C7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oter Placeholder 5">
            <a:extLst>
              <a:ext uri="{FF2B5EF4-FFF2-40B4-BE49-F238E27FC236}">
                <a16:creationId xmlns:a16="http://schemas.microsoft.com/office/drawing/2014/main" id="{4C5071B3-D1D8-8C3C-80F8-DB3482A76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39" name="Slide Number Placeholder 8">
            <a:extLst>
              <a:ext uri="{FF2B5EF4-FFF2-40B4-BE49-F238E27FC236}">
                <a16:creationId xmlns:a16="http://schemas.microsoft.com/office/drawing/2014/main" id="{EF870562-9043-F49E-27CF-656FB20EB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0" y="4767263"/>
            <a:ext cx="320386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/>
          </a:p>
        </p:txBody>
      </p:sp>
      <p:sp>
        <p:nvSpPr>
          <p:cNvPr id="12" name="T">
            <a:extLst>
              <a:ext uri="{FF2B5EF4-FFF2-40B4-BE49-F238E27FC236}">
                <a16:creationId xmlns:a16="http://schemas.microsoft.com/office/drawing/2014/main" id="{089648B2-08E5-DB46-C925-A96F7D8B72B7}"/>
              </a:ext>
            </a:extLst>
          </p:cNvPr>
          <p:cNvSpPr/>
          <p:nvPr/>
        </p:nvSpPr>
        <p:spPr>
          <a:xfrm>
            <a:off x="429067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PDLC Deliverables: Week-by-Week Progress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E7BC09-18C4-8A1A-42C3-4EF1612B4557}"/>
              </a:ext>
            </a:extLst>
          </p:cNvPr>
          <p:cNvSpPr txBox="1"/>
          <p:nvPr/>
        </p:nvSpPr>
        <p:spPr>
          <a:xfrm>
            <a:off x="429067" y="715235"/>
            <a:ext cx="642937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900">
                <a:latin typeface="Graphik" panose="020B0503030202060203" pitchFamily="34" charset="0"/>
              </a:rPr>
              <a:t>Eight weeks of discovery, design and delivery across the GMI PDLC Transformation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2AB0112-7217-6F20-9DB5-8F1525E99DFB}"/>
              </a:ext>
            </a:extLst>
          </p:cNvPr>
          <p:cNvSpPr/>
          <p:nvPr/>
        </p:nvSpPr>
        <p:spPr>
          <a:xfrm>
            <a:off x="429067" y="1348105"/>
            <a:ext cx="7927533" cy="2449825"/>
          </a:xfrm>
          <a:custGeom>
            <a:avLst/>
            <a:gdLst>
              <a:gd name="connsiteX0" fmla="*/ 31047 w 9722219"/>
              <a:gd name="connsiteY0" fmla="*/ 153331 h 3956016"/>
              <a:gd name="connsiteX1" fmla="*/ 8177520 w 9722219"/>
              <a:gd name="connsiteY1" fmla="*/ 194894 h 3956016"/>
              <a:gd name="connsiteX2" fmla="*/ 9673811 w 9722219"/>
              <a:gd name="connsiteY2" fmla="*/ 2073571 h 3956016"/>
              <a:gd name="connsiteX3" fmla="*/ 7404436 w 9722219"/>
              <a:gd name="connsiteY3" fmla="*/ 2406080 h 3956016"/>
              <a:gd name="connsiteX4" fmla="*/ 637876 w 9722219"/>
              <a:gd name="connsiteY4" fmla="*/ 2331265 h 3956016"/>
              <a:gd name="connsiteX5" fmla="*/ 579687 w 9722219"/>
              <a:gd name="connsiteY5" fmla="*/ 3835869 h 3956016"/>
              <a:gd name="connsiteX6" fmla="*/ 3248073 w 9722219"/>
              <a:gd name="connsiteY6" fmla="*/ 3860807 h 3956016"/>
              <a:gd name="connsiteX7" fmla="*/ 9141796 w 9722219"/>
              <a:gd name="connsiteY7" fmla="*/ 3777680 h 3956016"/>
              <a:gd name="connsiteX0" fmla="*/ 31047 w 9741644"/>
              <a:gd name="connsiteY0" fmla="*/ 56358 h 3859043"/>
              <a:gd name="connsiteX1" fmla="*/ 8177520 w 9741644"/>
              <a:gd name="connsiteY1" fmla="*/ 97921 h 3859043"/>
              <a:gd name="connsiteX2" fmla="*/ 9673811 w 9741644"/>
              <a:gd name="connsiteY2" fmla="*/ 1976598 h 3859043"/>
              <a:gd name="connsiteX3" fmla="*/ 7404436 w 9741644"/>
              <a:gd name="connsiteY3" fmla="*/ 2309107 h 3859043"/>
              <a:gd name="connsiteX4" fmla="*/ 637876 w 9741644"/>
              <a:gd name="connsiteY4" fmla="*/ 2234292 h 3859043"/>
              <a:gd name="connsiteX5" fmla="*/ 579687 w 9741644"/>
              <a:gd name="connsiteY5" fmla="*/ 3738896 h 3859043"/>
              <a:gd name="connsiteX6" fmla="*/ 3248073 w 9741644"/>
              <a:gd name="connsiteY6" fmla="*/ 3763834 h 3859043"/>
              <a:gd name="connsiteX7" fmla="*/ 9141796 w 9741644"/>
              <a:gd name="connsiteY7" fmla="*/ 3680707 h 3859043"/>
              <a:gd name="connsiteX0" fmla="*/ 31047 w 9739651"/>
              <a:gd name="connsiteY0" fmla="*/ 41805 h 3844490"/>
              <a:gd name="connsiteX1" fmla="*/ 8169207 w 9739651"/>
              <a:gd name="connsiteY1" fmla="*/ 174808 h 3844490"/>
              <a:gd name="connsiteX2" fmla="*/ 9673811 w 9739651"/>
              <a:gd name="connsiteY2" fmla="*/ 1962045 h 3844490"/>
              <a:gd name="connsiteX3" fmla="*/ 7404436 w 9739651"/>
              <a:gd name="connsiteY3" fmla="*/ 2294554 h 3844490"/>
              <a:gd name="connsiteX4" fmla="*/ 637876 w 9739651"/>
              <a:gd name="connsiteY4" fmla="*/ 2219739 h 3844490"/>
              <a:gd name="connsiteX5" fmla="*/ 579687 w 9739651"/>
              <a:gd name="connsiteY5" fmla="*/ 3724343 h 3844490"/>
              <a:gd name="connsiteX6" fmla="*/ 3248073 w 9739651"/>
              <a:gd name="connsiteY6" fmla="*/ 3749281 h 3844490"/>
              <a:gd name="connsiteX7" fmla="*/ 9141796 w 9739651"/>
              <a:gd name="connsiteY7" fmla="*/ 3666154 h 3844490"/>
              <a:gd name="connsiteX0" fmla="*/ 55985 w 9720274"/>
              <a:gd name="connsiteY0" fmla="*/ 188052 h 3824483"/>
              <a:gd name="connsiteX1" fmla="*/ 8169207 w 9720274"/>
              <a:gd name="connsiteY1" fmla="*/ 154801 h 3824483"/>
              <a:gd name="connsiteX2" fmla="*/ 9673811 w 9720274"/>
              <a:gd name="connsiteY2" fmla="*/ 1942038 h 3824483"/>
              <a:gd name="connsiteX3" fmla="*/ 7404436 w 9720274"/>
              <a:gd name="connsiteY3" fmla="*/ 2274547 h 3824483"/>
              <a:gd name="connsiteX4" fmla="*/ 637876 w 9720274"/>
              <a:gd name="connsiteY4" fmla="*/ 2199732 h 3824483"/>
              <a:gd name="connsiteX5" fmla="*/ 579687 w 9720274"/>
              <a:gd name="connsiteY5" fmla="*/ 3704336 h 3824483"/>
              <a:gd name="connsiteX6" fmla="*/ 3248073 w 9720274"/>
              <a:gd name="connsiteY6" fmla="*/ 3729274 h 3824483"/>
              <a:gd name="connsiteX7" fmla="*/ 9141796 w 9720274"/>
              <a:gd name="connsiteY7" fmla="*/ 3646147 h 3824483"/>
              <a:gd name="connsiteX0" fmla="*/ 55985 w 9720274"/>
              <a:gd name="connsiteY0" fmla="*/ 154671 h 3791102"/>
              <a:gd name="connsiteX1" fmla="*/ 8169207 w 9720274"/>
              <a:gd name="connsiteY1" fmla="*/ 121420 h 3791102"/>
              <a:gd name="connsiteX2" fmla="*/ 9673811 w 9720274"/>
              <a:gd name="connsiteY2" fmla="*/ 1908657 h 3791102"/>
              <a:gd name="connsiteX3" fmla="*/ 7404436 w 9720274"/>
              <a:gd name="connsiteY3" fmla="*/ 2241166 h 3791102"/>
              <a:gd name="connsiteX4" fmla="*/ 637876 w 9720274"/>
              <a:gd name="connsiteY4" fmla="*/ 2166351 h 3791102"/>
              <a:gd name="connsiteX5" fmla="*/ 579687 w 9720274"/>
              <a:gd name="connsiteY5" fmla="*/ 3670955 h 3791102"/>
              <a:gd name="connsiteX6" fmla="*/ 3248073 w 9720274"/>
              <a:gd name="connsiteY6" fmla="*/ 3695893 h 3791102"/>
              <a:gd name="connsiteX7" fmla="*/ 9141796 w 9720274"/>
              <a:gd name="connsiteY7" fmla="*/ 3612766 h 3791102"/>
              <a:gd name="connsiteX0" fmla="*/ 55985 w 9719421"/>
              <a:gd name="connsiteY0" fmla="*/ 33276 h 3669707"/>
              <a:gd name="connsiteX1" fmla="*/ 8169207 w 9719421"/>
              <a:gd name="connsiteY1" fmla="*/ 25 h 3669707"/>
              <a:gd name="connsiteX2" fmla="*/ 9673811 w 9719421"/>
              <a:gd name="connsiteY2" fmla="*/ 1787262 h 3669707"/>
              <a:gd name="connsiteX3" fmla="*/ 7404436 w 9719421"/>
              <a:gd name="connsiteY3" fmla="*/ 2119771 h 3669707"/>
              <a:gd name="connsiteX4" fmla="*/ 637876 w 9719421"/>
              <a:gd name="connsiteY4" fmla="*/ 2044956 h 3669707"/>
              <a:gd name="connsiteX5" fmla="*/ 579687 w 9719421"/>
              <a:gd name="connsiteY5" fmla="*/ 3549560 h 3669707"/>
              <a:gd name="connsiteX6" fmla="*/ 3248073 w 9719421"/>
              <a:gd name="connsiteY6" fmla="*/ 3574498 h 3669707"/>
              <a:gd name="connsiteX7" fmla="*/ 9141796 w 9719421"/>
              <a:gd name="connsiteY7" fmla="*/ 3491371 h 3669707"/>
              <a:gd name="connsiteX0" fmla="*/ 55985 w 9776308"/>
              <a:gd name="connsiteY0" fmla="*/ 33251 h 3669682"/>
              <a:gd name="connsiteX1" fmla="*/ 8169207 w 9776308"/>
              <a:gd name="connsiteY1" fmla="*/ 0 h 3669682"/>
              <a:gd name="connsiteX2" fmla="*/ 9673811 w 9776308"/>
              <a:gd name="connsiteY2" fmla="*/ 1787237 h 3669682"/>
              <a:gd name="connsiteX3" fmla="*/ 7404436 w 9776308"/>
              <a:gd name="connsiteY3" fmla="*/ 2119746 h 3669682"/>
              <a:gd name="connsiteX4" fmla="*/ 637876 w 9776308"/>
              <a:gd name="connsiteY4" fmla="*/ 2044931 h 3669682"/>
              <a:gd name="connsiteX5" fmla="*/ 579687 w 9776308"/>
              <a:gd name="connsiteY5" fmla="*/ 3549535 h 3669682"/>
              <a:gd name="connsiteX6" fmla="*/ 3248073 w 9776308"/>
              <a:gd name="connsiteY6" fmla="*/ 3574473 h 3669682"/>
              <a:gd name="connsiteX7" fmla="*/ 9141796 w 9776308"/>
              <a:gd name="connsiteY7" fmla="*/ 3491346 h 3669682"/>
              <a:gd name="connsiteX0" fmla="*/ 55985 w 9141796"/>
              <a:gd name="connsiteY0" fmla="*/ 33251 h 3669682"/>
              <a:gd name="connsiteX1" fmla="*/ 8169207 w 9141796"/>
              <a:gd name="connsiteY1" fmla="*/ 0 h 3669682"/>
              <a:gd name="connsiteX2" fmla="*/ 7404436 w 9141796"/>
              <a:gd name="connsiteY2" fmla="*/ 2119746 h 3669682"/>
              <a:gd name="connsiteX3" fmla="*/ 637876 w 9141796"/>
              <a:gd name="connsiteY3" fmla="*/ 2044931 h 3669682"/>
              <a:gd name="connsiteX4" fmla="*/ 579687 w 9141796"/>
              <a:gd name="connsiteY4" fmla="*/ 3549535 h 3669682"/>
              <a:gd name="connsiteX5" fmla="*/ 3248073 w 9141796"/>
              <a:gd name="connsiteY5" fmla="*/ 3574473 h 3669682"/>
              <a:gd name="connsiteX6" fmla="*/ 9141796 w 9141796"/>
              <a:gd name="connsiteY6" fmla="*/ 3491346 h 3669682"/>
              <a:gd name="connsiteX0" fmla="*/ 158210 w 9600608"/>
              <a:gd name="connsiteY0" fmla="*/ 33251 h 3669682"/>
              <a:gd name="connsiteX1" fmla="*/ 8271432 w 9600608"/>
              <a:gd name="connsiteY1" fmla="*/ 0 h 3669682"/>
              <a:gd name="connsiteX2" fmla="*/ 8936450 w 9600608"/>
              <a:gd name="connsiteY2" fmla="*/ 1936866 h 3669682"/>
              <a:gd name="connsiteX3" fmla="*/ 740101 w 9600608"/>
              <a:gd name="connsiteY3" fmla="*/ 2044931 h 3669682"/>
              <a:gd name="connsiteX4" fmla="*/ 681912 w 9600608"/>
              <a:gd name="connsiteY4" fmla="*/ 3549535 h 3669682"/>
              <a:gd name="connsiteX5" fmla="*/ 3350298 w 9600608"/>
              <a:gd name="connsiteY5" fmla="*/ 3574473 h 3669682"/>
              <a:gd name="connsiteX6" fmla="*/ 9244021 w 9600608"/>
              <a:gd name="connsiteY6" fmla="*/ 3491346 h 3669682"/>
              <a:gd name="connsiteX0" fmla="*/ 158210 w 9600608"/>
              <a:gd name="connsiteY0" fmla="*/ 33251 h 3669682"/>
              <a:gd name="connsiteX1" fmla="*/ 8271432 w 9600608"/>
              <a:gd name="connsiteY1" fmla="*/ 0 h 3669682"/>
              <a:gd name="connsiteX2" fmla="*/ 8936450 w 9600608"/>
              <a:gd name="connsiteY2" fmla="*/ 1936866 h 3669682"/>
              <a:gd name="connsiteX3" fmla="*/ 740101 w 9600608"/>
              <a:gd name="connsiteY3" fmla="*/ 2044931 h 3669682"/>
              <a:gd name="connsiteX4" fmla="*/ 681912 w 9600608"/>
              <a:gd name="connsiteY4" fmla="*/ 3549535 h 3669682"/>
              <a:gd name="connsiteX5" fmla="*/ 3350298 w 9600608"/>
              <a:gd name="connsiteY5" fmla="*/ 3574473 h 3669682"/>
              <a:gd name="connsiteX6" fmla="*/ 9244021 w 9600608"/>
              <a:gd name="connsiteY6" fmla="*/ 3491346 h 3669682"/>
              <a:gd name="connsiteX0" fmla="*/ 158210 w 9750869"/>
              <a:gd name="connsiteY0" fmla="*/ 33251 h 3669682"/>
              <a:gd name="connsiteX1" fmla="*/ 8271432 w 9750869"/>
              <a:gd name="connsiteY1" fmla="*/ 0 h 3669682"/>
              <a:gd name="connsiteX2" fmla="*/ 8936450 w 9750869"/>
              <a:gd name="connsiteY2" fmla="*/ 1936866 h 3669682"/>
              <a:gd name="connsiteX3" fmla="*/ 740101 w 9750869"/>
              <a:gd name="connsiteY3" fmla="*/ 2044931 h 3669682"/>
              <a:gd name="connsiteX4" fmla="*/ 681912 w 9750869"/>
              <a:gd name="connsiteY4" fmla="*/ 3549535 h 3669682"/>
              <a:gd name="connsiteX5" fmla="*/ 3350298 w 9750869"/>
              <a:gd name="connsiteY5" fmla="*/ 3574473 h 3669682"/>
              <a:gd name="connsiteX6" fmla="*/ 9244021 w 9750869"/>
              <a:gd name="connsiteY6" fmla="*/ 3491346 h 3669682"/>
              <a:gd name="connsiteX0" fmla="*/ 158210 w 10006502"/>
              <a:gd name="connsiteY0" fmla="*/ 33251 h 3669682"/>
              <a:gd name="connsiteX1" fmla="*/ 8271432 w 10006502"/>
              <a:gd name="connsiteY1" fmla="*/ 0 h 3669682"/>
              <a:gd name="connsiteX2" fmla="*/ 8936450 w 10006502"/>
              <a:gd name="connsiteY2" fmla="*/ 1936866 h 3669682"/>
              <a:gd name="connsiteX3" fmla="*/ 740101 w 10006502"/>
              <a:gd name="connsiteY3" fmla="*/ 2044931 h 3669682"/>
              <a:gd name="connsiteX4" fmla="*/ 681912 w 10006502"/>
              <a:gd name="connsiteY4" fmla="*/ 3549535 h 3669682"/>
              <a:gd name="connsiteX5" fmla="*/ 3350298 w 10006502"/>
              <a:gd name="connsiteY5" fmla="*/ 3574473 h 3669682"/>
              <a:gd name="connsiteX6" fmla="*/ 9244021 w 10006502"/>
              <a:gd name="connsiteY6" fmla="*/ 3491346 h 3669682"/>
              <a:gd name="connsiteX0" fmla="*/ 158210 w 9796602"/>
              <a:gd name="connsiteY0" fmla="*/ 33251 h 3669682"/>
              <a:gd name="connsiteX1" fmla="*/ 8271432 w 9796602"/>
              <a:gd name="connsiteY1" fmla="*/ 0 h 3669682"/>
              <a:gd name="connsiteX2" fmla="*/ 8936450 w 9796602"/>
              <a:gd name="connsiteY2" fmla="*/ 1936866 h 3669682"/>
              <a:gd name="connsiteX3" fmla="*/ 740101 w 9796602"/>
              <a:gd name="connsiteY3" fmla="*/ 2044931 h 3669682"/>
              <a:gd name="connsiteX4" fmla="*/ 681912 w 9796602"/>
              <a:gd name="connsiteY4" fmla="*/ 3549535 h 3669682"/>
              <a:gd name="connsiteX5" fmla="*/ 3350298 w 9796602"/>
              <a:gd name="connsiteY5" fmla="*/ 3574473 h 3669682"/>
              <a:gd name="connsiteX6" fmla="*/ 9244021 w 9796602"/>
              <a:gd name="connsiteY6" fmla="*/ 3491346 h 3669682"/>
              <a:gd name="connsiteX0" fmla="*/ 158210 w 9792124"/>
              <a:gd name="connsiteY0" fmla="*/ 33251 h 3669682"/>
              <a:gd name="connsiteX1" fmla="*/ 8271432 w 9792124"/>
              <a:gd name="connsiteY1" fmla="*/ 0 h 3669682"/>
              <a:gd name="connsiteX2" fmla="*/ 8936450 w 9792124"/>
              <a:gd name="connsiteY2" fmla="*/ 1936866 h 3669682"/>
              <a:gd name="connsiteX3" fmla="*/ 740101 w 9792124"/>
              <a:gd name="connsiteY3" fmla="*/ 2044931 h 3669682"/>
              <a:gd name="connsiteX4" fmla="*/ 681912 w 9792124"/>
              <a:gd name="connsiteY4" fmla="*/ 3549535 h 3669682"/>
              <a:gd name="connsiteX5" fmla="*/ 3350298 w 9792124"/>
              <a:gd name="connsiteY5" fmla="*/ 3574473 h 3669682"/>
              <a:gd name="connsiteX6" fmla="*/ 9244021 w 9792124"/>
              <a:gd name="connsiteY6" fmla="*/ 3491346 h 3669682"/>
              <a:gd name="connsiteX0" fmla="*/ 158210 w 9531516"/>
              <a:gd name="connsiteY0" fmla="*/ 33251 h 3669682"/>
              <a:gd name="connsiteX1" fmla="*/ 8271432 w 9531516"/>
              <a:gd name="connsiteY1" fmla="*/ 0 h 3669682"/>
              <a:gd name="connsiteX2" fmla="*/ 8936450 w 9531516"/>
              <a:gd name="connsiteY2" fmla="*/ 1936866 h 3669682"/>
              <a:gd name="connsiteX3" fmla="*/ 740101 w 9531516"/>
              <a:gd name="connsiteY3" fmla="*/ 2044931 h 3669682"/>
              <a:gd name="connsiteX4" fmla="*/ 681912 w 9531516"/>
              <a:gd name="connsiteY4" fmla="*/ 3549535 h 3669682"/>
              <a:gd name="connsiteX5" fmla="*/ 3350298 w 9531516"/>
              <a:gd name="connsiteY5" fmla="*/ 3574473 h 3669682"/>
              <a:gd name="connsiteX6" fmla="*/ 9244021 w 9531516"/>
              <a:gd name="connsiteY6" fmla="*/ 3491346 h 3669682"/>
              <a:gd name="connsiteX0" fmla="*/ 118227 w 9204038"/>
              <a:gd name="connsiteY0" fmla="*/ 33251 h 3669682"/>
              <a:gd name="connsiteX1" fmla="*/ 8231449 w 9204038"/>
              <a:gd name="connsiteY1" fmla="*/ 0 h 3669682"/>
              <a:gd name="connsiteX2" fmla="*/ 8339515 w 9204038"/>
              <a:gd name="connsiteY2" fmla="*/ 1920241 h 3669682"/>
              <a:gd name="connsiteX3" fmla="*/ 700118 w 9204038"/>
              <a:gd name="connsiteY3" fmla="*/ 2044931 h 3669682"/>
              <a:gd name="connsiteX4" fmla="*/ 641929 w 9204038"/>
              <a:gd name="connsiteY4" fmla="*/ 3549535 h 3669682"/>
              <a:gd name="connsiteX5" fmla="*/ 3310315 w 9204038"/>
              <a:gd name="connsiteY5" fmla="*/ 3574473 h 3669682"/>
              <a:gd name="connsiteX6" fmla="*/ 9204038 w 9204038"/>
              <a:gd name="connsiteY6" fmla="*/ 3491346 h 3669682"/>
              <a:gd name="connsiteX0" fmla="*/ 118227 w 9461800"/>
              <a:gd name="connsiteY0" fmla="*/ 33251 h 3669682"/>
              <a:gd name="connsiteX1" fmla="*/ 8231449 w 9461800"/>
              <a:gd name="connsiteY1" fmla="*/ 0 h 3669682"/>
              <a:gd name="connsiteX2" fmla="*/ 8339515 w 9461800"/>
              <a:gd name="connsiteY2" fmla="*/ 1920241 h 3669682"/>
              <a:gd name="connsiteX3" fmla="*/ 700118 w 9461800"/>
              <a:gd name="connsiteY3" fmla="*/ 2044931 h 3669682"/>
              <a:gd name="connsiteX4" fmla="*/ 641929 w 9461800"/>
              <a:gd name="connsiteY4" fmla="*/ 3549535 h 3669682"/>
              <a:gd name="connsiteX5" fmla="*/ 3310315 w 9461800"/>
              <a:gd name="connsiteY5" fmla="*/ 3574473 h 3669682"/>
              <a:gd name="connsiteX6" fmla="*/ 9204038 w 9461800"/>
              <a:gd name="connsiteY6" fmla="*/ 3491346 h 3669682"/>
              <a:gd name="connsiteX0" fmla="*/ 23 w 9343596"/>
              <a:gd name="connsiteY0" fmla="*/ 33251 h 3680729"/>
              <a:gd name="connsiteX1" fmla="*/ 8113245 w 9343596"/>
              <a:gd name="connsiteY1" fmla="*/ 0 h 3680729"/>
              <a:gd name="connsiteX2" fmla="*/ 8221311 w 9343596"/>
              <a:gd name="connsiteY2" fmla="*/ 1920241 h 3680729"/>
              <a:gd name="connsiteX3" fmla="*/ 1662568 w 9343596"/>
              <a:gd name="connsiteY3" fmla="*/ 1895302 h 3680729"/>
              <a:gd name="connsiteX4" fmla="*/ 523725 w 9343596"/>
              <a:gd name="connsiteY4" fmla="*/ 3549535 h 3680729"/>
              <a:gd name="connsiteX5" fmla="*/ 3192111 w 9343596"/>
              <a:gd name="connsiteY5" fmla="*/ 3574473 h 3680729"/>
              <a:gd name="connsiteX6" fmla="*/ 9085834 w 9343596"/>
              <a:gd name="connsiteY6" fmla="*/ 3491346 h 3680729"/>
              <a:gd name="connsiteX0" fmla="*/ 23 w 9343596"/>
              <a:gd name="connsiteY0" fmla="*/ 33251 h 3680729"/>
              <a:gd name="connsiteX1" fmla="*/ 8113245 w 9343596"/>
              <a:gd name="connsiteY1" fmla="*/ 0 h 3680729"/>
              <a:gd name="connsiteX2" fmla="*/ 8221311 w 9343596"/>
              <a:gd name="connsiteY2" fmla="*/ 1920241 h 3680729"/>
              <a:gd name="connsiteX3" fmla="*/ 1662568 w 9343596"/>
              <a:gd name="connsiteY3" fmla="*/ 1895302 h 3680729"/>
              <a:gd name="connsiteX4" fmla="*/ 523725 w 9343596"/>
              <a:gd name="connsiteY4" fmla="*/ 3549535 h 3680729"/>
              <a:gd name="connsiteX5" fmla="*/ 3192111 w 9343596"/>
              <a:gd name="connsiteY5" fmla="*/ 3574473 h 3680729"/>
              <a:gd name="connsiteX6" fmla="*/ 9085834 w 9343596"/>
              <a:gd name="connsiteY6" fmla="*/ 3491346 h 3680729"/>
              <a:gd name="connsiteX0" fmla="*/ 23 w 9343596"/>
              <a:gd name="connsiteY0" fmla="*/ 33251 h 3904253"/>
              <a:gd name="connsiteX1" fmla="*/ 8113245 w 9343596"/>
              <a:gd name="connsiteY1" fmla="*/ 0 h 3904253"/>
              <a:gd name="connsiteX2" fmla="*/ 8221311 w 9343596"/>
              <a:gd name="connsiteY2" fmla="*/ 1920241 h 3904253"/>
              <a:gd name="connsiteX3" fmla="*/ 1662568 w 9343596"/>
              <a:gd name="connsiteY3" fmla="*/ 1895302 h 3904253"/>
              <a:gd name="connsiteX4" fmla="*/ 1645943 w 9343596"/>
              <a:gd name="connsiteY4" fmla="*/ 3815542 h 3904253"/>
              <a:gd name="connsiteX5" fmla="*/ 3192111 w 9343596"/>
              <a:gd name="connsiteY5" fmla="*/ 3574473 h 3904253"/>
              <a:gd name="connsiteX6" fmla="*/ 9085834 w 9343596"/>
              <a:gd name="connsiteY6" fmla="*/ 3491346 h 3904253"/>
              <a:gd name="connsiteX0" fmla="*/ 23 w 9343596"/>
              <a:gd name="connsiteY0" fmla="*/ 33251 h 3816419"/>
              <a:gd name="connsiteX1" fmla="*/ 8113245 w 9343596"/>
              <a:gd name="connsiteY1" fmla="*/ 0 h 3816419"/>
              <a:gd name="connsiteX2" fmla="*/ 8221311 w 9343596"/>
              <a:gd name="connsiteY2" fmla="*/ 1920241 h 3816419"/>
              <a:gd name="connsiteX3" fmla="*/ 1662568 w 9343596"/>
              <a:gd name="connsiteY3" fmla="*/ 1895302 h 3816419"/>
              <a:gd name="connsiteX4" fmla="*/ 1645943 w 9343596"/>
              <a:gd name="connsiteY4" fmla="*/ 3815542 h 3816419"/>
              <a:gd name="connsiteX5" fmla="*/ 3192111 w 9343596"/>
              <a:gd name="connsiteY5" fmla="*/ 3574473 h 3816419"/>
              <a:gd name="connsiteX6" fmla="*/ 9085834 w 9343596"/>
              <a:gd name="connsiteY6" fmla="*/ 3491346 h 3816419"/>
              <a:gd name="connsiteX0" fmla="*/ 23 w 9343596"/>
              <a:gd name="connsiteY0" fmla="*/ 33251 h 3890456"/>
              <a:gd name="connsiteX1" fmla="*/ 8113245 w 9343596"/>
              <a:gd name="connsiteY1" fmla="*/ 0 h 3890456"/>
              <a:gd name="connsiteX2" fmla="*/ 8221311 w 9343596"/>
              <a:gd name="connsiteY2" fmla="*/ 1920241 h 3890456"/>
              <a:gd name="connsiteX3" fmla="*/ 1662568 w 9343596"/>
              <a:gd name="connsiteY3" fmla="*/ 1895302 h 3890456"/>
              <a:gd name="connsiteX4" fmla="*/ 1645943 w 9343596"/>
              <a:gd name="connsiteY4" fmla="*/ 3815542 h 3890456"/>
              <a:gd name="connsiteX5" fmla="*/ 9085834 w 9343596"/>
              <a:gd name="connsiteY5" fmla="*/ 3491346 h 3890456"/>
              <a:gd name="connsiteX0" fmla="*/ 23 w 9459907"/>
              <a:gd name="connsiteY0" fmla="*/ 33251 h 3987355"/>
              <a:gd name="connsiteX1" fmla="*/ 8113245 w 9459907"/>
              <a:gd name="connsiteY1" fmla="*/ 0 h 3987355"/>
              <a:gd name="connsiteX2" fmla="*/ 8221311 w 9459907"/>
              <a:gd name="connsiteY2" fmla="*/ 1920241 h 3987355"/>
              <a:gd name="connsiteX3" fmla="*/ 1662568 w 9459907"/>
              <a:gd name="connsiteY3" fmla="*/ 1895302 h 3987355"/>
              <a:gd name="connsiteX4" fmla="*/ 1645943 w 9459907"/>
              <a:gd name="connsiteY4" fmla="*/ 3815542 h 3987355"/>
              <a:gd name="connsiteX5" fmla="*/ 9459907 w 9459907"/>
              <a:gd name="connsiteY5" fmla="*/ 3848793 h 3987355"/>
              <a:gd name="connsiteX0" fmla="*/ 23 w 9459907"/>
              <a:gd name="connsiteY0" fmla="*/ 33251 h 3965624"/>
              <a:gd name="connsiteX1" fmla="*/ 8113245 w 9459907"/>
              <a:gd name="connsiteY1" fmla="*/ 0 h 3965624"/>
              <a:gd name="connsiteX2" fmla="*/ 8221311 w 9459907"/>
              <a:gd name="connsiteY2" fmla="*/ 1920241 h 3965624"/>
              <a:gd name="connsiteX3" fmla="*/ 1662568 w 9459907"/>
              <a:gd name="connsiteY3" fmla="*/ 1895302 h 3965624"/>
              <a:gd name="connsiteX4" fmla="*/ 1645943 w 9459907"/>
              <a:gd name="connsiteY4" fmla="*/ 3815542 h 3965624"/>
              <a:gd name="connsiteX5" fmla="*/ 9459907 w 9459907"/>
              <a:gd name="connsiteY5" fmla="*/ 3848793 h 3965624"/>
              <a:gd name="connsiteX0" fmla="*/ 23 w 9459907"/>
              <a:gd name="connsiteY0" fmla="*/ 33251 h 3848807"/>
              <a:gd name="connsiteX1" fmla="*/ 8113245 w 9459907"/>
              <a:gd name="connsiteY1" fmla="*/ 0 h 3848807"/>
              <a:gd name="connsiteX2" fmla="*/ 8221311 w 9459907"/>
              <a:gd name="connsiteY2" fmla="*/ 1920241 h 3848807"/>
              <a:gd name="connsiteX3" fmla="*/ 1662568 w 9459907"/>
              <a:gd name="connsiteY3" fmla="*/ 1895302 h 3848807"/>
              <a:gd name="connsiteX4" fmla="*/ 1645943 w 9459907"/>
              <a:gd name="connsiteY4" fmla="*/ 3815542 h 3848807"/>
              <a:gd name="connsiteX5" fmla="*/ 9459907 w 9459907"/>
              <a:gd name="connsiteY5" fmla="*/ 3848793 h 3848807"/>
              <a:gd name="connsiteX0" fmla="*/ 23 w 9459907"/>
              <a:gd name="connsiteY0" fmla="*/ 33251 h 3848793"/>
              <a:gd name="connsiteX1" fmla="*/ 8113245 w 9459907"/>
              <a:gd name="connsiteY1" fmla="*/ 0 h 3848793"/>
              <a:gd name="connsiteX2" fmla="*/ 8221311 w 9459907"/>
              <a:gd name="connsiteY2" fmla="*/ 1920241 h 3848793"/>
              <a:gd name="connsiteX3" fmla="*/ 1662568 w 9459907"/>
              <a:gd name="connsiteY3" fmla="*/ 1895302 h 3848793"/>
              <a:gd name="connsiteX4" fmla="*/ 1645943 w 9459907"/>
              <a:gd name="connsiteY4" fmla="*/ 3815542 h 3848793"/>
              <a:gd name="connsiteX5" fmla="*/ 9459907 w 9459907"/>
              <a:gd name="connsiteY5" fmla="*/ 3848793 h 3848793"/>
              <a:gd name="connsiteX0" fmla="*/ 23 w 9459907"/>
              <a:gd name="connsiteY0" fmla="*/ 33251 h 3848793"/>
              <a:gd name="connsiteX1" fmla="*/ 8113245 w 9459907"/>
              <a:gd name="connsiteY1" fmla="*/ 0 h 3848793"/>
              <a:gd name="connsiteX2" fmla="*/ 8221311 w 9459907"/>
              <a:gd name="connsiteY2" fmla="*/ 1920241 h 3848793"/>
              <a:gd name="connsiteX3" fmla="*/ 1662568 w 9459907"/>
              <a:gd name="connsiteY3" fmla="*/ 1895302 h 3848793"/>
              <a:gd name="connsiteX4" fmla="*/ 1645943 w 9459907"/>
              <a:gd name="connsiteY4" fmla="*/ 3815542 h 3848793"/>
              <a:gd name="connsiteX5" fmla="*/ 9459907 w 9459907"/>
              <a:gd name="connsiteY5" fmla="*/ 3848793 h 3848793"/>
              <a:gd name="connsiteX0" fmla="*/ 21 w 9759163"/>
              <a:gd name="connsiteY0" fmla="*/ 0 h 3859499"/>
              <a:gd name="connsiteX1" fmla="*/ 8412501 w 9759163"/>
              <a:gd name="connsiteY1" fmla="*/ 10706 h 3859499"/>
              <a:gd name="connsiteX2" fmla="*/ 8520567 w 9759163"/>
              <a:gd name="connsiteY2" fmla="*/ 1930947 h 3859499"/>
              <a:gd name="connsiteX3" fmla="*/ 1961824 w 9759163"/>
              <a:gd name="connsiteY3" fmla="*/ 1906008 h 3859499"/>
              <a:gd name="connsiteX4" fmla="*/ 1945199 w 9759163"/>
              <a:gd name="connsiteY4" fmla="*/ 3826248 h 3859499"/>
              <a:gd name="connsiteX5" fmla="*/ 9759163 w 9759163"/>
              <a:gd name="connsiteY5" fmla="*/ 3859499 h 3859499"/>
              <a:gd name="connsiteX0" fmla="*/ 21 w 9855806"/>
              <a:gd name="connsiteY0" fmla="*/ 0 h 3859499"/>
              <a:gd name="connsiteX1" fmla="*/ 8412501 w 9855806"/>
              <a:gd name="connsiteY1" fmla="*/ 10706 h 3859499"/>
              <a:gd name="connsiteX2" fmla="*/ 8520567 w 9855806"/>
              <a:gd name="connsiteY2" fmla="*/ 1930947 h 3859499"/>
              <a:gd name="connsiteX3" fmla="*/ 1961824 w 9855806"/>
              <a:gd name="connsiteY3" fmla="*/ 1906008 h 3859499"/>
              <a:gd name="connsiteX4" fmla="*/ 1945199 w 9855806"/>
              <a:gd name="connsiteY4" fmla="*/ 3826248 h 3859499"/>
              <a:gd name="connsiteX5" fmla="*/ 9759163 w 9855806"/>
              <a:gd name="connsiteY5" fmla="*/ 3859499 h 3859499"/>
              <a:gd name="connsiteX0" fmla="*/ 21 w 9863821"/>
              <a:gd name="connsiteY0" fmla="*/ 0 h 3859499"/>
              <a:gd name="connsiteX1" fmla="*/ 8412501 w 9863821"/>
              <a:gd name="connsiteY1" fmla="*/ 10706 h 3859499"/>
              <a:gd name="connsiteX2" fmla="*/ 8520567 w 9863821"/>
              <a:gd name="connsiteY2" fmla="*/ 1930947 h 3859499"/>
              <a:gd name="connsiteX3" fmla="*/ 1961824 w 9863821"/>
              <a:gd name="connsiteY3" fmla="*/ 1906008 h 3859499"/>
              <a:gd name="connsiteX4" fmla="*/ 1945199 w 9863821"/>
              <a:gd name="connsiteY4" fmla="*/ 3826248 h 3859499"/>
              <a:gd name="connsiteX5" fmla="*/ 9759163 w 9863821"/>
              <a:gd name="connsiteY5" fmla="*/ 3859499 h 3859499"/>
              <a:gd name="connsiteX0" fmla="*/ 21 w 9871879"/>
              <a:gd name="connsiteY0" fmla="*/ 0 h 3859499"/>
              <a:gd name="connsiteX1" fmla="*/ 8412501 w 9871879"/>
              <a:gd name="connsiteY1" fmla="*/ 10706 h 3859499"/>
              <a:gd name="connsiteX2" fmla="*/ 8520567 w 9871879"/>
              <a:gd name="connsiteY2" fmla="*/ 1930947 h 3859499"/>
              <a:gd name="connsiteX3" fmla="*/ 1961824 w 9871879"/>
              <a:gd name="connsiteY3" fmla="*/ 1906008 h 3859499"/>
              <a:gd name="connsiteX4" fmla="*/ 1945199 w 9871879"/>
              <a:gd name="connsiteY4" fmla="*/ 3826248 h 3859499"/>
              <a:gd name="connsiteX5" fmla="*/ 9759163 w 9871879"/>
              <a:gd name="connsiteY5" fmla="*/ 3859499 h 3859499"/>
              <a:gd name="connsiteX0" fmla="*/ 21 w 9759163"/>
              <a:gd name="connsiteY0" fmla="*/ 0 h 3859499"/>
              <a:gd name="connsiteX1" fmla="*/ 8412501 w 9759163"/>
              <a:gd name="connsiteY1" fmla="*/ 10706 h 3859499"/>
              <a:gd name="connsiteX2" fmla="*/ 8520567 w 9759163"/>
              <a:gd name="connsiteY2" fmla="*/ 1930947 h 3859499"/>
              <a:gd name="connsiteX3" fmla="*/ 1961824 w 9759163"/>
              <a:gd name="connsiteY3" fmla="*/ 1906008 h 3859499"/>
              <a:gd name="connsiteX4" fmla="*/ 1945199 w 9759163"/>
              <a:gd name="connsiteY4" fmla="*/ 3826248 h 3859499"/>
              <a:gd name="connsiteX5" fmla="*/ 9759163 w 9759163"/>
              <a:gd name="connsiteY5" fmla="*/ 3859499 h 3859499"/>
              <a:gd name="connsiteX0" fmla="*/ 21 w 9759163"/>
              <a:gd name="connsiteY0" fmla="*/ 0 h 3859499"/>
              <a:gd name="connsiteX1" fmla="*/ 8412501 w 9759163"/>
              <a:gd name="connsiteY1" fmla="*/ 10706 h 3859499"/>
              <a:gd name="connsiteX2" fmla="*/ 8520567 w 9759163"/>
              <a:gd name="connsiteY2" fmla="*/ 1930947 h 3859499"/>
              <a:gd name="connsiteX3" fmla="*/ 1961824 w 9759163"/>
              <a:gd name="connsiteY3" fmla="*/ 1906008 h 3859499"/>
              <a:gd name="connsiteX4" fmla="*/ 1945199 w 9759163"/>
              <a:gd name="connsiteY4" fmla="*/ 3826248 h 3859499"/>
              <a:gd name="connsiteX5" fmla="*/ 9759163 w 9759163"/>
              <a:gd name="connsiteY5" fmla="*/ 3859499 h 3859499"/>
              <a:gd name="connsiteX0" fmla="*/ 21 w 9759163"/>
              <a:gd name="connsiteY0" fmla="*/ 0 h 3859499"/>
              <a:gd name="connsiteX1" fmla="*/ 8412501 w 9759163"/>
              <a:gd name="connsiteY1" fmla="*/ 10706 h 3859499"/>
              <a:gd name="connsiteX2" fmla="*/ 8520567 w 9759163"/>
              <a:gd name="connsiteY2" fmla="*/ 1930947 h 3859499"/>
              <a:gd name="connsiteX3" fmla="*/ 1961824 w 9759163"/>
              <a:gd name="connsiteY3" fmla="*/ 1906008 h 3859499"/>
              <a:gd name="connsiteX4" fmla="*/ 1945199 w 9759163"/>
              <a:gd name="connsiteY4" fmla="*/ 3826248 h 3859499"/>
              <a:gd name="connsiteX5" fmla="*/ 9759163 w 9759163"/>
              <a:gd name="connsiteY5" fmla="*/ 3859499 h 3859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759163" h="3859499">
                <a:moveTo>
                  <a:pt x="21" y="0"/>
                </a:moveTo>
                <a:cubicBezTo>
                  <a:pt x="-13833" y="2078"/>
                  <a:pt x="6817843" y="17633"/>
                  <a:pt x="8412501" y="10706"/>
                </a:cubicBezTo>
                <a:cubicBezTo>
                  <a:pt x="9838047" y="10076"/>
                  <a:pt x="10035301" y="1923391"/>
                  <a:pt x="8520567" y="1930947"/>
                </a:cubicBezTo>
                <a:lnTo>
                  <a:pt x="1961824" y="1906008"/>
                </a:lnTo>
                <a:cubicBezTo>
                  <a:pt x="766176" y="1930945"/>
                  <a:pt x="820210" y="3824863"/>
                  <a:pt x="1945199" y="3826248"/>
                </a:cubicBezTo>
                <a:lnTo>
                  <a:pt x="9759163" y="3859499"/>
                </a:lnTo>
              </a:path>
            </a:pathLst>
          </a:custGeom>
          <a:noFill/>
          <a:ln w="12700" cap="flat" cmpd="sng" algn="ctr">
            <a:solidFill>
              <a:srgbClr val="DCA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imSun" panose="02010600030101010101" pitchFamily="2" charset="-122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D22DDB3-8385-6744-B68B-0533275973FD}"/>
              </a:ext>
            </a:extLst>
          </p:cNvPr>
          <p:cNvSpPr/>
          <p:nvPr/>
        </p:nvSpPr>
        <p:spPr>
          <a:xfrm>
            <a:off x="870116" y="1149803"/>
            <a:ext cx="365760" cy="365760"/>
          </a:xfrm>
          <a:prstGeom prst="ellipse">
            <a:avLst/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lang="en-US" sz="1500" b="1" kern="0" spc="-23" dirty="0">
                <a:solidFill>
                  <a:srgbClr val="FFFFFF"/>
                </a:solidFill>
                <a:latin typeface="Graphik Semibold" panose="020B0703030202060203" pitchFamily="34" charset="0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C10566-92F2-F390-5C02-9BA1850A1E9E}"/>
              </a:ext>
            </a:extLst>
          </p:cNvPr>
          <p:cNvSpPr txBox="1"/>
          <p:nvPr/>
        </p:nvSpPr>
        <p:spPr>
          <a:xfrm>
            <a:off x="2818979" y="1586038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1" dirty="0">
                <a:solidFill>
                  <a:srgbClr val="000000"/>
                </a:solidFill>
                <a:latin typeface="Graphik"/>
              </a:rPr>
              <a:t>Workshop Analysis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0" dirty="0">
                <a:solidFill>
                  <a:srgbClr val="4A4A4A"/>
                </a:solidFill>
                <a:latin typeface="Graphik"/>
              </a:rPr>
              <a:t>Friction mapping, As-Is Pain Point extraction, archetype-based AI opportunity analysis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96421D8D-C7F2-0169-E5FF-769657D4A650}"/>
              </a:ext>
            </a:extLst>
          </p:cNvPr>
          <p:cNvSpPr/>
          <p:nvPr/>
        </p:nvSpPr>
        <p:spPr>
          <a:xfrm>
            <a:off x="3459059" y="1149803"/>
            <a:ext cx="365760" cy="365760"/>
          </a:xfrm>
          <a:prstGeom prst="ellipse">
            <a:avLst/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lang="en-US" sz="1500" b="1" kern="0" spc="-23" dirty="0">
                <a:solidFill>
                  <a:srgbClr val="FFFFFF"/>
                </a:solidFill>
                <a:latin typeface="Graphik Semibold" panose="020B0703030202060203" pitchFamily="34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30DB53A-36A1-AC28-F7B7-A9CE38F6D445}"/>
              </a:ext>
            </a:extLst>
          </p:cNvPr>
          <p:cNvSpPr txBox="1"/>
          <p:nvPr/>
        </p:nvSpPr>
        <p:spPr>
          <a:xfrm>
            <a:off x="230036" y="1586038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1" dirty="0">
                <a:solidFill>
                  <a:srgbClr val="000000"/>
                </a:solidFill>
                <a:latin typeface="Graphik"/>
              </a:rPr>
              <a:t>Discovery &amp; Scoping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0" dirty="0">
                <a:solidFill>
                  <a:srgbClr val="4A4A4A"/>
                </a:solidFill>
                <a:latin typeface="Graphik"/>
              </a:rPr>
              <a:t>PDLC landscape analysis, tool inventory, archetype identification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FF3DF18-8DBD-8044-D616-7310BD1C5F7F}"/>
              </a:ext>
            </a:extLst>
          </p:cNvPr>
          <p:cNvSpPr/>
          <p:nvPr/>
        </p:nvSpPr>
        <p:spPr>
          <a:xfrm>
            <a:off x="6048002" y="1149803"/>
            <a:ext cx="365760" cy="365760"/>
          </a:xfrm>
          <a:prstGeom prst="ellipse">
            <a:avLst/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lang="en-US" sz="1500" b="1" kern="0" spc="-23" dirty="0">
                <a:solidFill>
                  <a:srgbClr val="FFFFFF"/>
                </a:solidFill>
                <a:latin typeface="Graphik Semibold" panose="020B0703030202060203" pitchFamily="34" charset="0"/>
              </a:rPr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59104D-C9E7-B9B7-FC6E-A38E168B6F19}"/>
              </a:ext>
            </a:extLst>
          </p:cNvPr>
          <p:cNvSpPr txBox="1"/>
          <p:nvPr/>
        </p:nvSpPr>
        <p:spPr>
          <a:xfrm>
            <a:off x="5460215" y="1586038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1">
                <a:solidFill>
                  <a:srgbClr val="000000"/>
                </a:solidFill>
                <a:latin typeface="Graphik"/>
              </a:rPr>
              <a:t>POC Ideation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0">
                <a:solidFill>
                  <a:srgbClr val="4A4A4A"/>
                </a:solidFill>
                <a:latin typeface="Graphik"/>
              </a:rPr>
              <a:t>GenAI agent prioritization, feasibility assessment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639D18E-847F-805F-D58D-9D43D5413005}"/>
              </a:ext>
            </a:extLst>
          </p:cNvPr>
          <p:cNvSpPr/>
          <p:nvPr/>
        </p:nvSpPr>
        <p:spPr>
          <a:xfrm>
            <a:off x="6048002" y="2362308"/>
            <a:ext cx="365760" cy="365760"/>
          </a:xfrm>
          <a:prstGeom prst="ellipse">
            <a:avLst/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lang="en-US" sz="1500" b="1" kern="0" spc="-23" dirty="0">
                <a:solidFill>
                  <a:srgbClr val="FFFFFF"/>
                </a:solidFill>
                <a:latin typeface="Graphik Semibold" panose="020B0703030202060203" pitchFamily="34" charset="0"/>
              </a:rPr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C0EF51-25B7-DC3D-EE32-31DC3523683E}"/>
              </a:ext>
            </a:extLst>
          </p:cNvPr>
          <p:cNvSpPr txBox="1"/>
          <p:nvPr/>
        </p:nvSpPr>
        <p:spPr>
          <a:xfrm>
            <a:off x="5515127" y="2805348"/>
            <a:ext cx="143151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1">
                <a:solidFill>
                  <a:srgbClr val="000000"/>
                </a:solidFill>
                <a:latin typeface="Graphik"/>
              </a:rPr>
              <a:t>Architecture &amp; Kickoff 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0">
                <a:solidFill>
                  <a:srgbClr val="4A4A4A"/>
                </a:solidFill>
                <a:latin typeface="Graphik"/>
              </a:rPr>
              <a:t>End-to-end POC design, dev-coordinated architecture finalization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6C1E5CC-7062-AAB4-FC44-455DB733E8DE}"/>
              </a:ext>
            </a:extLst>
          </p:cNvPr>
          <p:cNvSpPr/>
          <p:nvPr/>
        </p:nvSpPr>
        <p:spPr>
          <a:xfrm>
            <a:off x="2870200" y="2362308"/>
            <a:ext cx="365760" cy="365760"/>
          </a:xfrm>
          <a:prstGeom prst="ellipse">
            <a:avLst/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lang="en-US" sz="1500" b="1" kern="0" spc="-23" dirty="0">
                <a:solidFill>
                  <a:srgbClr val="FFFFFF"/>
                </a:solidFill>
                <a:latin typeface="Graphik Semibold" panose="020B0703030202060203" pitchFamily="34" charset="0"/>
              </a:rPr>
              <a:t>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73A6019-1DEB-2B8C-ECBD-A5CD2B4E2423}"/>
              </a:ext>
            </a:extLst>
          </p:cNvPr>
          <p:cNvSpPr txBox="1"/>
          <p:nvPr/>
        </p:nvSpPr>
        <p:spPr>
          <a:xfrm>
            <a:off x="2236513" y="2805348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1" dirty="0">
                <a:solidFill>
                  <a:srgbClr val="000000"/>
                </a:solidFill>
                <a:latin typeface="Graphik"/>
              </a:rPr>
              <a:t>Metrics &amp; Measurement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0" dirty="0">
                <a:solidFill>
                  <a:srgbClr val="4A4A4A"/>
                </a:solidFill>
                <a:latin typeface="Graphik"/>
              </a:rPr>
              <a:t>KPI framework, AI impact tracking, outcome mapping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6CE02D0-79EB-48F6-D73D-A656A4A09AE7}"/>
              </a:ext>
            </a:extLst>
          </p:cNvPr>
          <p:cNvSpPr/>
          <p:nvPr/>
        </p:nvSpPr>
        <p:spPr>
          <a:xfrm>
            <a:off x="2235200" y="3585103"/>
            <a:ext cx="365760" cy="365760"/>
          </a:xfrm>
          <a:prstGeom prst="ellipse">
            <a:avLst/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lang="en-US" sz="1500" b="1" kern="0" spc="-23" dirty="0">
                <a:solidFill>
                  <a:srgbClr val="FFFFFF"/>
                </a:solidFill>
                <a:latin typeface="Graphik Semibold" panose="020B0703030202060203" pitchFamily="34" charset="0"/>
              </a:rPr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270054-C70B-C91F-C497-1CE20D171CBF}"/>
              </a:ext>
            </a:extLst>
          </p:cNvPr>
          <p:cNvSpPr txBox="1"/>
          <p:nvPr/>
        </p:nvSpPr>
        <p:spPr>
          <a:xfrm>
            <a:off x="1619995" y="4024470"/>
            <a:ext cx="1615965" cy="781811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1" dirty="0">
                <a:solidFill>
                  <a:srgbClr val="000000"/>
                </a:solidFill>
                <a:latin typeface="Graphik"/>
              </a:rPr>
              <a:t>Agentic Periodic Table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0" dirty="0">
                <a:solidFill>
                  <a:srgbClr val="4A4A4A"/>
                </a:solidFill>
                <a:latin typeface="Graphik"/>
              </a:rPr>
              <a:t>Agent-to-stage mapping, capability taxonomy, archetype-level recommendations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A436DF6-DF7B-8D32-029D-B4D37A478C24}"/>
              </a:ext>
            </a:extLst>
          </p:cNvPr>
          <p:cNvSpPr/>
          <p:nvPr/>
        </p:nvSpPr>
        <p:spPr>
          <a:xfrm>
            <a:off x="4820175" y="3585103"/>
            <a:ext cx="365760" cy="365760"/>
          </a:xfrm>
          <a:prstGeom prst="ellipse">
            <a:avLst/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lang="en-US" sz="1500" b="1" kern="0" spc="-23">
                <a:solidFill>
                  <a:srgbClr val="FFFFFF"/>
                </a:solidFill>
                <a:latin typeface="Graphik Semibold" panose="020B0703030202060203" pitchFamily="34" charset="0"/>
              </a:rPr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92131C-C353-18E3-58DB-55926FDC551F}"/>
              </a:ext>
            </a:extLst>
          </p:cNvPr>
          <p:cNvSpPr txBox="1"/>
          <p:nvPr/>
        </p:nvSpPr>
        <p:spPr>
          <a:xfrm>
            <a:off x="4223969" y="402447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1" dirty="0">
                <a:solidFill>
                  <a:srgbClr val="000000"/>
                </a:solidFill>
                <a:latin typeface="Graphik"/>
              </a:rPr>
              <a:t>Findings &amp; Synthesis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0" dirty="0">
                <a:solidFill>
                  <a:srgbClr val="4A4A4A"/>
                </a:solidFill>
                <a:latin typeface="Graphik"/>
              </a:rPr>
              <a:t>Cross-archetype friction patterns, archetype specific best-practice exploration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029BAD8-6BFF-2FBF-1AA4-C2354C653F52}"/>
              </a:ext>
            </a:extLst>
          </p:cNvPr>
          <p:cNvSpPr/>
          <p:nvPr/>
        </p:nvSpPr>
        <p:spPr>
          <a:xfrm>
            <a:off x="7405150" y="3585103"/>
            <a:ext cx="365760" cy="365760"/>
          </a:xfrm>
          <a:prstGeom prst="ellipse">
            <a:avLst/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lang="en-US" sz="1500" b="1" kern="0" spc="-23">
                <a:solidFill>
                  <a:srgbClr val="FFFFFF"/>
                </a:solidFill>
                <a:latin typeface="Graphik Semibold" panose="020B0703030202060203" pitchFamily="34" charset="0"/>
              </a:rPr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2688BE-0E6A-1EAD-DE14-1D419AC78085}"/>
              </a:ext>
            </a:extLst>
          </p:cNvPr>
          <p:cNvSpPr txBox="1"/>
          <p:nvPr/>
        </p:nvSpPr>
        <p:spPr>
          <a:xfrm>
            <a:off x="6701570" y="402447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1">
                <a:solidFill>
                  <a:srgbClr val="000000"/>
                </a:solidFill>
                <a:latin typeface="Graphik"/>
              </a:rPr>
              <a:t>Iteration &amp; Consolidation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en-US" sz="900" b="0">
                <a:solidFill>
                  <a:srgbClr val="4A4A4A"/>
                </a:solidFill>
                <a:latin typeface="Graphik"/>
              </a:rPr>
              <a:t>Refinement based on pattern findings, deliverable wrap-up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EED225BB-C493-12CE-233E-A220F371D2B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25" y="1236988"/>
            <a:ext cx="564791" cy="15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42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"/>
            <a:ext cx="4572000" cy="4310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97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Graphik" pitchFamily="34" charset="-122"/>
                <a:cs typeface="Graphik" pitchFamily="34" charset="-120"/>
              </a:rPr>
              <a:t>04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640080" y="20116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Graphik" pitchFamily="34" charset="-122"/>
                <a:cs typeface="Graphik" pitchFamily="34" charset="-120"/>
              </a:rPr>
              <a:t>Contributions Beyond Scope</a:t>
            </a:r>
            <a:endParaRPr kumimoji="0" lang="en-US" sz="3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ea typeface="Graphik" pitchFamily="34" charset="-122"/>
                <a:cs typeface="Graphik" pitchFamily="34" charset="-120"/>
              </a:rPr>
              <a:t>Expanding the original scope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E3308-75D5-D4BC-9834-FB74B9897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E0162E1F-E6CB-76DE-4570-54ED0B07F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E24CDAE-2439-7174-9B95-EF2FC2D2071E}"/>
              </a:ext>
            </a:extLst>
          </p:cNvPr>
          <p:cNvSpPr txBox="1">
            <a:spLocks/>
          </p:cNvSpPr>
          <p:nvPr/>
        </p:nvSpPr>
        <p:spPr>
          <a:xfrm>
            <a:off x="8638100" y="4767263"/>
            <a:ext cx="32038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F0DD-C3F4-0558-F979-0FAF501F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1E904E-87CF-F547-41B4-49EB363D444E}"/>
              </a:ext>
            </a:extLst>
          </p:cNvPr>
          <p:cNvSpPr txBox="1"/>
          <p:nvPr/>
        </p:nvSpPr>
        <p:spPr>
          <a:xfrm>
            <a:off x="429067" y="715235"/>
            <a:ext cx="7546533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latin typeface="Graphik" panose="020B0503030202060203" pitchFamily="34" charset="0"/>
              </a:rPr>
              <a:t>Diagnoses bugs, proposes the fix, verifies with tests. Projected savings:</a:t>
            </a:r>
            <a:r>
              <a:rPr sz="900" dirty="0">
                <a:solidFill>
                  <a:srgbClr val="7B8794"/>
                </a:solidFill>
                <a:latin typeface="Graphik" panose="020B0503030202060203" pitchFamily="34" charset="0"/>
              </a:rPr>
              <a:t> </a:t>
            </a:r>
            <a:r>
              <a:rPr lang="en-US" sz="900" b="1" dirty="0">
                <a:solidFill>
                  <a:srgbClr val="460073"/>
                </a:solidFill>
                <a:latin typeface="Graphik Semibold" panose="020B0703030202060203" pitchFamily="34" charset="0"/>
              </a:rPr>
              <a:t>~$17K/dev projected at 500 bugs/yr</a:t>
            </a:r>
            <a:endParaRPr sz="900" dirty="0">
              <a:solidFill>
                <a:srgbClr val="7B8794"/>
              </a:solidFill>
              <a:latin typeface="Graphik" panose="020B0503030202060203" pitchFamily="34" charset="0"/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A3A4200-8043-EE93-5C58-9581A24725A1}"/>
              </a:ext>
            </a:extLst>
          </p:cNvPr>
          <p:cNvGrpSpPr/>
          <p:nvPr/>
        </p:nvGrpSpPr>
        <p:grpSpPr>
          <a:xfrm>
            <a:off x="8058149" y="594360"/>
            <a:ext cx="720023" cy="478094"/>
            <a:chOff x="9001957" y="710214"/>
            <a:chExt cx="2774040" cy="29162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8F229E5D-D7FC-0D80-428E-E4458397DAAB}"/>
                </a:ext>
              </a:extLst>
            </p:cNvPr>
            <p:cNvSpPr/>
            <p:nvPr/>
          </p:nvSpPr>
          <p:spPr>
            <a:xfrm>
              <a:off x="9001957" y="710214"/>
              <a:ext cx="2656643" cy="291626"/>
            </a:xfrm>
            <a:prstGeom prst="roundRect">
              <a:avLst>
                <a:gd name="adj" fmla="val 12617"/>
              </a:avLst>
            </a:prstGeom>
            <a:gradFill flip="none" rotWithShape="1">
              <a:gsLst>
                <a:gs pos="0">
                  <a:srgbClr val="F8F0FF"/>
                </a:gs>
                <a:gs pos="100000">
                  <a:srgbClr val="EDE0F5"/>
                </a:gs>
              </a:gsLst>
              <a:lin ang="8100000" scaled="0"/>
            </a:gradFill>
            <a:ln w="31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sz="1350">
                <a:latin typeface="Graphik Semibold" panose="020B070303020206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F0BCF9-3F8A-1CF7-325D-B9AE88115B96}"/>
                </a:ext>
              </a:extLst>
            </p:cNvPr>
            <p:cNvSpPr txBox="1"/>
            <p:nvPr/>
          </p:nvSpPr>
          <p:spPr>
            <a:xfrm>
              <a:off x="9332234" y="738347"/>
              <a:ext cx="2443763" cy="20005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50" b="1" spc="113" dirty="0">
                  <a:solidFill>
                    <a:srgbClr val="7030A0"/>
                  </a:solidFill>
                  <a:latin typeface="Graphik Semibold" panose="020B0703030202060203" pitchFamily="34" charset="0"/>
                </a:rPr>
                <a:t>VALIDATED</a:t>
              </a:r>
            </a:p>
            <a:p>
              <a:pPr algn="l"/>
              <a:r>
                <a:rPr sz="525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Tested on complex, buggy</a:t>
              </a:r>
              <a:r>
                <a:rPr lang="en-US" sz="525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 </a:t>
              </a:r>
              <a:r>
                <a:rPr sz="525" b="1" dirty="0">
                  <a:solidFill>
                    <a:srgbClr val="44546A"/>
                  </a:solidFill>
                  <a:latin typeface="Graphik Semibold" panose="020B0703030202060203" pitchFamily="34" charset="0"/>
                </a:rPr>
                <a:t>open-source GitHub repos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0D93F9-C244-915C-E673-DBE480E5E5B7}"/>
              </a:ext>
            </a:extLst>
          </p:cNvPr>
          <p:cNvSpPr/>
          <p:nvPr/>
        </p:nvSpPr>
        <p:spPr>
          <a:xfrm>
            <a:off x="400050" y="1127468"/>
            <a:ext cx="2171700" cy="2863014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F8F0FF"/>
              </a:gs>
              <a:gs pos="100000">
                <a:srgbClr val="FFFFFF"/>
              </a:gs>
            </a:gsLst>
            <a:lin ang="10800000" scaled="0"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E5B638-189A-6C00-9E4F-8507BA97B9DD}"/>
              </a:ext>
            </a:extLst>
          </p:cNvPr>
          <p:cNvSpPr txBox="1"/>
          <p:nvPr/>
        </p:nvSpPr>
        <p:spPr>
          <a:xfrm>
            <a:off x="514350" y="1241768"/>
            <a:ext cx="1943100" cy="86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3" b="1" spc="113">
                <a:solidFill>
                  <a:srgbClr val="6B7280"/>
                </a:solidFill>
                <a:latin typeface="Graphik Semibold" panose="020B0703030202060203" pitchFamily="34" charset="0"/>
              </a:rPr>
              <a:t>OPTION 1: MANUAL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9B5718-D837-BC4A-83C6-AB20B4D06112}"/>
              </a:ext>
            </a:extLst>
          </p:cNvPr>
          <p:cNvSpPr txBox="1"/>
          <p:nvPr/>
        </p:nvSpPr>
        <p:spPr>
          <a:xfrm>
            <a:off x="514350" y="1356067"/>
            <a:ext cx="120015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>
                <a:latin typeface="Graphik Semibold" panose="020B0703030202060203" pitchFamily="34" charset="0"/>
              </a:rPr>
              <a:t>Developer alone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EFC16B-4F19-E6BA-AF0B-9C1966015AD6}"/>
              </a:ext>
            </a:extLst>
          </p:cNvPr>
          <p:cNvSpPr txBox="1"/>
          <p:nvPr/>
        </p:nvSpPr>
        <p:spPr>
          <a:xfrm>
            <a:off x="1885950" y="1287889"/>
            <a:ext cx="571500" cy="25391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sz="1650" b="1">
                <a:solidFill>
                  <a:srgbClr val="6B7280"/>
                </a:solidFill>
                <a:latin typeface="Graphik" panose="020B0503030202060203" pitchFamily="34" charset="0"/>
              </a:rPr>
              <a:t>75</a:t>
            </a:r>
            <a:r>
              <a:rPr sz="675" b="1">
                <a:solidFill>
                  <a:srgbClr val="7B8794"/>
                </a:solidFill>
                <a:latin typeface="Graphik" panose="020B0503030202060203" pitchFamily="34" charset="0"/>
              </a:rPr>
              <a:t> min</a:t>
            </a:r>
            <a:r>
              <a:rPr lang="en-US" sz="675" b="1">
                <a:solidFill>
                  <a:srgbClr val="7B8794"/>
                </a:solidFill>
                <a:latin typeface="Graphik" panose="020B0503030202060203" pitchFamily="34" charset="0"/>
              </a:rPr>
              <a:t>s</a:t>
            </a:r>
            <a:endParaRPr sz="675" b="1">
              <a:solidFill>
                <a:srgbClr val="7B8794"/>
              </a:solidFill>
              <a:latin typeface="Graphik" panose="020B0503030202060203" pitchFamily="34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A854F75-A8B2-BF55-B495-345077EC1274}"/>
              </a:ext>
            </a:extLst>
          </p:cNvPr>
          <p:cNvSpPr/>
          <p:nvPr/>
        </p:nvSpPr>
        <p:spPr>
          <a:xfrm>
            <a:off x="2671763" y="1127468"/>
            <a:ext cx="2171700" cy="2863014"/>
          </a:xfrm>
          <a:prstGeom prst="roundRect">
            <a:avLst>
              <a:gd name="adj" fmla="val 3947"/>
            </a:avLst>
          </a:prstGeom>
          <a:gradFill flip="none" rotWithShape="1">
            <a:gsLst>
              <a:gs pos="0">
                <a:srgbClr val="F8F0FF"/>
              </a:gs>
              <a:gs pos="100000">
                <a:srgbClr val="FFFFFF"/>
              </a:gs>
            </a:gsLst>
            <a:lin ang="10800000" scaled="0"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4FF939-CA0B-EBA0-0E0B-4901E593C0F3}"/>
              </a:ext>
            </a:extLst>
          </p:cNvPr>
          <p:cNvSpPr txBox="1"/>
          <p:nvPr/>
        </p:nvSpPr>
        <p:spPr>
          <a:xfrm>
            <a:off x="2786063" y="1241768"/>
            <a:ext cx="1943100" cy="86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63" b="1" spc="113">
                <a:solidFill>
                  <a:srgbClr val="8350A8"/>
                </a:solidFill>
                <a:latin typeface="Graphik Semibold" panose="020B0703030202060203" pitchFamily="34" charset="0"/>
              </a:rPr>
              <a:t>OPTION 2: VIBE CODING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2B1F20-AFDD-C18F-FACE-67AD45FF5F16}"/>
              </a:ext>
            </a:extLst>
          </p:cNvPr>
          <p:cNvSpPr txBox="1"/>
          <p:nvPr/>
        </p:nvSpPr>
        <p:spPr>
          <a:xfrm>
            <a:off x="2786063" y="1356067"/>
            <a:ext cx="1371600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>
                <a:latin typeface="Graphik Semibold" panose="020B0703030202060203" pitchFamily="34" charset="0"/>
              </a:rPr>
              <a:t>Dev + Claude Code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F870E8-644F-8583-6C2A-51C3D349C460}"/>
              </a:ext>
            </a:extLst>
          </p:cNvPr>
          <p:cNvSpPr txBox="1"/>
          <p:nvPr/>
        </p:nvSpPr>
        <p:spPr>
          <a:xfrm>
            <a:off x="4157663" y="1287889"/>
            <a:ext cx="571500" cy="25391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lang="en-US" sz="1650" b="1">
                <a:solidFill>
                  <a:srgbClr val="8350A8"/>
                </a:solidFill>
                <a:latin typeface="Graphik" panose="020B0503030202060203" pitchFamily="34" charset="0"/>
              </a:rPr>
              <a:t>40</a:t>
            </a:r>
            <a:r>
              <a:rPr sz="675" b="1">
                <a:solidFill>
                  <a:srgbClr val="7B8794"/>
                </a:solidFill>
                <a:latin typeface="Graphik" panose="020B0503030202060203" pitchFamily="34" charset="0"/>
              </a:rPr>
              <a:t> min</a:t>
            </a:r>
            <a:r>
              <a:rPr lang="en-US" sz="675" b="1">
                <a:solidFill>
                  <a:srgbClr val="7B8794"/>
                </a:solidFill>
                <a:latin typeface="Graphik" panose="020B0503030202060203" pitchFamily="34" charset="0"/>
              </a:rPr>
              <a:t>s</a:t>
            </a:r>
            <a:endParaRPr sz="675" b="1">
              <a:solidFill>
                <a:srgbClr val="7B8794"/>
              </a:solidFill>
              <a:latin typeface="Graphik" panose="020B0503030202060203" pitchFamily="34" charset="0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FA95411-14CD-A606-42DB-577B9AD98C30}"/>
              </a:ext>
            </a:extLst>
          </p:cNvPr>
          <p:cNvSpPr/>
          <p:nvPr/>
        </p:nvSpPr>
        <p:spPr>
          <a:xfrm>
            <a:off x="4943475" y="1127468"/>
            <a:ext cx="3800475" cy="2863014"/>
          </a:xfrm>
          <a:prstGeom prst="roundRect">
            <a:avLst>
              <a:gd name="adj" fmla="val 2608"/>
            </a:avLst>
          </a:prstGeom>
          <a:gradFill flip="none" rotWithShape="1">
            <a:gsLst>
              <a:gs pos="0">
                <a:srgbClr val="F0E5F8"/>
              </a:gs>
              <a:gs pos="100000">
                <a:srgbClr val="FFFFFF"/>
              </a:gs>
            </a:gsLst>
            <a:lin ang="10800000" scaled="0"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3BB9C0-630E-C394-036A-044A95D5F986}"/>
              </a:ext>
            </a:extLst>
          </p:cNvPr>
          <p:cNvSpPr txBox="1"/>
          <p:nvPr/>
        </p:nvSpPr>
        <p:spPr>
          <a:xfrm>
            <a:off x="5057775" y="1241768"/>
            <a:ext cx="3571875" cy="86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563" b="1" spc="113">
                <a:solidFill>
                  <a:srgbClr val="460073"/>
                </a:solidFill>
                <a:latin typeface="Graphik Semibold" panose="020B0703030202060203" pitchFamily="34" charset="0"/>
              </a:rPr>
              <a:t>OPTION 3: AGENTIC WORKFLOW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472C6A-B2FA-0B6C-DA97-73CE3BACE84B}"/>
              </a:ext>
            </a:extLst>
          </p:cNvPr>
          <p:cNvSpPr txBox="1"/>
          <p:nvPr/>
        </p:nvSpPr>
        <p:spPr>
          <a:xfrm>
            <a:off x="5057775" y="1356067"/>
            <a:ext cx="2214563" cy="126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>
                <a:latin typeface="Graphik Semibold" panose="020B0703030202060203" pitchFamily="34" charset="0"/>
              </a:rPr>
              <a:t>Purpose-built RCA multi-agent system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6E0722-CC26-3E04-098E-9A2DFF4AA246}"/>
              </a:ext>
            </a:extLst>
          </p:cNvPr>
          <p:cNvSpPr txBox="1"/>
          <p:nvPr/>
        </p:nvSpPr>
        <p:spPr>
          <a:xfrm>
            <a:off x="8058150" y="1287889"/>
            <a:ext cx="571500" cy="253916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r"/>
            <a:r>
              <a:rPr lang="en-US" sz="1650" b="1">
                <a:solidFill>
                  <a:srgbClr val="460073"/>
                </a:solidFill>
                <a:latin typeface="Graphik" panose="020B0503030202060203" pitchFamily="34" charset="0"/>
              </a:rPr>
              <a:t>5</a:t>
            </a:r>
            <a:r>
              <a:rPr sz="675" b="1">
                <a:solidFill>
                  <a:srgbClr val="7B8794"/>
                </a:solidFill>
                <a:latin typeface="Graphik" panose="020B0503030202060203" pitchFamily="34" charset="0"/>
              </a:rPr>
              <a:t> min</a:t>
            </a:r>
            <a:r>
              <a:rPr lang="en-US" sz="675" b="1">
                <a:solidFill>
                  <a:srgbClr val="7B8794"/>
                </a:solidFill>
                <a:latin typeface="Graphik" panose="020B0503030202060203" pitchFamily="34" charset="0"/>
              </a:rPr>
              <a:t>s</a:t>
            </a:r>
            <a:r>
              <a:rPr sz="675" b="1">
                <a:solidFill>
                  <a:srgbClr val="7B8794"/>
                </a:solidFill>
                <a:latin typeface="Graphik" panose="020B0503030202060203" pitchFamily="34" charset="0"/>
              </a:rPr>
              <a:t> dev</a:t>
            </a:r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9AB6A06-4AC9-A401-419F-6838CC3ECB64}"/>
              </a:ext>
            </a:extLst>
          </p:cNvPr>
          <p:cNvGrpSpPr/>
          <p:nvPr/>
        </p:nvGrpSpPr>
        <p:grpSpPr>
          <a:xfrm>
            <a:off x="5057775" y="1618005"/>
            <a:ext cx="814388" cy="128588"/>
            <a:chOff x="6743700" y="1485900"/>
            <a:chExt cx="1085850" cy="171450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6CAC3F81-7B1B-0EFF-DE73-C834EC70B07A}"/>
                </a:ext>
              </a:extLst>
            </p:cNvPr>
            <p:cNvSpPr/>
            <p:nvPr/>
          </p:nvSpPr>
          <p:spPr>
            <a:xfrm>
              <a:off x="6743700" y="1485900"/>
              <a:ext cx="1085850" cy="171450"/>
            </a:xfrm>
            <a:prstGeom prst="roundRect">
              <a:avLst>
                <a:gd name="adj" fmla="val 22222"/>
              </a:avLst>
            </a:prstGeom>
            <a:solidFill>
              <a:srgbClr val="F0E5F8"/>
            </a:solidFill>
            <a:ln w="9525">
              <a:solidFill>
                <a:srgbClr val="E8D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" panose="020B0503030202060203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20A948-8DD8-C956-E364-1ADB5F40455C}"/>
                </a:ext>
              </a:extLst>
            </p:cNvPr>
            <p:cNvSpPr txBox="1"/>
            <p:nvPr/>
          </p:nvSpPr>
          <p:spPr>
            <a:xfrm>
              <a:off x="6743700" y="1513873"/>
              <a:ext cx="1085850" cy="1155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563" b="1" spc="30">
                  <a:solidFill>
                    <a:srgbClr val="460073"/>
                  </a:solidFill>
                  <a:latin typeface="Graphik Semibold" panose="020B0703030202060203" pitchFamily="34" charset="0"/>
                </a:rPr>
                <a:t>Auto-Triggered</a:t>
              </a:r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862A1AE-22A9-B913-D26F-32B081F4C7A4}"/>
              </a:ext>
            </a:extLst>
          </p:cNvPr>
          <p:cNvGrpSpPr/>
          <p:nvPr/>
        </p:nvGrpSpPr>
        <p:grpSpPr>
          <a:xfrm>
            <a:off x="5927005" y="1618005"/>
            <a:ext cx="841436" cy="128588"/>
            <a:chOff x="7867650" y="1485900"/>
            <a:chExt cx="1352550" cy="171450"/>
          </a:xfrm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FA88CF69-0B33-F37E-8A26-8B8D62D7E454}"/>
                </a:ext>
              </a:extLst>
            </p:cNvPr>
            <p:cNvSpPr/>
            <p:nvPr/>
          </p:nvSpPr>
          <p:spPr>
            <a:xfrm>
              <a:off x="7867650" y="1485900"/>
              <a:ext cx="1352550" cy="171450"/>
            </a:xfrm>
            <a:prstGeom prst="roundRect">
              <a:avLst>
                <a:gd name="adj" fmla="val 22222"/>
              </a:avLst>
            </a:prstGeom>
            <a:solidFill>
              <a:srgbClr val="F0E5F8"/>
            </a:solidFill>
            <a:ln w="9525">
              <a:solidFill>
                <a:srgbClr val="E8D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 Semibold" panose="020B0703030202060203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74AA01-40D7-66F7-BB98-CB70826E5F5C}"/>
                </a:ext>
              </a:extLst>
            </p:cNvPr>
            <p:cNvSpPr txBox="1"/>
            <p:nvPr/>
          </p:nvSpPr>
          <p:spPr>
            <a:xfrm>
              <a:off x="7867650" y="1513873"/>
              <a:ext cx="1352550" cy="1155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563" b="1" spc="30">
                  <a:solidFill>
                    <a:srgbClr val="460073"/>
                  </a:solidFill>
                  <a:latin typeface="Graphik Semibold" panose="020B0703030202060203" pitchFamily="34" charset="0"/>
                </a:rPr>
                <a:t>Engineered Context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8005A15-2873-CA4A-AC08-8FAC5D102771}"/>
              </a:ext>
            </a:extLst>
          </p:cNvPr>
          <p:cNvGrpSpPr/>
          <p:nvPr/>
        </p:nvGrpSpPr>
        <p:grpSpPr>
          <a:xfrm>
            <a:off x="6823283" y="1618005"/>
            <a:ext cx="819150" cy="128588"/>
            <a:chOff x="9258300" y="1485900"/>
            <a:chExt cx="1352550" cy="171450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0C9BE60-6ED9-0ABF-A8F2-D45DBEEF089B}"/>
                </a:ext>
              </a:extLst>
            </p:cNvPr>
            <p:cNvSpPr/>
            <p:nvPr/>
          </p:nvSpPr>
          <p:spPr>
            <a:xfrm>
              <a:off x="9258300" y="1485900"/>
              <a:ext cx="1352550" cy="171450"/>
            </a:xfrm>
            <a:prstGeom prst="roundRect">
              <a:avLst>
                <a:gd name="adj" fmla="val 22222"/>
              </a:avLst>
            </a:prstGeom>
            <a:solidFill>
              <a:srgbClr val="F0E5F8"/>
            </a:solidFill>
            <a:ln w="9525">
              <a:solidFill>
                <a:srgbClr val="E8D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 Semibold" panose="020B070303020206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560697-1054-BF5D-A0F7-F2C7E0A8D79B}"/>
                </a:ext>
              </a:extLst>
            </p:cNvPr>
            <p:cNvSpPr txBox="1"/>
            <p:nvPr/>
          </p:nvSpPr>
          <p:spPr>
            <a:xfrm>
              <a:off x="9258300" y="1513873"/>
              <a:ext cx="1352550" cy="1155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563" b="1" spc="30">
                  <a:solidFill>
                    <a:srgbClr val="460073"/>
                  </a:solidFill>
                  <a:latin typeface="Graphik Semibold" panose="020B0703030202060203" pitchFamily="34" charset="0"/>
                </a:rPr>
                <a:t>Specialised Agents</a:t>
              </a:r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ED87B33-4592-3F29-4E8C-EF2EDD26C7C0}"/>
              </a:ext>
            </a:extLst>
          </p:cNvPr>
          <p:cNvGrpSpPr/>
          <p:nvPr/>
        </p:nvGrpSpPr>
        <p:grpSpPr>
          <a:xfrm>
            <a:off x="7697275" y="1618005"/>
            <a:ext cx="893200" cy="128588"/>
            <a:chOff x="6743700" y="1695450"/>
            <a:chExt cx="1419225" cy="171450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E4669F68-CB92-B9EC-2055-74EFFA6772A3}"/>
                </a:ext>
              </a:extLst>
            </p:cNvPr>
            <p:cNvSpPr/>
            <p:nvPr/>
          </p:nvSpPr>
          <p:spPr>
            <a:xfrm>
              <a:off x="6743700" y="1695450"/>
              <a:ext cx="1419225" cy="171450"/>
            </a:xfrm>
            <a:prstGeom prst="roundRect">
              <a:avLst>
                <a:gd name="adj" fmla="val 22222"/>
              </a:avLst>
            </a:prstGeom>
            <a:solidFill>
              <a:srgbClr val="F0E5F8"/>
            </a:solidFill>
            <a:ln w="9525">
              <a:solidFill>
                <a:srgbClr val="E8D5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 Semibold" panose="020B0703030202060203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233ECA9-D201-6E78-6248-F5C61797BAF4}"/>
                </a:ext>
              </a:extLst>
            </p:cNvPr>
            <p:cNvSpPr txBox="1"/>
            <p:nvPr/>
          </p:nvSpPr>
          <p:spPr>
            <a:xfrm>
              <a:off x="6743700" y="1723423"/>
              <a:ext cx="1419225" cy="11550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563" b="1" spc="30">
                  <a:solidFill>
                    <a:srgbClr val="460073"/>
                  </a:solidFill>
                  <a:latin typeface="Graphik Semibold" panose="020B0703030202060203" pitchFamily="34" charset="0"/>
                </a:rPr>
                <a:t>Built-in Guardrails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6074C07-4006-032B-6021-E86E2C21EDCD}"/>
              </a:ext>
            </a:extLst>
          </p:cNvPr>
          <p:cNvSpPr/>
          <p:nvPr/>
        </p:nvSpPr>
        <p:spPr>
          <a:xfrm>
            <a:off x="500063" y="1613242"/>
            <a:ext cx="1971675" cy="271463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EA295B-42B0-9112-1870-9401070895AB}"/>
              </a:ext>
            </a:extLst>
          </p:cNvPr>
          <p:cNvSpPr txBox="1"/>
          <p:nvPr/>
        </p:nvSpPr>
        <p:spPr>
          <a:xfrm>
            <a:off x="800100" y="1648961"/>
            <a:ext cx="1171575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3" b="1">
                <a:latin typeface="Graphik Semibold" panose="020B0703030202060203" pitchFamily="34" charset="0"/>
              </a:rPr>
              <a:t>Read bug report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4918EE-3641-89FF-78A4-BCCF27D5266D}"/>
              </a:ext>
            </a:extLst>
          </p:cNvPr>
          <p:cNvSpPr txBox="1"/>
          <p:nvPr/>
        </p:nvSpPr>
        <p:spPr>
          <a:xfrm>
            <a:off x="800100" y="1748974"/>
            <a:ext cx="1171575" cy="98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8">
                <a:solidFill>
                  <a:srgbClr val="7B8794"/>
                </a:solidFill>
                <a:latin typeface="Graphik" panose="020B0503030202060203" pitchFamily="34" charset="0"/>
              </a:rPr>
              <a:t>Pick up the QA ticket.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4AC01E2-5CEB-E50D-1892-091F8A612B28}"/>
              </a:ext>
            </a:extLst>
          </p:cNvPr>
          <p:cNvSpPr/>
          <p:nvPr/>
        </p:nvSpPr>
        <p:spPr>
          <a:xfrm>
            <a:off x="2071687" y="1684680"/>
            <a:ext cx="357188" cy="128588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C7DCD0-4BFA-B261-6F62-959CADBE8371}"/>
              </a:ext>
            </a:extLst>
          </p:cNvPr>
          <p:cNvSpPr txBox="1"/>
          <p:nvPr/>
        </p:nvSpPr>
        <p:spPr>
          <a:xfrm>
            <a:off x="2071687" y="1697037"/>
            <a:ext cx="357188" cy="10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75" b="1">
                <a:solidFill>
                  <a:srgbClr val="6B7280"/>
                </a:solidFill>
                <a:latin typeface="Graphik Semibold" panose="020B0703030202060203" pitchFamily="34" charset="0"/>
              </a:rPr>
              <a:t>5 min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9B6A24A-822D-8D24-4477-005EED0CC6EB}"/>
              </a:ext>
            </a:extLst>
          </p:cNvPr>
          <p:cNvSpPr/>
          <p:nvPr/>
        </p:nvSpPr>
        <p:spPr>
          <a:xfrm>
            <a:off x="500063" y="1941855"/>
            <a:ext cx="1971675" cy="271463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36092D-5969-67D0-7BEA-60B72E784BF6}"/>
              </a:ext>
            </a:extLst>
          </p:cNvPr>
          <p:cNvSpPr txBox="1"/>
          <p:nvPr/>
        </p:nvSpPr>
        <p:spPr>
          <a:xfrm>
            <a:off x="800100" y="1977574"/>
            <a:ext cx="1171575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3" b="1">
                <a:latin typeface="Graphik Semibold" panose="020B0703030202060203" pitchFamily="34" charset="0"/>
              </a:rPr>
              <a:t>Investigate codebase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5A8643-F463-A2CE-9F15-037A352B495D}"/>
              </a:ext>
            </a:extLst>
          </p:cNvPr>
          <p:cNvSpPr txBox="1"/>
          <p:nvPr/>
        </p:nvSpPr>
        <p:spPr>
          <a:xfrm>
            <a:off x="800100" y="2077586"/>
            <a:ext cx="1171575" cy="98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8">
                <a:solidFill>
                  <a:srgbClr val="7B8794"/>
                </a:solidFill>
                <a:latin typeface="Graphik" panose="020B0503030202060203" pitchFamily="34" charset="0"/>
              </a:rPr>
              <a:t>Hunts the cause across files.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63BCAF59-6326-CF28-DD7D-A8EA43A59859}"/>
              </a:ext>
            </a:extLst>
          </p:cNvPr>
          <p:cNvSpPr/>
          <p:nvPr/>
        </p:nvSpPr>
        <p:spPr>
          <a:xfrm>
            <a:off x="2071687" y="2013292"/>
            <a:ext cx="357188" cy="128588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47C479-BCCE-2376-3006-D280814CA39E}"/>
              </a:ext>
            </a:extLst>
          </p:cNvPr>
          <p:cNvSpPr txBox="1"/>
          <p:nvPr/>
        </p:nvSpPr>
        <p:spPr>
          <a:xfrm>
            <a:off x="2071687" y="2025649"/>
            <a:ext cx="357188" cy="10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75" b="1">
                <a:solidFill>
                  <a:srgbClr val="6B7280"/>
                </a:solidFill>
                <a:latin typeface="Graphik Semibold" panose="020B0703030202060203" pitchFamily="34" charset="0"/>
              </a:rPr>
              <a:t>45 min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E207DA3-3C87-C732-4D1E-4CA5F5880C93}"/>
              </a:ext>
            </a:extLst>
          </p:cNvPr>
          <p:cNvSpPr/>
          <p:nvPr/>
        </p:nvSpPr>
        <p:spPr>
          <a:xfrm>
            <a:off x="500063" y="2270467"/>
            <a:ext cx="1971675" cy="271463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3ECD211-72DC-48CC-0E37-0CCE49E80EE6}"/>
              </a:ext>
            </a:extLst>
          </p:cNvPr>
          <p:cNvSpPr txBox="1"/>
          <p:nvPr/>
        </p:nvSpPr>
        <p:spPr>
          <a:xfrm>
            <a:off x="800100" y="2306186"/>
            <a:ext cx="1171575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3" b="1">
                <a:latin typeface="Graphik Semibold" panose="020B0703030202060203" pitchFamily="34" charset="0"/>
              </a:rPr>
              <a:t>Write the fix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3501F1-9937-3E4C-FD6A-1F80B0E71F8C}"/>
              </a:ext>
            </a:extLst>
          </p:cNvPr>
          <p:cNvSpPr txBox="1"/>
          <p:nvPr/>
        </p:nvSpPr>
        <p:spPr>
          <a:xfrm>
            <a:off x="800100" y="2406199"/>
            <a:ext cx="1171575" cy="98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8">
                <a:solidFill>
                  <a:srgbClr val="7B8794"/>
                </a:solidFill>
                <a:latin typeface="Graphik" panose="020B0503030202060203" pitchFamily="34" charset="0"/>
              </a:rPr>
              <a:t>Makes the code change.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050340F-279B-1246-5066-65DF463E706E}"/>
              </a:ext>
            </a:extLst>
          </p:cNvPr>
          <p:cNvSpPr/>
          <p:nvPr/>
        </p:nvSpPr>
        <p:spPr>
          <a:xfrm>
            <a:off x="2071687" y="2341905"/>
            <a:ext cx="357188" cy="128588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2556FB-7C0E-D614-E0FD-03091456C1F1}"/>
              </a:ext>
            </a:extLst>
          </p:cNvPr>
          <p:cNvSpPr txBox="1"/>
          <p:nvPr/>
        </p:nvSpPr>
        <p:spPr>
          <a:xfrm>
            <a:off x="2071687" y="2354262"/>
            <a:ext cx="357188" cy="10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75" b="1">
                <a:solidFill>
                  <a:srgbClr val="6B7280"/>
                </a:solidFill>
                <a:latin typeface="Graphik Semibold" panose="020B0703030202060203" pitchFamily="34" charset="0"/>
              </a:rPr>
              <a:t>15 min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ED074E9-CBB3-CD69-1389-536160C72185}"/>
              </a:ext>
            </a:extLst>
          </p:cNvPr>
          <p:cNvSpPr/>
          <p:nvPr/>
        </p:nvSpPr>
        <p:spPr>
          <a:xfrm>
            <a:off x="500063" y="2599080"/>
            <a:ext cx="1971675" cy="271463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7F37CE-E2D7-FF59-2940-85452379E3A5}"/>
              </a:ext>
            </a:extLst>
          </p:cNvPr>
          <p:cNvSpPr txBox="1"/>
          <p:nvPr/>
        </p:nvSpPr>
        <p:spPr>
          <a:xfrm>
            <a:off x="800100" y="2634799"/>
            <a:ext cx="1171575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3" b="1">
                <a:latin typeface="Graphik Semibold" panose="020B0703030202060203" pitchFamily="34" charset="0"/>
              </a:rPr>
              <a:t>Test the fix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76B6BA-55DB-DCB5-FDF8-68C739AF76DF}"/>
              </a:ext>
            </a:extLst>
          </p:cNvPr>
          <p:cNvSpPr txBox="1"/>
          <p:nvPr/>
        </p:nvSpPr>
        <p:spPr>
          <a:xfrm>
            <a:off x="800100" y="2734811"/>
            <a:ext cx="1171575" cy="98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8">
                <a:solidFill>
                  <a:srgbClr val="7B8794"/>
                </a:solidFill>
                <a:latin typeface="Graphik" panose="020B0503030202060203" pitchFamily="34" charset="0"/>
              </a:rPr>
              <a:t>Runs tests to confirm.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216775BC-42AB-FBE1-E723-D919482788A1}"/>
              </a:ext>
            </a:extLst>
          </p:cNvPr>
          <p:cNvSpPr/>
          <p:nvPr/>
        </p:nvSpPr>
        <p:spPr>
          <a:xfrm>
            <a:off x="2071687" y="2670517"/>
            <a:ext cx="357188" cy="128588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589745-3963-262F-7B5C-AD9FAC900155}"/>
              </a:ext>
            </a:extLst>
          </p:cNvPr>
          <p:cNvSpPr txBox="1"/>
          <p:nvPr/>
        </p:nvSpPr>
        <p:spPr>
          <a:xfrm>
            <a:off x="2071687" y="2682874"/>
            <a:ext cx="357188" cy="10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75" b="1">
                <a:solidFill>
                  <a:srgbClr val="6B7280"/>
                </a:solidFill>
                <a:latin typeface="Graphik Semibold" panose="020B0703030202060203" pitchFamily="34" charset="0"/>
              </a:rPr>
              <a:t>10 min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EB573D3A-A067-29D7-1036-ADD5D690A912}"/>
              </a:ext>
            </a:extLst>
          </p:cNvPr>
          <p:cNvSpPr/>
          <p:nvPr/>
        </p:nvSpPr>
        <p:spPr>
          <a:xfrm>
            <a:off x="2771775" y="1613242"/>
            <a:ext cx="1971675" cy="271463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A53B5C-1378-AC91-F926-C9E61FEF2DFB}"/>
              </a:ext>
            </a:extLst>
          </p:cNvPr>
          <p:cNvSpPr txBox="1"/>
          <p:nvPr/>
        </p:nvSpPr>
        <p:spPr>
          <a:xfrm>
            <a:off x="3071813" y="1648961"/>
            <a:ext cx="1171575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3" b="1">
                <a:latin typeface="Graphik Semibold" panose="020B0703030202060203" pitchFamily="34" charset="0"/>
              </a:rPr>
              <a:t>Read bug report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B20DF8-3FC5-59BC-AB78-18E6365600F8}"/>
              </a:ext>
            </a:extLst>
          </p:cNvPr>
          <p:cNvSpPr txBox="1"/>
          <p:nvPr/>
        </p:nvSpPr>
        <p:spPr>
          <a:xfrm>
            <a:off x="3071813" y="1748974"/>
            <a:ext cx="1171575" cy="98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8">
                <a:solidFill>
                  <a:srgbClr val="7B8794"/>
                </a:solidFill>
                <a:latin typeface="Graphik" panose="020B0503030202060203" pitchFamily="34" charset="0"/>
              </a:rPr>
              <a:t>Pick up the QA ticket.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12931F1-B555-EA64-B0DA-07F5D28C0660}"/>
              </a:ext>
            </a:extLst>
          </p:cNvPr>
          <p:cNvSpPr/>
          <p:nvPr/>
        </p:nvSpPr>
        <p:spPr>
          <a:xfrm>
            <a:off x="4343400" y="1684680"/>
            <a:ext cx="357188" cy="128588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3A4BB43-26AD-7123-CF27-454B5C7A0FA5}"/>
              </a:ext>
            </a:extLst>
          </p:cNvPr>
          <p:cNvSpPr txBox="1"/>
          <p:nvPr/>
        </p:nvSpPr>
        <p:spPr>
          <a:xfrm>
            <a:off x="4343400" y="1697037"/>
            <a:ext cx="357188" cy="10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675" b="1">
                <a:solidFill>
                  <a:srgbClr val="8350A8"/>
                </a:solidFill>
                <a:latin typeface="Graphik Semibold" panose="020B0703030202060203" pitchFamily="34" charset="0"/>
              </a:rPr>
              <a:t>3 min</a:t>
            </a: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6550739E-92CE-9564-D073-3383ACC6B99B}"/>
              </a:ext>
            </a:extLst>
          </p:cNvPr>
          <p:cNvSpPr/>
          <p:nvPr/>
        </p:nvSpPr>
        <p:spPr>
          <a:xfrm>
            <a:off x="2771775" y="1936140"/>
            <a:ext cx="1971675" cy="383552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CF49BDD-997B-6BFF-99E0-E7125121B86C}"/>
              </a:ext>
            </a:extLst>
          </p:cNvPr>
          <p:cNvSpPr txBox="1"/>
          <p:nvPr/>
        </p:nvSpPr>
        <p:spPr>
          <a:xfrm>
            <a:off x="3071813" y="1977574"/>
            <a:ext cx="1171575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3" b="1">
                <a:latin typeface="Graphik Semibold" panose="020B0703030202060203" pitchFamily="34" charset="0"/>
              </a:rPr>
              <a:t>Prompt &amp; investigate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D43F47-7553-6C32-2549-C86BED65246A}"/>
              </a:ext>
            </a:extLst>
          </p:cNvPr>
          <p:cNvSpPr txBox="1"/>
          <p:nvPr/>
        </p:nvSpPr>
        <p:spPr>
          <a:xfrm>
            <a:off x="3071813" y="2077586"/>
            <a:ext cx="1171575" cy="196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8">
                <a:solidFill>
                  <a:srgbClr val="7B8794"/>
                </a:solidFill>
                <a:latin typeface="Graphik" panose="020B0503030202060203" pitchFamily="34" charset="0"/>
              </a:rPr>
              <a:t>Dev guides the AI turn by turn.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1E902FA-8B6C-8FC1-F96F-103511C0BC86}"/>
              </a:ext>
            </a:extLst>
          </p:cNvPr>
          <p:cNvSpPr/>
          <p:nvPr/>
        </p:nvSpPr>
        <p:spPr>
          <a:xfrm>
            <a:off x="4343400" y="2013292"/>
            <a:ext cx="357188" cy="128588"/>
          </a:xfrm>
          <a:prstGeom prst="roundRect">
            <a:avLst>
              <a:gd name="adj" fmla="val 27777"/>
            </a:avLst>
          </a:prstGeom>
          <a:solidFill>
            <a:srgbClr val="F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00CDF4-FD86-1120-ED80-945A6336B357}"/>
              </a:ext>
            </a:extLst>
          </p:cNvPr>
          <p:cNvSpPr txBox="1"/>
          <p:nvPr/>
        </p:nvSpPr>
        <p:spPr>
          <a:xfrm>
            <a:off x="4343400" y="2025649"/>
            <a:ext cx="357188" cy="103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675" b="1" dirty="0">
                <a:solidFill>
                  <a:srgbClr val="8350A8"/>
                </a:solidFill>
                <a:latin typeface="Graphik Semibold" panose="020B0703030202060203" pitchFamily="34" charset="0"/>
              </a:rPr>
              <a:t>25 min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1BB7D693-BB6F-8096-9EC2-A595E2E3C475}"/>
              </a:ext>
            </a:extLst>
          </p:cNvPr>
          <p:cNvGrpSpPr/>
          <p:nvPr/>
        </p:nvGrpSpPr>
        <p:grpSpPr>
          <a:xfrm>
            <a:off x="2771775" y="3689693"/>
            <a:ext cx="1971675" cy="228600"/>
            <a:chOff x="3695700" y="3276600"/>
            <a:chExt cx="2628900" cy="304800"/>
          </a:xfrm>
        </p:grpSpPr>
        <p:sp>
          <p:nvSpPr>
            <p:cNvPr id="87" name="Rounded Rectangle 86">
              <a:extLst>
                <a:ext uri="{FF2B5EF4-FFF2-40B4-BE49-F238E27FC236}">
                  <a16:creationId xmlns:a16="http://schemas.microsoft.com/office/drawing/2014/main" id="{27D8C97B-0962-03E5-DD7E-36682BE2E6DD}"/>
                </a:ext>
              </a:extLst>
            </p:cNvPr>
            <p:cNvSpPr/>
            <p:nvPr/>
          </p:nvSpPr>
          <p:spPr>
            <a:xfrm>
              <a:off x="3695700" y="3276600"/>
              <a:ext cx="2628900" cy="304800"/>
            </a:xfrm>
            <a:prstGeom prst="roundRect">
              <a:avLst>
                <a:gd name="adj" fmla="val 12500"/>
              </a:avLst>
            </a:prstGeom>
            <a:solidFill>
              <a:srgbClr val="F8F0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" panose="020B0503030202060203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E336AE6-1A7D-645A-E4AE-426E3CEE26D4}"/>
                </a:ext>
              </a:extLst>
            </p:cNvPr>
            <p:cNvSpPr txBox="1"/>
            <p:nvPr/>
          </p:nvSpPr>
          <p:spPr>
            <a:xfrm>
              <a:off x="3771900" y="3314697"/>
              <a:ext cx="2495551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600" b="1">
                  <a:solidFill>
                    <a:srgbClr val="44546A"/>
                  </a:solidFill>
                  <a:latin typeface="Graphik" panose="020B0503030202060203" pitchFamily="34" charset="0"/>
                </a:rPr>
                <a:t>The catch: </a:t>
              </a:r>
              <a:r>
                <a:rPr sz="600">
                  <a:solidFill>
                    <a:srgbClr val="44546A"/>
                  </a:solidFill>
                  <a:latin typeface="Graphik" panose="020B0503030202060203" pitchFamily="34" charset="0"/>
                </a:rPr>
                <a:t>dev prompts ad-hoc, AI has no structure. On large repos it wanders and stalls.</a:t>
              </a: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C71665FE-788F-9ABD-0363-A0578CDBB7F6}"/>
              </a:ext>
            </a:extLst>
          </p:cNvPr>
          <p:cNvGrpSpPr/>
          <p:nvPr/>
        </p:nvGrpSpPr>
        <p:grpSpPr>
          <a:xfrm>
            <a:off x="5043488" y="1885869"/>
            <a:ext cx="3600450" cy="271463"/>
            <a:chOff x="6762750" y="4681954"/>
            <a:chExt cx="4800600" cy="361950"/>
          </a:xfrm>
        </p:grpSpPr>
        <p:sp>
          <p:nvSpPr>
            <p:cNvPr id="172" name="Rounded Rectangle 121">
              <a:extLst>
                <a:ext uri="{FF2B5EF4-FFF2-40B4-BE49-F238E27FC236}">
                  <a16:creationId xmlns:a16="http://schemas.microsoft.com/office/drawing/2014/main" id="{115610E0-20B8-EAC2-38B0-C6C7B075354F}"/>
                </a:ext>
              </a:extLst>
            </p:cNvPr>
            <p:cNvSpPr/>
            <p:nvPr/>
          </p:nvSpPr>
          <p:spPr>
            <a:xfrm>
              <a:off x="6762750" y="4681954"/>
              <a:ext cx="48006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 Semibold" panose="020B0703030202060203" pitchFamily="34" charset="0"/>
              </a:endParaRPr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CA1208CC-6D98-BD02-67CA-565DC6A06717}"/>
                </a:ext>
              </a:extLst>
            </p:cNvPr>
            <p:cNvSpPr txBox="1"/>
            <p:nvPr/>
          </p:nvSpPr>
          <p:spPr>
            <a:xfrm>
              <a:off x="7162801" y="4729579"/>
              <a:ext cx="3733800" cy="146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713" b="1">
                  <a:latin typeface="Graphik Semibold" panose="020B0703030202060203" pitchFamily="34" charset="0"/>
                </a:rPr>
                <a:t>Hand bug to the agent</a:t>
              </a:r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9F3E0B51-42F6-BBE4-020E-F9654A57FFAE}"/>
                </a:ext>
              </a:extLst>
            </p:cNvPr>
            <p:cNvSpPr txBox="1"/>
            <p:nvPr/>
          </p:nvSpPr>
          <p:spPr>
            <a:xfrm>
              <a:off x="7162801" y="4862928"/>
              <a:ext cx="3733800" cy="1308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638">
                  <a:solidFill>
                    <a:srgbClr val="7B8794"/>
                  </a:solidFill>
                  <a:latin typeface="Graphik" panose="020B0503030202060203" pitchFamily="34" charset="0"/>
                </a:rPr>
                <a:t>QA report dropped into the tool.</a:t>
              </a:r>
            </a:p>
          </p:txBody>
        </p: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150E5950-6E26-5B8B-F993-B9BF2C9F18E4}"/>
                </a:ext>
              </a:extLst>
            </p:cNvPr>
            <p:cNvGrpSpPr/>
            <p:nvPr/>
          </p:nvGrpSpPr>
          <p:grpSpPr>
            <a:xfrm>
              <a:off x="10991850" y="4767906"/>
              <a:ext cx="476250" cy="171450"/>
              <a:chOff x="10991850" y="4324350"/>
              <a:chExt cx="476250" cy="171450"/>
            </a:xfrm>
          </p:grpSpPr>
          <p:sp>
            <p:nvSpPr>
              <p:cNvPr id="177" name="Rounded Rectangle 126">
                <a:extLst>
                  <a:ext uri="{FF2B5EF4-FFF2-40B4-BE49-F238E27FC236}">
                    <a16:creationId xmlns:a16="http://schemas.microsoft.com/office/drawing/2014/main" id="{994A194A-1502-26D6-73D6-0E3336C0C16C}"/>
                  </a:ext>
                </a:extLst>
              </p:cNvPr>
              <p:cNvSpPr/>
              <p:nvPr/>
            </p:nvSpPr>
            <p:spPr>
              <a:xfrm>
                <a:off x="10991850" y="432435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F0E5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sz="1350">
                  <a:latin typeface="Graphik Semibold" panose="020B0703030202060203" pitchFamily="34" charset="0"/>
                </a:endParaRP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80CD2393-A82E-5D43-31ED-605845E09B59}"/>
                  </a:ext>
                </a:extLst>
              </p:cNvPr>
              <p:cNvSpPr txBox="1"/>
              <p:nvPr/>
            </p:nvSpPr>
            <p:spPr>
              <a:xfrm>
                <a:off x="10991850" y="4328725"/>
                <a:ext cx="4762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675" b="1">
                    <a:solidFill>
                      <a:srgbClr val="460073"/>
                    </a:solidFill>
                    <a:latin typeface="Graphik Semibold" panose="020B0703030202060203" pitchFamily="34" charset="0"/>
                  </a:rPr>
                  <a:t>1</a:t>
                </a:r>
                <a:r>
                  <a:rPr sz="675" b="1">
                    <a:solidFill>
                      <a:srgbClr val="460073"/>
                    </a:solidFill>
                    <a:latin typeface="Graphik Semibold" panose="020B0703030202060203" pitchFamily="34" charset="0"/>
                  </a:rPr>
                  <a:t> min</a:t>
                </a:r>
              </a:p>
            </p:txBody>
          </p:sp>
        </p:grpSp>
      </p:grp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0DD6BE40-0F27-7F2F-73E0-F3BAA8730F04}"/>
              </a:ext>
            </a:extLst>
          </p:cNvPr>
          <p:cNvSpPr/>
          <p:nvPr/>
        </p:nvSpPr>
        <p:spPr>
          <a:xfrm>
            <a:off x="5086350" y="2241911"/>
            <a:ext cx="200025" cy="200025"/>
          </a:xfrm>
          <a:prstGeom prst="roundRect">
            <a:avLst>
              <a:gd name="adj" fmla="val 21428"/>
            </a:avLst>
          </a:prstGeom>
          <a:solidFill>
            <a:srgbClr val="E8D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CC89431-8768-8899-C551-5D0A8561EA12}"/>
              </a:ext>
            </a:extLst>
          </p:cNvPr>
          <p:cNvSpPr/>
          <p:nvPr/>
        </p:nvSpPr>
        <p:spPr>
          <a:xfrm>
            <a:off x="8243887" y="2263342"/>
            <a:ext cx="357188" cy="128588"/>
          </a:xfrm>
          <a:prstGeom prst="roundRect">
            <a:avLst>
              <a:gd name="adj" fmla="val 27777"/>
            </a:avLst>
          </a:prstGeom>
          <a:solidFill>
            <a:srgbClr val="F0E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1275A93-D8D9-7511-62D5-AE7717D3F349}"/>
              </a:ext>
            </a:extLst>
          </p:cNvPr>
          <p:cNvGrpSpPr/>
          <p:nvPr/>
        </p:nvGrpSpPr>
        <p:grpSpPr>
          <a:xfrm>
            <a:off x="5043488" y="2206192"/>
            <a:ext cx="3600450" cy="1000125"/>
            <a:chOff x="6724650" y="2276499"/>
            <a:chExt cx="4800600" cy="1333500"/>
          </a:xfrm>
        </p:grpSpPr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5654903E-B5E1-56B8-A69C-09831697198B}"/>
                </a:ext>
              </a:extLst>
            </p:cNvPr>
            <p:cNvSpPr/>
            <p:nvPr/>
          </p:nvSpPr>
          <p:spPr>
            <a:xfrm>
              <a:off x="6724650" y="2276499"/>
              <a:ext cx="4800600" cy="1333500"/>
            </a:xfrm>
            <a:prstGeom prst="roundRect">
              <a:avLst>
                <a:gd name="adj" fmla="val 5714"/>
              </a:avLst>
            </a:prstGeom>
            <a:solidFill>
              <a:srgbClr val="F8F0FF"/>
            </a:solidFill>
            <a:ln w="12700">
              <a:solidFill>
                <a:srgbClr val="7030A0">
                  <a:alpha val="28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" panose="020B0503030202060203" pitchFamily="3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17D5658-6B91-DD6D-401C-390006F59906}"/>
                </a:ext>
              </a:extLst>
            </p:cNvPr>
            <p:cNvSpPr txBox="1"/>
            <p:nvPr/>
          </p:nvSpPr>
          <p:spPr>
            <a:xfrm>
              <a:off x="7124701" y="2386918"/>
              <a:ext cx="3848100" cy="146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713" b="1">
                  <a:latin typeface="Graphik Semibold" panose="020B0703030202060203" pitchFamily="34" charset="0"/>
                </a:rPr>
                <a:t>Agent investigates, finds root cause, fixes &amp; tests</a:t>
              </a:r>
              <a:endParaRPr sz="713" b="1">
                <a:latin typeface="Graphik Semibold" panose="020B0703030202060203" pitchFamily="34" charset="0"/>
              </a:endParaRPr>
            </a:p>
          </p:txBody>
        </p: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48B69A6C-68D7-830A-6756-815560B56511}"/>
                </a:ext>
              </a:extLst>
            </p:cNvPr>
            <p:cNvGrpSpPr/>
            <p:nvPr/>
          </p:nvGrpSpPr>
          <p:grpSpPr>
            <a:xfrm>
              <a:off x="6851650" y="2682971"/>
              <a:ext cx="4572000" cy="819078"/>
              <a:chOff x="6851650" y="2682971"/>
              <a:chExt cx="4572000" cy="819078"/>
            </a:xfrm>
          </p:grpSpPr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131FC62B-F39E-C176-6203-8734E3614C5B}"/>
                  </a:ext>
                </a:extLst>
              </p:cNvPr>
              <p:cNvGrpSpPr/>
              <p:nvPr/>
            </p:nvGrpSpPr>
            <p:grpSpPr>
              <a:xfrm>
                <a:off x="7658100" y="3104139"/>
                <a:ext cx="2924175" cy="190500"/>
                <a:chOff x="7658100" y="3092450"/>
                <a:chExt cx="2924175" cy="190500"/>
              </a:xfrm>
            </p:grpSpPr>
            <p:sp>
              <p:nvSpPr>
                <p:cNvPr id="109" name="Rounded Rectangle 108">
                  <a:extLst>
                    <a:ext uri="{FF2B5EF4-FFF2-40B4-BE49-F238E27FC236}">
                      <a16:creationId xmlns:a16="http://schemas.microsoft.com/office/drawing/2014/main" id="{96D15C28-95D9-0991-4BDA-1740F72BAA33}"/>
                    </a:ext>
                  </a:extLst>
                </p:cNvPr>
                <p:cNvSpPr/>
                <p:nvPr/>
              </p:nvSpPr>
              <p:spPr>
                <a:xfrm>
                  <a:off x="7658100" y="3092450"/>
                  <a:ext cx="2924175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A100FF"/>
                    </a:gs>
                    <a:gs pos="100000">
                      <a:srgbClr val="7030A0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sz="1350">
                    <a:latin typeface="Graphik Semibold" panose="020B0703030202060203" pitchFamily="34" charset="0"/>
                  </a:endParaRP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1F46BF0-8B87-555B-367A-9062204B2C71}"/>
                    </a:ext>
                  </a:extLst>
                </p:cNvPr>
                <p:cNvSpPr txBox="1"/>
                <p:nvPr/>
              </p:nvSpPr>
              <p:spPr>
                <a:xfrm>
                  <a:off x="7753351" y="3122254"/>
                  <a:ext cx="2305050" cy="1308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lang="en-US" sz="638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Finds </a:t>
                  </a:r>
                  <a:r>
                    <a:rPr sz="638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Fix</a:t>
                  </a:r>
                </a:p>
              </p:txBody>
            </p:sp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03AC2531-736C-6F99-5AED-2C1132AA5C93}"/>
                    </a:ext>
                  </a:extLst>
                </p:cNvPr>
                <p:cNvSpPr txBox="1"/>
                <p:nvPr/>
              </p:nvSpPr>
              <p:spPr>
                <a:xfrm>
                  <a:off x="8077200" y="3137643"/>
                  <a:ext cx="2409826" cy="1155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/>
                  <a:r>
                    <a:rPr lang="en-US" sz="563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writes code change</a:t>
                  </a:r>
                  <a:endParaRPr sz="563" b="1">
                    <a:solidFill>
                      <a:srgbClr val="FFFFFF"/>
                    </a:solidFill>
                    <a:latin typeface="Graphik Semibold" panose="020B0703030202060203" pitchFamily="34" charset="0"/>
                  </a:endParaRPr>
                </a:p>
              </p:txBody>
            </p:sp>
          </p:grpSp>
          <p:grpSp>
            <p:nvGrpSpPr>
              <p:cNvPr id="185" name="Group 184">
                <a:extLst>
                  <a:ext uri="{FF2B5EF4-FFF2-40B4-BE49-F238E27FC236}">
                    <a16:creationId xmlns:a16="http://schemas.microsoft.com/office/drawing/2014/main" id="{B5A81A1E-B132-1A8F-E75B-473B85F0BC6C}"/>
                  </a:ext>
                </a:extLst>
              </p:cNvPr>
              <p:cNvGrpSpPr/>
              <p:nvPr/>
            </p:nvGrpSpPr>
            <p:grpSpPr>
              <a:xfrm>
                <a:off x="7981950" y="3311549"/>
                <a:ext cx="2286000" cy="190500"/>
                <a:chOff x="7981950" y="3302000"/>
                <a:chExt cx="2286000" cy="190500"/>
              </a:xfrm>
            </p:grpSpPr>
            <p:sp>
              <p:nvSpPr>
                <p:cNvPr id="112" name="Rounded Rectangle 111">
                  <a:extLst>
                    <a:ext uri="{FF2B5EF4-FFF2-40B4-BE49-F238E27FC236}">
                      <a16:creationId xmlns:a16="http://schemas.microsoft.com/office/drawing/2014/main" id="{AB211752-27ED-12F8-8AE8-DC9E2A881F7F}"/>
                    </a:ext>
                  </a:extLst>
                </p:cNvPr>
                <p:cNvSpPr/>
                <p:nvPr/>
              </p:nvSpPr>
              <p:spPr>
                <a:xfrm>
                  <a:off x="7981950" y="3302000"/>
                  <a:ext cx="2286000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7030A0"/>
                    </a:gs>
                    <a:gs pos="100000">
                      <a:srgbClr val="460073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sz="1350">
                    <a:latin typeface="Graphik" panose="020B0503030202060203" pitchFamily="34" charset="0"/>
                  </a:endParaRPr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CECC3F44-75DD-3DC5-ABD7-447476F9D252}"/>
                    </a:ext>
                  </a:extLst>
                </p:cNvPr>
                <p:cNvSpPr txBox="1"/>
                <p:nvPr/>
              </p:nvSpPr>
              <p:spPr>
                <a:xfrm>
                  <a:off x="8077201" y="3337344"/>
                  <a:ext cx="1619251" cy="1308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sz="638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Verify</a:t>
                  </a:r>
                </a:p>
              </p:txBody>
            </p:sp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6F09F3F1-D057-5A72-F015-39E58150163B}"/>
                    </a:ext>
                  </a:extLst>
                </p:cNvPr>
                <p:cNvSpPr txBox="1"/>
                <p:nvPr/>
              </p:nvSpPr>
              <p:spPr>
                <a:xfrm>
                  <a:off x="8426450" y="3343345"/>
                  <a:ext cx="1746251" cy="1155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/>
                  <a:r>
                    <a:rPr sz="563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tests pass</a:t>
                  </a:r>
                </a:p>
              </p:txBody>
            </p: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EA751C8A-1D86-D9EA-A117-3E21A2BF516D}"/>
                  </a:ext>
                </a:extLst>
              </p:cNvPr>
              <p:cNvGrpSpPr/>
              <p:nvPr/>
            </p:nvGrpSpPr>
            <p:grpSpPr>
              <a:xfrm>
                <a:off x="7343775" y="2896730"/>
                <a:ext cx="3562350" cy="190500"/>
                <a:chOff x="7343775" y="2882900"/>
                <a:chExt cx="3562350" cy="190500"/>
              </a:xfrm>
            </p:grpSpPr>
            <p:sp>
              <p:nvSpPr>
                <p:cNvPr id="106" name="Rounded Rectangle 105">
                  <a:extLst>
                    <a:ext uri="{FF2B5EF4-FFF2-40B4-BE49-F238E27FC236}">
                      <a16:creationId xmlns:a16="http://schemas.microsoft.com/office/drawing/2014/main" id="{2125E53B-0004-3BF8-EBE2-B326C46C9DA7}"/>
                    </a:ext>
                  </a:extLst>
                </p:cNvPr>
                <p:cNvSpPr/>
                <p:nvPr/>
              </p:nvSpPr>
              <p:spPr>
                <a:xfrm>
                  <a:off x="7343775" y="2882900"/>
                  <a:ext cx="3562350" cy="190500"/>
                </a:xfrm>
                <a:prstGeom prst="roundRect">
                  <a:avLst>
                    <a:gd name="adj" fmla="val 20000"/>
                  </a:avLst>
                </a:prstGeom>
                <a:gradFill flip="none" rotWithShape="1">
                  <a:gsLst>
                    <a:gs pos="0">
                      <a:srgbClr val="D0B8E8"/>
                    </a:gs>
                    <a:gs pos="100000">
                      <a:srgbClr val="A100FF"/>
                    </a:gs>
                  </a:gsLst>
                  <a:lin ang="5400000" scaled="0"/>
                </a:gra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sz="1350">
                    <a:latin typeface="Graphik Semibold" panose="020B0703030202060203" pitchFamily="34" charset="0"/>
                  </a:endParaRP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F3B034C3-5395-67DA-EC01-0B5DB4CFF4CC}"/>
                    </a:ext>
                  </a:extLst>
                </p:cNvPr>
                <p:cNvSpPr txBox="1"/>
                <p:nvPr/>
              </p:nvSpPr>
              <p:spPr>
                <a:xfrm>
                  <a:off x="7931150" y="2930932"/>
                  <a:ext cx="2879725" cy="1155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/>
                  <a:r>
                    <a:rPr lang="en-US" sz="563" b="1">
                      <a:solidFill>
                        <a:srgbClr val="FFFFFF"/>
                      </a:solidFill>
                      <a:latin typeface="Graphik" panose="020B0503030202060203" pitchFamily="34" charset="0"/>
                    </a:rPr>
                    <a:t>finds root cause</a:t>
                  </a:r>
                  <a:endParaRPr sz="563" b="1">
                    <a:solidFill>
                      <a:srgbClr val="FFFFFF"/>
                    </a:solidFill>
                    <a:latin typeface="Graphik" panose="020B0503030202060203" pitchFamily="34" charset="0"/>
                  </a:endParaRP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F69A276A-FDCD-2429-9185-556FD2BF9DFF}"/>
                    </a:ext>
                  </a:extLst>
                </p:cNvPr>
                <p:cNvSpPr txBox="1"/>
                <p:nvPr/>
              </p:nvSpPr>
              <p:spPr>
                <a:xfrm>
                  <a:off x="7439026" y="2905009"/>
                  <a:ext cx="2879725" cy="1308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sz="638" b="1">
                      <a:solidFill>
                        <a:srgbClr val="FFFFFF"/>
                      </a:solidFill>
                      <a:latin typeface="Graphik Semibold" panose="020B0703030202060203" pitchFamily="34" charset="0"/>
                    </a:rPr>
                    <a:t>Diagnose</a:t>
                  </a:r>
                </a:p>
              </p:txBody>
            </p:sp>
          </p:grp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F0402E41-7AA2-6DBB-A192-AA23FDE6BB73}"/>
                  </a:ext>
                </a:extLst>
              </p:cNvPr>
              <p:cNvGrpSpPr/>
              <p:nvPr/>
            </p:nvGrpSpPr>
            <p:grpSpPr>
              <a:xfrm>
                <a:off x="6851650" y="2682971"/>
                <a:ext cx="4572000" cy="190500"/>
                <a:chOff x="6851650" y="2825822"/>
                <a:chExt cx="4572000" cy="190500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72104F1F-BA8D-1D83-73F5-D7FB69C91D41}"/>
                    </a:ext>
                  </a:extLst>
                </p:cNvPr>
                <p:cNvGrpSpPr/>
                <p:nvPr/>
              </p:nvGrpSpPr>
              <p:grpSpPr>
                <a:xfrm>
                  <a:off x="6851650" y="2825822"/>
                  <a:ext cx="4572000" cy="190500"/>
                  <a:chOff x="6838950" y="2667000"/>
                  <a:chExt cx="4572000" cy="190500"/>
                </a:xfrm>
              </p:grpSpPr>
              <p:sp>
                <p:nvSpPr>
                  <p:cNvPr id="103" name="Rounded Rectangle 102">
                    <a:extLst>
                      <a:ext uri="{FF2B5EF4-FFF2-40B4-BE49-F238E27FC236}">
                        <a16:creationId xmlns:a16="http://schemas.microsoft.com/office/drawing/2014/main" id="{AB2E6471-D594-BF76-6CE6-1E4653D14C9F}"/>
                      </a:ext>
                    </a:extLst>
                  </p:cNvPr>
                  <p:cNvSpPr/>
                  <p:nvPr/>
                </p:nvSpPr>
                <p:spPr>
                  <a:xfrm>
                    <a:off x="6838950" y="2667000"/>
                    <a:ext cx="4572000" cy="190500"/>
                  </a:xfrm>
                  <a:prstGeom prst="roundRect">
                    <a:avLst>
                      <a:gd name="adj" fmla="val 20000"/>
                    </a:avLst>
                  </a:prstGeom>
                  <a:gradFill flip="none" rotWithShape="1">
                    <a:gsLst>
                      <a:gs pos="0">
                        <a:srgbClr val="E8D5F5"/>
                      </a:gs>
                      <a:gs pos="100000">
                        <a:srgbClr val="D0B8E8"/>
                      </a:gs>
                    </a:gsLst>
                    <a:lin ang="5400000" scaled="0"/>
                  </a:gra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sz="1350">
                      <a:latin typeface="Graphik" panose="020B0503030202060203" pitchFamily="34" charset="0"/>
                    </a:endParaRPr>
                  </a:p>
                </p:txBody>
              </p:sp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7EAF1186-6B11-75E8-E426-330B1E085442}"/>
                      </a:ext>
                    </a:extLst>
                  </p:cNvPr>
                  <p:cNvSpPr txBox="1"/>
                  <p:nvPr/>
                </p:nvSpPr>
                <p:spPr>
                  <a:xfrm>
                    <a:off x="6934201" y="2704499"/>
                    <a:ext cx="4381500" cy="1155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r"/>
                    <a:r>
                      <a:rPr sz="563" b="1">
                        <a:solidFill>
                          <a:srgbClr val="44546A"/>
                        </a:solidFill>
                        <a:latin typeface="Graphik Semibold" panose="020B0703030202060203" pitchFamily="34" charset="0"/>
                      </a:rPr>
                      <a:t>whole repo</a:t>
                    </a:r>
                  </a:p>
                </p:txBody>
              </p:sp>
            </p:grp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580D7419-3851-6A47-F775-C06B458293E8}"/>
                    </a:ext>
                  </a:extLst>
                </p:cNvPr>
                <p:cNvSpPr txBox="1"/>
                <p:nvPr/>
              </p:nvSpPr>
              <p:spPr>
                <a:xfrm>
                  <a:off x="6940550" y="2846031"/>
                  <a:ext cx="3870324" cy="1308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sz="638" b="1">
                      <a:solidFill>
                        <a:srgbClr val="44546A"/>
                      </a:solidFill>
                      <a:latin typeface="Graphik Semibold" panose="020B0703030202060203" pitchFamily="34" charset="0"/>
                    </a:rPr>
                    <a:t>QA Bug › Investigate</a:t>
                  </a:r>
                </a:p>
              </p:txBody>
            </p:sp>
          </p:grpSp>
        </p:grpSp>
      </p:grp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5A95848A-2C4E-6142-81D8-0085625A0286}"/>
              </a:ext>
            </a:extLst>
          </p:cNvPr>
          <p:cNvSpPr/>
          <p:nvPr/>
        </p:nvSpPr>
        <p:spPr>
          <a:xfrm>
            <a:off x="5043488" y="3575500"/>
            <a:ext cx="3600450" cy="271463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2255CFF-1B39-3CA1-0CA9-15212B33DB06}"/>
              </a:ext>
            </a:extLst>
          </p:cNvPr>
          <p:cNvSpPr txBox="1"/>
          <p:nvPr/>
        </p:nvSpPr>
        <p:spPr>
          <a:xfrm>
            <a:off x="5343525" y="3611219"/>
            <a:ext cx="2800350" cy="109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3" b="1">
                <a:latin typeface="Graphik Semibold" panose="020B0703030202060203" pitchFamily="34" charset="0"/>
              </a:rPr>
              <a:t>Approve &amp; ship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F30F4632-EBB2-A642-601F-76954604F5DD}"/>
              </a:ext>
            </a:extLst>
          </p:cNvPr>
          <p:cNvSpPr txBox="1"/>
          <p:nvPr/>
        </p:nvSpPr>
        <p:spPr>
          <a:xfrm>
            <a:off x="5343525" y="3711232"/>
            <a:ext cx="2800350" cy="98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38">
                <a:solidFill>
                  <a:srgbClr val="7B8794"/>
                </a:solidFill>
                <a:latin typeface="Graphik" panose="020B0503030202060203" pitchFamily="34" charset="0"/>
              </a:rPr>
              <a:t>Tests already passed in the agent run.</a:t>
            </a: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1249F18-0214-CEC7-6D50-67349BB2C41B}"/>
              </a:ext>
            </a:extLst>
          </p:cNvPr>
          <p:cNvGrpSpPr/>
          <p:nvPr/>
        </p:nvGrpSpPr>
        <p:grpSpPr>
          <a:xfrm>
            <a:off x="8215312" y="3639964"/>
            <a:ext cx="357188" cy="128588"/>
            <a:chOff x="10991850" y="4324350"/>
            <a:chExt cx="476250" cy="171450"/>
          </a:xfrm>
        </p:grpSpPr>
        <p:sp>
          <p:nvSpPr>
            <p:cNvPr id="127" name="Rounded Rectangle 126">
              <a:extLst>
                <a:ext uri="{FF2B5EF4-FFF2-40B4-BE49-F238E27FC236}">
                  <a16:creationId xmlns:a16="http://schemas.microsoft.com/office/drawing/2014/main" id="{1E65B0D7-AD12-217F-FFE9-3F9BDB6C2874}"/>
                </a:ext>
              </a:extLst>
            </p:cNvPr>
            <p:cNvSpPr/>
            <p:nvPr/>
          </p:nvSpPr>
          <p:spPr>
            <a:xfrm>
              <a:off x="10991850" y="4324350"/>
              <a:ext cx="476250" cy="171450"/>
            </a:xfrm>
            <a:prstGeom prst="roundRect">
              <a:avLst>
                <a:gd name="adj" fmla="val 27777"/>
              </a:avLst>
            </a:prstGeom>
            <a:solidFill>
              <a:srgbClr val="F0E5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" panose="020B0503030202060203" pitchFamily="34" charset="0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B4A3C98D-F38F-4FFA-120D-F8236F4E633E}"/>
                </a:ext>
              </a:extLst>
            </p:cNvPr>
            <p:cNvSpPr txBox="1"/>
            <p:nvPr/>
          </p:nvSpPr>
          <p:spPr>
            <a:xfrm>
              <a:off x="10991850" y="4328725"/>
              <a:ext cx="47625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75" b="1">
                  <a:solidFill>
                    <a:srgbClr val="460073"/>
                  </a:solidFill>
                  <a:latin typeface="Graphik Semibold" panose="020B0703030202060203" pitchFamily="34" charset="0"/>
                </a:rPr>
                <a:t>2 min</a:t>
              </a: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96162BB-4C8D-EBF5-1143-04B87E62B160}"/>
              </a:ext>
            </a:extLst>
          </p:cNvPr>
          <p:cNvGrpSpPr/>
          <p:nvPr/>
        </p:nvGrpSpPr>
        <p:grpSpPr>
          <a:xfrm>
            <a:off x="5043488" y="3255177"/>
            <a:ext cx="3600450" cy="271463"/>
            <a:chOff x="6762750" y="4681954"/>
            <a:chExt cx="4800600" cy="361950"/>
          </a:xfrm>
        </p:grpSpPr>
        <p:sp>
          <p:nvSpPr>
            <p:cNvPr id="193" name="Rounded Rectangle 121">
              <a:extLst>
                <a:ext uri="{FF2B5EF4-FFF2-40B4-BE49-F238E27FC236}">
                  <a16:creationId xmlns:a16="http://schemas.microsoft.com/office/drawing/2014/main" id="{E1158E93-FB3E-2D2C-66F0-B870EB0311DF}"/>
                </a:ext>
              </a:extLst>
            </p:cNvPr>
            <p:cNvSpPr/>
            <p:nvPr/>
          </p:nvSpPr>
          <p:spPr>
            <a:xfrm>
              <a:off x="6762750" y="4681954"/>
              <a:ext cx="48006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" panose="020B0503030202060203" pitchFamily="34" charset="0"/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0494C6CD-A622-A682-2004-0BAF5B32C997}"/>
                </a:ext>
              </a:extLst>
            </p:cNvPr>
            <p:cNvSpPr txBox="1"/>
            <p:nvPr/>
          </p:nvSpPr>
          <p:spPr>
            <a:xfrm>
              <a:off x="7162801" y="4729579"/>
              <a:ext cx="3733800" cy="146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713" b="1">
                  <a:latin typeface="Graphik Semibold" panose="020B0703030202060203" pitchFamily="34" charset="0"/>
                </a:rPr>
                <a:t>Dev reviews the report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B9657AD-FBAC-F363-5717-214382F8A5B4}"/>
                </a:ext>
              </a:extLst>
            </p:cNvPr>
            <p:cNvSpPr txBox="1"/>
            <p:nvPr/>
          </p:nvSpPr>
          <p:spPr>
            <a:xfrm>
              <a:off x="7162801" y="4862928"/>
              <a:ext cx="3733800" cy="1308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638">
                  <a:solidFill>
                    <a:srgbClr val="7B8794"/>
                  </a:solidFill>
                  <a:latin typeface="Graphik" panose="020B0503030202060203" pitchFamily="34" charset="0"/>
                </a:rPr>
                <a:t>Reads findings, approves the fix.</a:t>
              </a:r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6DE7B9FA-3DB2-6212-2F94-5000FF8FC6D0}"/>
                </a:ext>
              </a:extLst>
            </p:cNvPr>
            <p:cNvGrpSpPr/>
            <p:nvPr/>
          </p:nvGrpSpPr>
          <p:grpSpPr>
            <a:xfrm>
              <a:off x="10991850" y="4767906"/>
              <a:ext cx="476250" cy="171450"/>
              <a:chOff x="10991850" y="4324350"/>
              <a:chExt cx="476250" cy="171450"/>
            </a:xfrm>
          </p:grpSpPr>
          <p:sp>
            <p:nvSpPr>
              <p:cNvPr id="198" name="Rounded Rectangle 126">
                <a:extLst>
                  <a:ext uri="{FF2B5EF4-FFF2-40B4-BE49-F238E27FC236}">
                    <a16:creationId xmlns:a16="http://schemas.microsoft.com/office/drawing/2014/main" id="{D7BEA7EB-5EE2-AA9A-BE84-ED5C099144C7}"/>
                  </a:ext>
                </a:extLst>
              </p:cNvPr>
              <p:cNvSpPr/>
              <p:nvPr/>
            </p:nvSpPr>
            <p:spPr>
              <a:xfrm>
                <a:off x="10991850" y="432435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F0E5F8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sz="1350">
                  <a:latin typeface="Graphik" panose="020B0503030202060203" pitchFamily="34" charset="0"/>
                </a:endParaRPr>
              </a:p>
            </p:txBody>
          </p:sp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4F3B9B18-EBDD-EAC0-2F21-5AD619A4768F}"/>
                  </a:ext>
                </a:extLst>
              </p:cNvPr>
              <p:cNvSpPr txBox="1"/>
              <p:nvPr/>
            </p:nvSpPr>
            <p:spPr>
              <a:xfrm>
                <a:off x="10991850" y="4328725"/>
                <a:ext cx="4762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675" b="1">
                    <a:solidFill>
                      <a:srgbClr val="460073"/>
                    </a:solidFill>
                    <a:latin typeface="Graphik Semibold" panose="020B0703030202060203" pitchFamily="34" charset="0"/>
                  </a:rPr>
                  <a:t>3</a:t>
                </a:r>
                <a:r>
                  <a:rPr sz="675" b="1">
                    <a:solidFill>
                      <a:srgbClr val="460073"/>
                    </a:solidFill>
                    <a:latin typeface="Graphik Semibold" panose="020B0703030202060203" pitchFamily="34" charset="0"/>
                  </a:rPr>
                  <a:t> min</a:t>
                </a:r>
              </a:p>
            </p:txBody>
          </p:sp>
        </p:grp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DD680A0-6E5B-942B-046D-8BBF632BFBC1}"/>
              </a:ext>
            </a:extLst>
          </p:cNvPr>
          <p:cNvGrpSpPr/>
          <p:nvPr/>
        </p:nvGrpSpPr>
        <p:grpSpPr>
          <a:xfrm>
            <a:off x="407194" y="4027188"/>
            <a:ext cx="8343900" cy="570856"/>
            <a:chOff x="533400" y="5295916"/>
            <a:chExt cx="11125200" cy="666750"/>
          </a:xfrm>
        </p:grpSpPr>
        <p:sp>
          <p:nvSpPr>
            <p:cNvPr id="129" name="Rounded Rectangle 128">
              <a:extLst>
                <a:ext uri="{FF2B5EF4-FFF2-40B4-BE49-F238E27FC236}">
                  <a16:creationId xmlns:a16="http://schemas.microsoft.com/office/drawing/2014/main" id="{28BA1B6E-F944-24E7-8E58-3C2355DBA888}"/>
                </a:ext>
              </a:extLst>
            </p:cNvPr>
            <p:cNvSpPr/>
            <p:nvPr/>
          </p:nvSpPr>
          <p:spPr>
            <a:xfrm>
              <a:off x="533400" y="5295916"/>
              <a:ext cx="11125200" cy="666750"/>
            </a:xfrm>
            <a:prstGeom prst="roundRect">
              <a:avLst>
                <a:gd name="adj" fmla="val 17142"/>
              </a:avLst>
            </a:prstGeom>
            <a:gradFill flip="none" rotWithShape="1">
              <a:gsLst>
                <a:gs pos="0">
                  <a:srgbClr val="44546A"/>
                </a:gs>
                <a:gs pos="100000">
                  <a:srgbClr val="7030A0"/>
                </a:gs>
              </a:gsLst>
              <a:lin ang="8100000" scaled="0"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sz="1350">
                <a:latin typeface="Graphik" panose="020B0503030202060203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19162ABF-F181-8AA3-F7FE-50EDA000D2E8}"/>
                </a:ext>
              </a:extLst>
            </p:cNvPr>
            <p:cNvSpPr txBox="1"/>
            <p:nvPr/>
          </p:nvSpPr>
          <p:spPr>
            <a:xfrm>
              <a:off x="533400" y="5391150"/>
              <a:ext cx="2781300" cy="1011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563" b="1" spc="113" dirty="0">
                  <a:solidFill>
                    <a:srgbClr val="AB71FC"/>
                  </a:solidFill>
                  <a:latin typeface="Graphik" panose="020B0503030202060203" pitchFamily="34" charset="0"/>
                </a:rPr>
                <a:t>COST / BUG: MANUAL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69C7A2A3-50CE-FBDB-51F2-AC029A9233AE}"/>
                </a:ext>
              </a:extLst>
            </p:cNvPr>
            <p:cNvSpPr txBox="1"/>
            <p:nvPr/>
          </p:nvSpPr>
          <p:spPr>
            <a:xfrm>
              <a:off x="533400" y="5546349"/>
              <a:ext cx="2781300" cy="1797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0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$</a:t>
              </a:r>
              <a:r>
                <a:rPr lang="en-US" sz="10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70</a:t>
              </a:r>
              <a:r>
                <a:rPr lang="en-US" sz="7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(IN dev)</a:t>
              </a:r>
              <a:r>
                <a:rPr lang="en-US" sz="10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/$190</a:t>
              </a:r>
              <a:r>
                <a:rPr lang="en-US" sz="7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(US dev)</a:t>
              </a:r>
              <a:endParaRPr sz="1400" b="1" dirty="0">
                <a:solidFill>
                  <a:srgbClr val="FFFFFF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7FB5496E-E8FF-97A8-B3F0-2ADBD2C3FC6B}"/>
                </a:ext>
              </a:extLst>
            </p:cNvPr>
            <p:cNvSpPr txBox="1"/>
            <p:nvPr/>
          </p:nvSpPr>
          <p:spPr>
            <a:xfrm>
              <a:off x="533400" y="5772150"/>
              <a:ext cx="2781300" cy="1078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00" dirty="0">
                  <a:solidFill>
                    <a:srgbClr val="E8D5F5"/>
                  </a:solidFill>
                  <a:latin typeface="Graphik" panose="020B0503030202060203" pitchFamily="34" charset="0"/>
                </a:rPr>
                <a:t>75</a:t>
              </a:r>
              <a:r>
                <a:rPr lang="en-US" sz="600" dirty="0">
                  <a:solidFill>
                    <a:srgbClr val="E8D5F5"/>
                  </a:solidFill>
                  <a:latin typeface="Graphik" panose="020B0503030202060203" pitchFamily="34" charset="0"/>
                </a:rPr>
                <a:t> mins</a:t>
              </a:r>
              <a:endParaRPr sz="600" dirty="0">
                <a:solidFill>
                  <a:srgbClr val="E8D5F5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B0FFF665-01A0-74BD-B0C3-0DD6FFE6C2FC}"/>
                </a:ext>
              </a:extLst>
            </p:cNvPr>
            <p:cNvSpPr txBox="1"/>
            <p:nvPr/>
          </p:nvSpPr>
          <p:spPr>
            <a:xfrm>
              <a:off x="3314700" y="5391150"/>
              <a:ext cx="2781300" cy="1011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563" b="1" spc="113" dirty="0">
                  <a:solidFill>
                    <a:srgbClr val="AB71FC"/>
                  </a:solidFill>
                  <a:latin typeface="Graphik" panose="020B0503030202060203" pitchFamily="34" charset="0"/>
                </a:rPr>
                <a:t>COST / BUG: VIBE CODING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2B39FC8-3BA6-D1A6-D2E0-E03F4916A93C}"/>
                </a:ext>
              </a:extLst>
            </p:cNvPr>
            <p:cNvSpPr txBox="1"/>
            <p:nvPr/>
          </p:nvSpPr>
          <p:spPr>
            <a:xfrm>
              <a:off x="3305175" y="5546349"/>
              <a:ext cx="2781300" cy="1797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$40</a:t>
              </a:r>
              <a:r>
                <a:rPr lang="en-US" sz="7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(IN dev)</a:t>
              </a:r>
              <a:r>
                <a:rPr lang="en-US" sz="10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/$105</a:t>
              </a:r>
              <a:r>
                <a:rPr lang="en-US" sz="700" b="1" dirty="0">
                  <a:solidFill>
                    <a:srgbClr val="FFFFFF"/>
                  </a:solidFill>
                  <a:latin typeface="Graphik Semibold" panose="020B0703030202060203" pitchFamily="34" charset="0"/>
                </a:rPr>
                <a:t>(US dev)</a:t>
              </a:r>
              <a:endParaRPr sz="700" b="1" dirty="0">
                <a:solidFill>
                  <a:srgbClr val="FFFFFF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3379A1D3-9FCB-3EEA-0ED0-959E47D0FF1E}"/>
                </a:ext>
              </a:extLst>
            </p:cNvPr>
            <p:cNvSpPr txBox="1"/>
            <p:nvPr/>
          </p:nvSpPr>
          <p:spPr>
            <a:xfrm>
              <a:off x="3314700" y="5772150"/>
              <a:ext cx="2781300" cy="1078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00" dirty="0">
                  <a:solidFill>
                    <a:srgbClr val="E8D5F5"/>
                  </a:solidFill>
                  <a:latin typeface="Graphik" panose="020B0503030202060203" pitchFamily="34" charset="0"/>
                </a:rPr>
                <a:t>40 min</a:t>
              </a:r>
              <a:r>
                <a:rPr lang="en-US" sz="600" dirty="0">
                  <a:solidFill>
                    <a:srgbClr val="E8D5F5"/>
                  </a:solidFill>
                  <a:latin typeface="Graphik" panose="020B0503030202060203" pitchFamily="34" charset="0"/>
                </a:rPr>
                <a:t>s</a:t>
              </a:r>
              <a:r>
                <a:rPr sz="600" dirty="0">
                  <a:solidFill>
                    <a:srgbClr val="E8D5F5"/>
                  </a:solidFill>
                  <a:latin typeface="Graphik" panose="020B0503030202060203" pitchFamily="34" charset="0"/>
                </a:rPr>
                <a:t> dev + ~$4 AI tokens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49D9411A-772A-18E4-D726-F8BAE5AF2C77}"/>
                </a:ext>
              </a:extLst>
            </p:cNvPr>
            <p:cNvSpPr txBox="1"/>
            <p:nvPr/>
          </p:nvSpPr>
          <p:spPr>
            <a:xfrm>
              <a:off x="6096000" y="5391150"/>
              <a:ext cx="2781300" cy="1011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563" b="1" spc="113">
                  <a:solidFill>
                    <a:srgbClr val="AB71FC"/>
                  </a:solidFill>
                  <a:latin typeface="Graphik" panose="020B0503030202060203" pitchFamily="34" charset="0"/>
                </a:rPr>
                <a:t>COST / BUG: AGENTIC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EA1A4532-656C-EB6C-195F-CB22CB8F2CEA}"/>
                </a:ext>
              </a:extLst>
            </p:cNvPr>
            <p:cNvSpPr txBox="1"/>
            <p:nvPr/>
          </p:nvSpPr>
          <p:spPr>
            <a:xfrm>
              <a:off x="6096000" y="5546349"/>
              <a:ext cx="2781300" cy="1797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000" b="1" dirty="0">
                  <a:solidFill>
                    <a:srgbClr val="FFD966"/>
                  </a:solidFill>
                  <a:latin typeface="Graphik Semibold" panose="020B0703030202060203" pitchFamily="34" charset="0"/>
                </a:rPr>
                <a:t>$</a:t>
              </a:r>
              <a:r>
                <a:rPr lang="en-US" sz="1000" b="1" dirty="0">
                  <a:solidFill>
                    <a:srgbClr val="FFD966"/>
                  </a:solidFill>
                  <a:latin typeface="Graphik Semibold" panose="020B0703030202060203" pitchFamily="34" charset="0"/>
                </a:rPr>
                <a:t>7</a:t>
              </a:r>
              <a:r>
                <a:rPr lang="en-US" sz="700" b="1" dirty="0">
                  <a:solidFill>
                    <a:srgbClr val="FFD966"/>
                  </a:solidFill>
                  <a:latin typeface="Graphik Semibold" panose="020B0703030202060203" pitchFamily="34" charset="0"/>
                </a:rPr>
                <a:t>(IN dev)</a:t>
              </a:r>
              <a:r>
                <a:rPr lang="en-US" sz="1000" b="1" dirty="0">
                  <a:solidFill>
                    <a:srgbClr val="FFD966"/>
                  </a:solidFill>
                  <a:latin typeface="Graphik Semibold" panose="020B0703030202060203" pitchFamily="34" charset="0"/>
                </a:rPr>
                <a:t>/$15</a:t>
              </a:r>
              <a:r>
                <a:rPr lang="en-US" sz="700" b="1" dirty="0">
                  <a:solidFill>
                    <a:srgbClr val="FFD966"/>
                  </a:solidFill>
                  <a:latin typeface="Graphik Semibold" panose="020B0703030202060203" pitchFamily="34" charset="0"/>
                </a:rPr>
                <a:t>(US dev)</a:t>
              </a:r>
              <a:endParaRPr sz="700" b="1" dirty="0">
                <a:solidFill>
                  <a:srgbClr val="FFD966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8E583CE0-28F9-CCDC-D273-5F42B0FAF6C4}"/>
                </a:ext>
              </a:extLst>
            </p:cNvPr>
            <p:cNvSpPr txBox="1"/>
            <p:nvPr/>
          </p:nvSpPr>
          <p:spPr>
            <a:xfrm>
              <a:off x="6096000" y="5772150"/>
              <a:ext cx="2781300" cy="10653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00" dirty="0">
                  <a:solidFill>
                    <a:srgbClr val="E8D5F5"/>
                  </a:solidFill>
                  <a:latin typeface="Graphik" panose="020B0503030202060203" pitchFamily="34" charset="0"/>
                </a:rPr>
                <a:t>5 min dev time + ~$2 agent run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5929FBA3-7194-62BA-BA62-AEA5BACEA2D6}"/>
                </a:ext>
              </a:extLst>
            </p:cNvPr>
            <p:cNvSpPr txBox="1"/>
            <p:nvPr/>
          </p:nvSpPr>
          <p:spPr>
            <a:xfrm>
              <a:off x="8877300" y="5391150"/>
              <a:ext cx="2781300" cy="1011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563" b="1" spc="113">
                  <a:solidFill>
                    <a:srgbClr val="AB71FC"/>
                  </a:solidFill>
                  <a:latin typeface="Graphik" panose="020B0503030202060203" pitchFamily="34" charset="0"/>
                </a:rPr>
                <a:t>NET SAVINGS: AGENTIC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22BA232B-C35F-72C2-BEDE-620ADC983248}"/>
                </a:ext>
              </a:extLst>
            </p:cNvPr>
            <p:cNvSpPr txBox="1"/>
            <p:nvPr/>
          </p:nvSpPr>
          <p:spPr>
            <a:xfrm>
              <a:off x="8877300" y="5546349"/>
              <a:ext cx="2781300" cy="1797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000" b="1" dirty="0">
                  <a:solidFill>
                    <a:srgbClr val="FFC000"/>
                  </a:solidFill>
                  <a:latin typeface="Graphik Semibold" panose="020B0703030202060203" pitchFamily="34" charset="0"/>
                </a:rPr>
                <a:t>$3</a:t>
              </a:r>
              <a:r>
                <a:rPr lang="en-US" sz="1000" b="1" dirty="0">
                  <a:solidFill>
                    <a:srgbClr val="FFC000"/>
                  </a:solidFill>
                  <a:latin typeface="Graphik Semibold" panose="020B0703030202060203" pitchFamily="34" charset="0"/>
                </a:rPr>
                <a:t>5 </a:t>
              </a:r>
              <a:r>
                <a:rPr lang="en-US" sz="700" b="1" dirty="0">
                  <a:solidFill>
                    <a:srgbClr val="FFC000"/>
                  </a:solidFill>
                  <a:latin typeface="Graphik Semibold" panose="020B0703030202060203" pitchFamily="34" charset="0"/>
                </a:rPr>
                <a:t>(IN dev)</a:t>
              </a:r>
              <a:r>
                <a:rPr lang="en-US" sz="1000" b="1" dirty="0">
                  <a:solidFill>
                    <a:srgbClr val="FFC000"/>
                  </a:solidFill>
                  <a:latin typeface="Graphik Semibold" panose="020B0703030202060203" pitchFamily="34" charset="0"/>
                </a:rPr>
                <a:t>/$90</a:t>
              </a:r>
              <a:r>
                <a:rPr lang="en-US" sz="700" b="1" dirty="0">
                  <a:solidFill>
                    <a:srgbClr val="FFC000"/>
                  </a:solidFill>
                  <a:latin typeface="Graphik Semibold" panose="020B0703030202060203" pitchFamily="34" charset="0"/>
                </a:rPr>
                <a:t>(US dev)</a:t>
              </a:r>
              <a:endParaRPr sz="700" b="1" dirty="0">
                <a:solidFill>
                  <a:srgbClr val="EDE0F5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B5DDFF0-7AF8-C26A-8262-3235A1021332}"/>
                </a:ext>
              </a:extLst>
            </p:cNvPr>
            <p:cNvSpPr txBox="1"/>
            <p:nvPr/>
          </p:nvSpPr>
          <p:spPr>
            <a:xfrm>
              <a:off x="8877300" y="5772150"/>
              <a:ext cx="2781300" cy="1078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600" dirty="0">
                  <a:solidFill>
                    <a:srgbClr val="E8D5F5"/>
                  </a:solidFill>
                  <a:latin typeface="Graphik" panose="020B0503030202060203" pitchFamily="34" charset="0"/>
                </a:rPr>
                <a:t>vs </a:t>
              </a:r>
              <a:r>
                <a:rPr lang="en-US" sz="600" dirty="0">
                  <a:solidFill>
                    <a:srgbClr val="E8D5F5"/>
                  </a:solidFill>
                  <a:latin typeface="Graphik" panose="020B0503030202060203" pitchFamily="34" charset="0"/>
                </a:rPr>
                <a:t>Vibe Coding</a:t>
              </a:r>
              <a:endParaRPr sz="600" b="1" dirty="0">
                <a:solidFill>
                  <a:srgbClr val="FFFFFF"/>
                </a:solidFill>
                <a:latin typeface="Graphik" panose="020B0503030202060203" pitchFamily="34" charset="0"/>
              </a:endParaRPr>
            </a:p>
          </p:txBody>
        </p:sp>
      </p:grp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9753FF0-1C2E-16F8-37BE-7089C5D1F75E}"/>
              </a:ext>
            </a:extLst>
          </p:cNvPr>
          <p:cNvSpPr/>
          <p:nvPr/>
        </p:nvSpPr>
        <p:spPr>
          <a:xfrm>
            <a:off x="2493169" y="4200048"/>
            <a:ext cx="7144" cy="518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B6BA3B4-7E16-4F10-4E5A-3F8D51DBBB88}"/>
              </a:ext>
            </a:extLst>
          </p:cNvPr>
          <p:cNvSpPr/>
          <p:nvPr/>
        </p:nvSpPr>
        <p:spPr>
          <a:xfrm>
            <a:off x="4579144" y="4189546"/>
            <a:ext cx="7144" cy="518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26186860-AF00-DDE2-2184-69B748645215}"/>
              </a:ext>
            </a:extLst>
          </p:cNvPr>
          <p:cNvSpPr/>
          <p:nvPr/>
        </p:nvSpPr>
        <p:spPr>
          <a:xfrm>
            <a:off x="6665119" y="4189546"/>
            <a:ext cx="7144" cy="518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endParaRPr sz="1350">
              <a:latin typeface="Graphik" panose="020B0503030202060203" pitchFamily="34" charset="0"/>
            </a:endParaRP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CE66F5B-864D-05ED-E54A-1935BC54CF52}"/>
              </a:ext>
            </a:extLst>
          </p:cNvPr>
          <p:cNvGrpSpPr/>
          <p:nvPr/>
        </p:nvGrpSpPr>
        <p:grpSpPr>
          <a:xfrm>
            <a:off x="8221980" y="2294127"/>
            <a:ext cx="357188" cy="128588"/>
            <a:chOff x="10991850" y="4324350"/>
            <a:chExt cx="476250" cy="171450"/>
          </a:xfrm>
        </p:grpSpPr>
        <p:sp>
          <p:nvSpPr>
            <p:cNvPr id="215" name="Rounded Rectangle 126">
              <a:extLst>
                <a:ext uri="{FF2B5EF4-FFF2-40B4-BE49-F238E27FC236}">
                  <a16:creationId xmlns:a16="http://schemas.microsoft.com/office/drawing/2014/main" id="{0C11B386-B159-7339-A277-1B93F6258E8A}"/>
                </a:ext>
              </a:extLst>
            </p:cNvPr>
            <p:cNvSpPr/>
            <p:nvPr/>
          </p:nvSpPr>
          <p:spPr>
            <a:xfrm>
              <a:off x="10991850" y="4324350"/>
              <a:ext cx="476250" cy="171450"/>
            </a:xfrm>
            <a:prstGeom prst="roundRect">
              <a:avLst>
                <a:gd name="adj" fmla="val 27777"/>
              </a:avLst>
            </a:prstGeom>
            <a:solidFill>
              <a:srgbClr val="F0E5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latin typeface="Graphik" panose="020B0503030202060203" pitchFamily="34" charset="0"/>
              </a:endParaRP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78011157-D4EF-907A-F9EE-8011A492F594}"/>
                </a:ext>
              </a:extLst>
            </p:cNvPr>
            <p:cNvSpPr txBox="1"/>
            <p:nvPr/>
          </p:nvSpPr>
          <p:spPr>
            <a:xfrm>
              <a:off x="10991850" y="4328725"/>
              <a:ext cx="47625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675" b="1">
                  <a:solidFill>
                    <a:srgbClr val="460073"/>
                  </a:solidFill>
                  <a:latin typeface="Graphik Semibold" panose="020B0703030202060203" pitchFamily="34" charset="0"/>
                </a:rPr>
                <a:t>9</a:t>
              </a:r>
              <a:r>
                <a:rPr sz="675" b="1">
                  <a:solidFill>
                    <a:srgbClr val="460073"/>
                  </a:solidFill>
                  <a:latin typeface="Graphik Semibold" panose="020B0703030202060203" pitchFamily="34" charset="0"/>
                </a:rPr>
                <a:t> min</a:t>
              </a:r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09F1AD99-B5F8-5547-557C-A2DFC003F49A}"/>
              </a:ext>
            </a:extLst>
          </p:cNvPr>
          <p:cNvGrpSpPr/>
          <p:nvPr/>
        </p:nvGrpSpPr>
        <p:grpSpPr>
          <a:xfrm>
            <a:off x="2771775" y="2367107"/>
            <a:ext cx="1971675" cy="271463"/>
            <a:chOff x="3695700" y="2646290"/>
            <a:chExt cx="2628900" cy="361950"/>
          </a:xfrm>
        </p:grpSpPr>
        <p:sp>
          <p:nvSpPr>
            <p:cNvPr id="73" name="Rounded Rectangle 72">
              <a:extLst>
                <a:ext uri="{FF2B5EF4-FFF2-40B4-BE49-F238E27FC236}">
                  <a16:creationId xmlns:a16="http://schemas.microsoft.com/office/drawing/2014/main" id="{816115AF-9BFD-513C-2F63-5F3BA4E6CA36}"/>
                </a:ext>
              </a:extLst>
            </p:cNvPr>
            <p:cNvSpPr/>
            <p:nvPr/>
          </p:nvSpPr>
          <p:spPr>
            <a:xfrm>
              <a:off x="3695700" y="2646290"/>
              <a:ext cx="26289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solidFill>
                  <a:schemeClr val="tx1"/>
                </a:solidFill>
                <a:latin typeface="Graphik Semibold" panose="020B0703030202060203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8DD77DB-02AE-D117-53A5-53369D70C6C2}"/>
                </a:ext>
              </a:extLst>
            </p:cNvPr>
            <p:cNvSpPr txBox="1"/>
            <p:nvPr/>
          </p:nvSpPr>
          <p:spPr>
            <a:xfrm>
              <a:off x="4095751" y="2693915"/>
              <a:ext cx="1562100" cy="146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13" b="1">
                  <a:latin typeface="Graphik Semibold" panose="020B0703030202060203" pitchFamily="34" charset="0"/>
                </a:rPr>
                <a:t>Write the fix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9ACBDB45-6DCE-FAB4-A953-3A0C687380DB}"/>
                </a:ext>
              </a:extLst>
            </p:cNvPr>
            <p:cNvSpPr txBox="1"/>
            <p:nvPr/>
          </p:nvSpPr>
          <p:spPr>
            <a:xfrm>
              <a:off x="4095751" y="2827264"/>
              <a:ext cx="1562100" cy="1308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sz="638">
                  <a:solidFill>
                    <a:srgbClr val="7B8794"/>
                  </a:solidFill>
                  <a:latin typeface="Graphik" panose="020B0503030202060203" pitchFamily="34" charset="0"/>
                </a:rPr>
                <a:t>Dev refines the AI draft.</a:t>
              </a:r>
            </a:p>
          </p:txBody>
        </p: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0313A95A-DFC1-26E3-5E0A-7126C60DF256}"/>
                </a:ext>
              </a:extLst>
            </p:cNvPr>
            <p:cNvGrpSpPr/>
            <p:nvPr/>
          </p:nvGrpSpPr>
          <p:grpSpPr>
            <a:xfrm>
              <a:off x="5791200" y="2741540"/>
              <a:ext cx="476250" cy="171450"/>
              <a:chOff x="5791200" y="2741540"/>
              <a:chExt cx="476250" cy="171450"/>
            </a:xfrm>
          </p:grpSpPr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48BDDB62-444E-DFE6-B7D6-9C1035DCA64E}"/>
                  </a:ext>
                </a:extLst>
              </p:cNvPr>
              <p:cNvSpPr/>
              <p:nvPr/>
            </p:nvSpPr>
            <p:spPr>
              <a:xfrm>
                <a:off x="5791200" y="274154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F8F0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sz="1350">
                  <a:solidFill>
                    <a:schemeClr val="tx1"/>
                  </a:solidFill>
                  <a:latin typeface="Graphik Semibold" panose="020B0703030202060203" pitchFamily="34" charset="0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427428EA-76E3-D97C-9131-E5B68FD606DC}"/>
                  </a:ext>
                </a:extLst>
              </p:cNvPr>
              <p:cNvSpPr txBox="1"/>
              <p:nvPr/>
            </p:nvSpPr>
            <p:spPr>
              <a:xfrm>
                <a:off x="5791200" y="2758015"/>
                <a:ext cx="4762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75" b="1" dirty="0">
                    <a:solidFill>
                      <a:srgbClr val="8350A8"/>
                    </a:solidFill>
                    <a:latin typeface="Graphik Semibold" panose="020B0703030202060203" pitchFamily="34" charset="0"/>
                  </a:rPr>
                  <a:t>7 min</a:t>
                </a:r>
              </a:p>
            </p:txBody>
          </p:sp>
        </p:grp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976BA35D-6D13-476C-19D7-A5B70ED4C812}"/>
              </a:ext>
            </a:extLst>
          </p:cNvPr>
          <p:cNvGrpSpPr/>
          <p:nvPr/>
        </p:nvGrpSpPr>
        <p:grpSpPr>
          <a:xfrm>
            <a:off x="2771775" y="2689621"/>
            <a:ext cx="1971675" cy="271463"/>
            <a:chOff x="3695700" y="2646290"/>
            <a:chExt cx="2628900" cy="361950"/>
          </a:xfrm>
        </p:grpSpPr>
        <p:sp>
          <p:nvSpPr>
            <p:cNvPr id="221" name="Rounded Rectangle 72">
              <a:extLst>
                <a:ext uri="{FF2B5EF4-FFF2-40B4-BE49-F238E27FC236}">
                  <a16:creationId xmlns:a16="http://schemas.microsoft.com/office/drawing/2014/main" id="{A9FEE63E-3438-393D-C0F5-C1F83FFDE6DC}"/>
                </a:ext>
              </a:extLst>
            </p:cNvPr>
            <p:cNvSpPr/>
            <p:nvPr/>
          </p:nvSpPr>
          <p:spPr>
            <a:xfrm>
              <a:off x="3695700" y="2646290"/>
              <a:ext cx="2628900" cy="361950"/>
            </a:xfrm>
            <a:prstGeom prst="roundRect">
              <a:avLst>
                <a:gd name="adj" fmla="val 21052"/>
              </a:avLst>
            </a:prstGeom>
            <a:solidFill>
              <a:srgbClr val="FFFFFF"/>
            </a:solidFill>
            <a:ln w="9525">
              <a:solidFill>
                <a:srgbClr val="E5E7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endParaRPr sz="1350">
                <a:solidFill>
                  <a:schemeClr val="tx1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D3AA1FF2-E776-3498-9CB7-50C2E946E0CD}"/>
                </a:ext>
              </a:extLst>
            </p:cNvPr>
            <p:cNvSpPr txBox="1"/>
            <p:nvPr/>
          </p:nvSpPr>
          <p:spPr>
            <a:xfrm>
              <a:off x="4095751" y="2693915"/>
              <a:ext cx="1562100" cy="146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713" b="1">
                  <a:latin typeface="Graphik Semibold" panose="020B0703030202060203" pitchFamily="34" charset="0"/>
                </a:rPr>
                <a:t>Test the fix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0C807A60-1E83-7B6F-AAAF-2E77C2FE522F}"/>
                </a:ext>
              </a:extLst>
            </p:cNvPr>
            <p:cNvSpPr txBox="1"/>
            <p:nvPr/>
          </p:nvSpPr>
          <p:spPr>
            <a:xfrm>
              <a:off x="4095751" y="2827264"/>
              <a:ext cx="1562100" cy="13089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n-US" sz="638">
                  <a:solidFill>
                    <a:srgbClr val="7B8794"/>
                  </a:solidFill>
                  <a:latin typeface="Graphik" panose="020B0503030202060203" pitchFamily="34" charset="0"/>
                </a:rPr>
                <a:t>Runs tests to confirm.</a:t>
              </a:r>
            </a:p>
          </p:txBody>
        </p: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FD9A8EFB-14B4-FE6A-1C96-5791BF1740DA}"/>
                </a:ext>
              </a:extLst>
            </p:cNvPr>
            <p:cNvGrpSpPr/>
            <p:nvPr/>
          </p:nvGrpSpPr>
          <p:grpSpPr>
            <a:xfrm>
              <a:off x="5791200" y="2741540"/>
              <a:ext cx="476250" cy="171450"/>
              <a:chOff x="5791200" y="2741540"/>
              <a:chExt cx="476250" cy="171450"/>
            </a:xfrm>
          </p:grpSpPr>
          <p:sp>
            <p:nvSpPr>
              <p:cNvPr id="226" name="Rounded Rectangle 77">
                <a:extLst>
                  <a:ext uri="{FF2B5EF4-FFF2-40B4-BE49-F238E27FC236}">
                    <a16:creationId xmlns:a16="http://schemas.microsoft.com/office/drawing/2014/main" id="{FADD1387-5FDC-0D9F-15B4-C73EDDD229BE}"/>
                  </a:ext>
                </a:extLst>
              </p:cNvPr>
              <p:cNvSpPr/>
              <p:nvPr/>
            </p:nvSpPr>
            <p:spPr>
              <a:xfrm>
                <a:off x="5791200" y="2741540"/>
                <a:ext cx="476250" cy="171450"/>
              </a:xfrm>
              <a:prstGeom prst="roundRect">
                <a:avLst>
                  <a:gd name="adj" fmla="val 27777"/>
                </a:avLst>
              </a:prstGeom>
              <a:solidFill>
                <a:srgbClr val="F8F0F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sz="1350">
                  <a:solidFill>
                    <a:schemeClr val="tx1"/>
                  </a:solidFill>
                  <a:latin typeface="Graphik" panose="020B0503030202060203" pitchFamily="34" charset="0"/>
                </a:endParaRP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AB9762E6-754C-2E08-F466-52FA36C33B2B}"/>
                  </a:ext>
                </a:extLst>
              </p:cNvPr>
              <p:cNvSpPr txBox="1"/>
              <p:nvPr/>
            </p:nvSpPr>
            <p:spPr>
              <a:xfrm>
                <a:off x="5791200" y="2758015"/>
                <a:ext cx="4762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675" b="1" dirty="0">
                    <a:solidFill>
                      <a:srgbClr val="8350A8"/>
                    </a:solidFill>
                    <a:latin typeface="Graphik Semibold" panose="020B0703030202060203" pitchFamily="34" charset="0"/>
                  </a:rPr>
                  <a:t>5</a:t>
                </a:r>
                <a:r>
                  <a:rPr sz="675" b="1" dirty="0">
                    <a:solidFill>
                      <a:srgbClr val="8350A8"/>
                    </a:solidFill>
                    <a:latin typeface="Graphik Semibold" panose="020B0703030202060203" pitchFamily="34" charset="0"/>
                  </a:rPr>
                  <a:t> min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E82B9CD-3F47-D261-1E14-65653F06DBA6}"/>
              </a:ext>
            </a:extLst>
          </p:cNvPr>
          <p:cNvSpPr txBox="1"/>
          <p:nvPr/>
        </p:nvSpPr>
        <p:spPr>
          <a:xfrm>
            <a:off x="2671763" y="4569465"/>
            <a:ext cx="395973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" dirty="0">
                <a:latin typeface="Graphik" panose="020B0503030202060203" pitchFamily="34" charset="0"/>
              </a:rPr>
              <a:t>*Per-run AI costs reflect typical compute. Agent advantage compounds on large, complex codebases.</a:t>
            </a:r>
          </a:p>
        </p:txBody>
      </p:sp>
      <p:pic>
        <p:nvPicPr>
          <p:cNvPr id="84" name="Graphic 83">
            <a:extLst>
              <a:ext uri="{FF2B5EF4-FFF2-40B4-BE49-F238E27FC236}">
                <a16:creationId xmlns:a16="http://schemas.microsoft.com/office/drawing/2014/main" id="{EDA6CED6-C0A3-95C4-EB2C-23316A1FAE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28481" y="1668360"/>
            <a:ext cx="169683" cy="16968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E709E1A8-9244-232D-1217-B6CD5F7A68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095" y="1664131"/>
            <a:ext cx="169683" cy="169683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EAD80C85-1949-E29E-F1BE-FA7F497061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1520" y="1934272"/>
            <a:ext cx="169683" cy="169683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2F228338-68E5-87C3-11E1-A7701098C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095" y="2008175"/>
            <a:ext cx="153904" cy="153904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F50A99AC-AD03-8846-87B0-DE23B6C71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29877" y="2052213"/>
            <a:ext cx="183527" cy="183527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8D2417E9-F312-0770-C97F-6806C57A7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7306" y="3308144"/>
            <a:ext cx="169683" cy="169683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51C4C295-49C5-5975-B49F-118654C4AB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29231" y="2430780"/>
            <a:ext cx="165269" cy="165269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B9E4B751-081F-C9EA-7423-63F9CAE9B4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095" y="2323740"/>
            <a:ext cx="165269" cy="165269"/>
          </a:xfrm>
          <a:prstGeom prst="rect">
            <a:avLst/>
          </a:prstGeom>
        </p:spPr>
      </p:pic>
      <p:pic>
        <p:nvPicPr>
          <p:cNvPr id="152" name="Graphic 151">
            <a:extLst>
              <a:ext uri="{FF2B5EF4-FFF2-40B4-BE49-F238E27FC236}">
                <a16:creationId xmlns:a16="http://schemas.microsoft.com/office/drawing/2014/main" id="{EA57F7D7-A607-C4A5-E2D3-769A4C1A35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880" y="2625797"/>
            <a:ext cx="188111" cy="188111"/>
          </a:xfrm>
          <a:prstGeom prst="rect">
            <a:avLst/>
          </a:prstGeom>
        </p:spPr>
      </p:pic>
      <p:pic>
        <p:nvPicPr>
          <p:cNvPr id="153" name="Graphic 152">
            <a:extLst>
              <a:ext uri="{FF2B5EF4-FFF2-40B4-BE49-F238E27FC236}">
                <a16:creationId xmlns:a16="http://schemas.microsoft.com/office/drawing/2014/main" id="{93CA3C03-1697-FC57-0EC3-5750E785E8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98332" y="3617175"/>
            <a:ext cx="188111" cy="188111"/>
          </a:xfrm>
          <a:prstGeom prst="rect">
            <a:avLst/>
          </a:prstGeom>
        </p:spPr>
      </p:pic>
      <p:pic>
        <p:nvPicPr>
          <p:cNvPr id="154" name="Graphic 153">
            <a:extLst>
              <a:ext uri="{FF2B5EF4-FFF2-40B4-BE49-F238E27FC236}">
                <a16:creationId xmlns:a16="http://schemas.microsoft.com/office/drawing/2014/main" id="{7460186F-8B41-421F-21E5-1EE41D32B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8925" y="2732866"/>
            <a:ext cx="188111" cy="188111"/>
          </a:xfrm>
          <a:prstGeom prst="rect">
            <a:avLst/>
          </a:prstGeom>
        </p:spPr>
      </p:pic>
      <p:pic>
        <p:nvPicPr>
          <p:cNvPr id="156" name="Graphic 155">
            <a:extLst>
              <a:ext uri="{FF2B5EF4-FFF2-40B4-BE49-F238E27FC236}">
                <a16:creationId xmlns:a16="http://schemas.microsoft.com/office/drawing/2014/main" id="{76425BEE-A021-5BE3-8CB2-A20E8CA17B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17713" y="2264391"/>
            <a:ext cx="169683" cy="169683"/>
          </a:xfrm>
          <a:prstGeom prst="rect">
            <a:avLst/>
          </a:prstGeom>
        </p:spPr>
      </p:pic>
      <p:sp>
        <p:nvSpPr>
          <p:cNvPr id="159" name="F1">
            <a:extLst>
              <a:ext uri="{FF2B5EF4-FFF2-40B4-BE49-F238E27FC236}">
                <a16:creationId xmlns:a16="http://schemas.microsoft.com/office/drawing/2014/main" id="{D654681F-076E-338A-139A-D68FFAE75001}"/>
              </a:ext>
            </a:extLst>
          </p:cNvPr>
          <p:cNvSpPr>
            <a:spLocks/>
          </p:cNvSpPr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en-US" sz="2200" b="1">
                <a:solidFill>
                  <a:srgbClr val="A100FF"/>
                </a:solidFill>
                <a:latin typeface="Graphik"/>
              </a:rPr>
              <a:t>&gt;</a:t>
            </a:r>
          </a:p>
        </p:txBody>
      </p:sp>
      <p:sp>
        <p:nvSpPr>
          <p:cNvPr id="162" name="Footer Placeholder 5">
            <a:extLst>
              <a:ext uri="{FF2B5EF4-FFF2-40B4-BE49-F238E27FC236}">
                <a16:creationId xmlns:a16="http://schemas.microsoft.com/office/drawing/2014/main" id="{9A606E6F-AC46-DF5A-1986-96639E498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163" name="Slide Number Placeholder 8">
            <a:extLst>
              <a:ext uri="{FF2B5EF4-FFF2-40B4-BE49-F238E27FC236}">
                <a16:creationId xmlns:a16="http://schemas.microsoft.com/office/drawing/2014/main" id="{36FD5513-FAEB-878D-01D5-3397F0DDF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0" y="4767263"/>
            <a:ext cx="320386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12</a:t>
            </a:fld>
            <a:endParaRPr lang="en-US"/>
          </a:p>
        </p:txBody>
      </p:sp>
      <p:sp>
        <p:nvSpPr>
          <p:cNvPr id="2" name="T">
            <a:extLst>
              <a:ext uri="{FF2B5EF4-FFF2-40B4-BE49-F238E27FC236}">
                <a16:creationId xmlns:a16="http://schemas.microsoft.com/office/drawing/2014/main" id="{0294CA75-709E-62DF-2CAE-BF423D22A12C}"/>
              </a:ext>
            </a:extLst>
          </p:cNvPr>
          <p:cNvSpPr/>
          <p:nvPr/>
        </p:nvSpPr>
        <p:spPr>
          <a:xfrm>
            <a:off x="429067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RCA Multi-Agent System</a:t>
            </a:r>
          </a:p>
        </p:txBody>
      </p:sp>
    </p:spTree>
    <p:extLst>
      <p:ext uri="{BB962C8B-B14F-4D97-AF65-F5344CB8AC3E}">
        <p14:creationId xmlns:p14="http://schemas.microsoft.com/office/powerpoint/2010/main" val="471217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2C87-9E01-0FF7-7755-C7946E41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Footer Placeholder 5">
            <a:extLst>
              <a:ext uri="{FF2B5EF4-FFF2-40B4-BE49-F238E27FC236}">
                <a16:creationId xmlns:a16="http://schemas.microsoft.com/office/drawing/2014/main" id="{ACF64008-2FB4-0ACC-6D5A-999D494FA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4"/>
            <a:ext cx="3086100" cy="273844"/>
          </a:xfrm>
        </p:spPr>
        <p:txBody>
          <a:bodyPr/>
          <a:lstStyle/>
          <a:p>
            <a:pPr algn="r" defTabSz="914355"/>
            <a:r>
              <a:rPr lang="en-US" dirty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Copyright © 2026 Accenture. All rights reserved.</a:t>
            </a:r>
          </a:p>
        </p:txBody>
      </p:sp>
      <p:sp>
        <p:nvSpPr>
          <p:cNvPr id="467" name="Slide Number Placeholder 8">
            <a:extLst>
              <a:ext uri="{FF2B5EF4-FFF2-40B4-BE49-F238E27FC236}">
                <a16:creationId xmlns:a16="http://schemas.microsoft.com/office/drawing/2014/main" id="{28E2DCDB-1734-2CDB-5105-90CCF0770C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1" y="4767264"/>
            <a:ext cx="320386" cy="273844"/>
          </a:xfrm>
        </p:spPr>
        <p:txBody>
          <a:bodyPr/>
          <a:lstStyle/>
          <a:p>
            <a:pPr defTabSz="914355"/>
            <a:fld id="{48F63A3B-78C7-47BE-AE5E-E10140E04643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defTabSz="914355"/>
              <a:t>13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04" name="T">
            <a:extLst>
              <a:ext uri="{FF2B5EF4-FFF2-40B4-BE49-F238E27FC236}">
                <a16:creationId xmlns:a16="http://schemas.microsoft.com/office/drawing/2014/main" id="{A6DC18A9-2D85-2F6C-286B-D0ADCA9AD996}"/>
              </a:ext>
            </a:extLst>
          </p:cNvPr>
          <p:cNvSpPr/>
          <p:nvPr/>
        </p:nvSpPr>
        <p:spPr>
          <a:xfrm>
            <a:off x="429067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355"/>
            <a:r>
              <a:rPr lang="en-US" sz="2400" b="1" dirty="0">
                <a:solidFill>
                  <a:srgbClr val="000000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More Contributions &amp; Learnings</a:t>
            </a:r>
          </a:p>
        </p:txBody>
      </p:sp>
      <p:sp>
        <p:nvSpPr>
          <p:cNvPr id="605" name="TextBox 604">
            <a:extLst>
              <a:ext uri="{FF2B5EF4-FFF2-40B4-BE49-F238E27FC236}">
                <a16:creationId xmlns:a16="http://schemas.microsoft.com/office/drawing/2014/main" id="{3EAC3DBA-B9EC-68ED-3063-7EF73DE24808}"/>
              </a:ext>
            </a:extLst>
          </p:cNvPr>
          <p:cNvSpPr txBox="1"/>
          <p:nvPr/>
        </p:nvSpPr>
        <p:spPr>
          <a:xfrm>
            <a:off x="429069" y="611161"/>
            <a:ext cx="74530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914355"/>
            <a:r>
              <a:rPr lang="en-US" sz="900" dirty="0">
                <a:solidFill>
                  <a:prstClr val="black"/>
                </a:solidFill>
                <a:latin typeface="Graphik" panose="020B0503030202060203" pitchFamily="34" charset="0"/>
              </a:rPr>
              <a:t>Contributions beyond core scope spanning CGS leadership content, self-initiated AI builds &amp; professional development</a:t>
            </a:r>
            <a:endParaRPr sz="900" dirty="0">
              <a:solidFill>
                <a:srgbClr val="7B8794"/>
              </a:solidFill>
              <a:latin typeface="Graphik" panose="020B0503030202060203" pitchFamily="34" charset="0"/>
            </a:endParaRPr>
          </a:p>
        </p:txBody>
      </p:sp>
      <p:sp>
        <p:nvSpPr>
          <p:cNvPr id="581" name="Freeform 344">
            <a:extLst>
              <a:ext uri="{FF2B5EF4-FFF2-40B4-BE49-F238E27FC236}">
                <a16:creationId xmlns:a16="http://schemas.microsoft.com/office/drawing/2014/main" id="{97F39786-2E16-1681-9F09-C6522B8C61E9}"/>
              </a:ext>
            </a:extLst>
          </p:cNvPr>
          <p:cNvSpPr>
            <a:spLocks/>
          </p:cNvSpPr>
          <p:nvPr/>
        </p:nvSpPr>
        <p:spPr bwMode="auto">
          <a:xfrm>
            <a:off x="5997043" y="1096441"/>
            <a:ext cx="2536686" cy="3518557"/>
          </a:xfrm>
          <a:custGeom>
            <a:avLst/>
            <a:gdLst>
              <a:gd name="T0" fmla="*/ 2147483646 w 860"/>
              <a:gd name="T1" fmla="*/ 2147483646 h 1328"/>
              <a:gd name="T2" fmla="*/ 2147483646 w 860"/>
              <a:gd name="T3" fmla="*/ 2147483646 h 1328"/>
              <a:gd name="T4" fmla="*/ 0 w 860"/>
              <a:gd name="T5" fmla="*/ 2147483646 h 1328"/>
              <a:gd name="T6" fmla="*/ 0 w 860"/>
              <a:gd name="T7" fmla="*/ 2147483646 h 1328"/>
              <a:gd name="T8" fmla="*/ 2147483646 w 860"/>
              <a:gd name="T9" fmla="*/ 0 h 1328"/>
              <a:gd name="T10" fmla="*/ 2147483646 w 860"/>
              <a:gd name="T11" fmla="*/ 0 h 1328"/>
              <a:gd name="T12" fmla="*/ 2147483646 w 860"/>
              <a:gd name="T13" fmla="*/ 2147483646 h 1328"/>
              <a:gd name="T14" fmla="*/ 2147483646 w 860"/>
              <a:gd name="T15" fmla="*/ 2147483646 h 1328"/>
              <a:gd name="T16" fmla="*/ 2147483646 w 860"/>
              <a:gd name="T17" fmla="*/ 2147483646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1" y="1328"/>
                  <a:pt x="51" y="1328"/>
                  <a:pt x="51" y="1328"/>
                </a:cubicBezTo>
                <a:cubicBezTo>
                  <a:pt x="23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3" y="0"/>
                  <a:pt x="51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8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8" y="1328"/>
                  <a:pt x="810" y="1328"/>
                </a:cubicBezTo>
                <a:close/>
              </a:path>
            </a:pathLst>
          </a:custGeom>
          <a:noFill/>
          <a:ln w="3175">
            <a:solidFill>
              <a:schemeClr val="accent1">
                <a:alpha val="53000"/>
              </a:schemeClr>
            </a:solidFill>
          </a:ln>
        </p:spPr>
        <p:txBody>
          <a:bodyPr/>
          <a:lstStyle/>
          <a:p>
            <a:pPr defTabSz="685766">
              <a:defRPr/>
            </a:pPr>
            <a:endParaRPr lang="en-US" sz="2157" kern="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2D984868-BA16-4089-A513-08218BC5E2C1}"/>
              </a:ext>
            </a:extLst>
          </p:cNvPr>
          <p:cNvSpPr/>
          <p:nvPr/>
        </p:nvSpPr>
        <p:spPr>
          <a:xfrm>
            <a:off x="6000522" y="1304142"/>
            <a:ext cx="2533208" cy="369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514313"/>
            <a:r>
              <a:rPr lang="en-US" sz="1000" b="1" spc="-17" dirty="0">
                <a:solidFill>
                  <a:srgbClr val="8B5CF6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Learning and Professional Development</a:t>
            </a:r>
            <a:endParaRPr lang="en-US" sz="1000" b="1" dirty="0">
              <a:solidFill>
                <a:srgbClr val="8B5CF6"/>
              </a:solidFill>
              <a:latin typeface="Graphik" panose="020B0503030202060203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5" name="WaveGroup"/>
          <p:cNvGrpSpPr/>
          <p:nvPr/>
        </p:nvGrpSpPr>
        <p:grpSpPr>
          <a:xfrm>
            <a:off x="6000521" y="3991636"/>
            <a:ext cx="2536686" cy="660671"/>
            <a:chOff x="4339198" y="5043281"/>
            <a:chExt cx="3191889" cy="1220198"/>
          </a:xfrm>
        </p:grpSpPr>
        <p:sp>
          <p:nvSpPr>
            <p:cNvPr id="970" name="Wave0"/>
            <p:cNvSpPr>
              <a:spLocks/>
            </p:cNvSpPr>
            <p:nvPr/>
          </p:nvSpPr>
          <p:spPr bwMode="auto">
            <a:xfrm>
              <a:off x="4339198" y="5043281"/>
              <a:ext cx="3191889" cy="1220198"/>
            </a:xfrm>
            <a:custGeom>
              <a:avLst/>
              <a:gdLst/>
              <a:ahLst/>
              <a:cxnLst/>
              <a:rect l="0" t="0" r="r" b="b"/>
              <a:pathLst>
                <a:path w="860" h="310">
                  <a:moveTo>
                    <a:pt x="50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7" y="310"/>
                    <a:pt x="860" y="287"/>
                    <a:pt x="860" y="259"/>
                  </a:cubicBezTo>
                  <a:cubicBezTo>
                    <a:pt x="860" y="10"/>
                    <a:pt x="860" y="10"/>
                    <a:pt x="860" y="10"/>
                  </a:cubicBezTo>
                  <a:cubicBezTo>
                    <a:pt x="860" y="10"/>
                    <a:pt x="680" y="60"/>
                    <a:pt x="500" y="0"/>
                  </a:cubicBezTo>
                  <a:cubicBezTo>
                    <a:pt x="200" y="50"/>
                    <a:pt x="0" y="20"/>
                    <a:pt x="0" y="20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2" y="310"/>
                    <a:pt x="50" y="310"/>
                  </a:cubicBezTo>
                  <a:close/>
                </a:path>
              </a:pathLst>
            </a:custGeom>
            <a:solidFill>
              <a:srgbClr val="EBDEFF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1" name="Wave1"/>
            <p:cNvSpPr>
              <a:spLocks/>
            </p:cNvSpPr>
            <p:nvPr/>
          </p:nvSpPr>
          <p:spPr bwMode="auto">
            <a:xfrm>
              <a:off x="4339198" y="5082643"/>
              <a:ext cx="3191889" cy="1180836"/>
            </a:xfrm>
            <a:custGeom>
              <a:avLst/>
              <a:gdLst/>
              <a:ahLst/>
              <a:cxnLst/>
              <a:rect l="0" t="0" r="r" b="b"/>
              <a:pathLst>
                <a:path w="860" h="300">
                  <a:moveTo>
                    <a:pt x="50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7" y="300"/>
                    <a:pt x="860" y="277"/>
                    <a:pt x="860" y="249"/>
                  </a:cubicBezTo>
                  <a:cubicBezTo>
                    <a:pt x="860" y="50"/>
                    <a:pt x="860" y="50"/>
                    <a:pt x="860" y="50"/>
                  </a:cubicBezTo>
                  <a:cubicBezTo>
                    <a:pt x="860" y="50"/>
                    <a:pt x="700" y="0"/>
                    <a:pt x="430" y="90"/>
                  </a:cubicBezTo>
                  <a:cubicBezTo>
                    <a:pt x="180" y="30"/>
                    <a:pt x="0" y="70"/>
                    <a:pt x="0" y="70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2" y="300"/>
                    <a:pt x="50" y="300"/>
                  </a:cubicBezTo>
                  <a:close/>
                </a:path>
              </a:pathLst>
            </a:custGeom>
            <a:solidFill>
              <a:srgbClr val="D6BAFC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2" name="Wave2"/>
            <p:cNvSpPr>
              <a:spLocks/>
            </p:cNvSpPr>
            <p:nvPr/>
          </p:nvSpPr>
          <p:spPr bwMode="auto">
            <a:xfrm>
              <a:off x="4339198" y="5326682"/>
              <a:ext cx="3191889" cy="936797"/>
            </a:xfrm>
            <a:custGeom>
              <a:avLst/>
              <a:gdLst/>
              <a:ahLst/>
              <a:cxnLst/>
              <a:rect l="0" t="0" r="r" b="b"/>
              <a:pathLst>
                <a:path w="860" h="238">
                  <a:moveTo>
                    <a:pt x="50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7" y="238"/>
                    <a:pt x="860" y="215"/>
                    <a:pt x="860" y="187"/>
                  </a:cubicBezTo>
                  <a:cubicBezTo>
                    <a:pt x="860" y="30"/>
                    <a:pt x="860" y="30"/>
                    <a:pt x="860" y="30"/>
                  </a:cubicBezTo>
                  <a:cubicBezTo>
                    <a:pt x="860" y="30"/>
                    <a:pt x="650" y="80"/>
                    <a:pt x="400" y="0"/>
                  </a:cubicBezTo>
                  <a:cubicBezTo>
                    <a:pt x="150" y="60"/>
                    <a:pt x="0" y="40"/>
                    <a:pt x="0" y="40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2" y="238"/>
                    <a:pt x="50" y="238"/>
                  </a:cubicBezTo>
                  <a:close/>
                </a:path>
              </a:pathLst>
            </a:custGeom>
            <a:solidFill>
              <a:srgbClr val="CCA9FC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3" name="Wave3"/>
            <p:cNvSpPr>
              <a:spLocks/>
            </p:cNvSpPr>
            <p:nvPr/>
          </p:nvSpPr>
          <p:spPr bwMode="auto">
            <a:xfrm>
              <a:off x="4339198" y="5448702"/>
              <a:ext cx="3191889" cy="814777"/>
            </a:xfrm>
            <a:custGeom>
              <a:avLst/>
              <a:gdLst/>
              <a:ahLst/>
              <a:cxnLst/>
              <a:rect l="0" t="0" r="r" b="b"/>
              <a:pathLst>
                <a:path w="860" h="207">
                  <a:moveTo>
                    <a:pt x="50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7" y="192"/>
                    <a:pt x="860" y="169"/>
                    <a:pt x="860" y="141"/>
                  </a:cubicBezTo>
                  <a:cubicBezTo>
                    <a:pt x="860" y="60"/>
                    <a:pt x="860" y="60"/>
                    <a:pt x="860" y="60"/>
                  </a:cubicBezTo>
                  <a:cubicBezTo>
                    <a:pt x="860" y="60"/>
                    <a:pt x="620" y="0"/>
                    <a:pt x="380" y="100"/>
                  </a:cubicBezTo>
                  <a:cubicBezTo>
                    <a:pt x="140" y="50"/>
                    <a:pt x="0" y="80"/>
                    <a:pt x="0" y="8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2" y="192"/>
                    <a:pt x="50" y="192"/>
                  </a:cubicBezTo>
                  <a:close/>
                </a:path>
              </a:pathLst>
            </a:custGeom>
            <a:solidFill>
              <a:srgbClr val="BA8BFC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74" name="Wave4"/>
            <p:cNvSpPr>
              <a:spLocks/>
            </p:cNvSpPr>
            <p:nvPr/>
          </p:nvSpPr>
          <p:spPr bwMode="auto">
            <a:xfrm>
              <a:off x="4339198" y="5661253"/>
              <a:ext cx="3191889" cy="602226"/>
            </a:xfrm>
            <a:custGeom>
              <a:avLst/>
              <a:gdLst/>
              <a:ahLst/>
              <a:cxnLst/>
              <a:rect l="0" t="0" r="r" b="b"/>
              <a:pathLst>
                <a:path w="860" h="153">
                  <a:moveTo>
                    <a:pt x="50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7" y="151"/>
                    <a:pt x="860" y="128"/>
                    <a:pt x="860" y="100"/>
                  </a:cubicBezTo>
                  <a:cubicBezTo>
                    <a:pt x="860" y="25"/>
                    <a:pt x="860" y="25"/>
                    <a:pt x="860" y="25"/>
                  </a:cubicBezTo>
                  <a:cubicBezTo>
                    <a:pt x="860" y="25"/>
                    <a:pt x="580" y="70"/>
                    <a:pt x="350" y="0"/>
                  </a:cubicBezTo>
                  <a:cubicBezTo>
                    <a:pt x="120" y="80"/>
                    <a:pt x="0" y="50"/>
                    <a:pt x="0" y="5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2" y="151"/>
                    <a:pt x="50" y="151"/>
                  </a:cubicBezTo>
                  <a:close/>
                </a:path>
              </a:pathLst>
            </a:custGeom>
            <a:solidFill>
              <a:srgbClr val="AB71FC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0" name="Rectangle 311">
            <a:extLst>
              <a:ext uri="{FF2B5EF4-FFF2-40B4-BE49-F238E27FC236}">
                <a16:creationId xmlns:a16="http://schemas.microsoft.com/office/drawing/2014/main" id="{633E6ECC-83CD-6B4E-2812-798B98E64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522" y="1777826"/>
            <a:ext cx="2533208" cy="6858"/>
          </a:xfrm>
          <a:prstGeom prst="rect">
            <a:avLst/>
          </a:prstGeom>
          <a:solidFill>
            <a:srgbClr val="DCAFFF">
              <a:lumMod val="9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defTabSz="514325">
              <a:defRPr/>
            </a:pPr>
            <a:endParaRPr lang="en-US" altLang="en-US" sz="675" kern="0" dirty="0">
              <a:latin typeface="Calibri" panose="020F0502020204030204" pitchFamily="34" charset="0"/>
            </a:endParaRPr>
          </a:p>
        </p:txBody>
      </p:sp>
      <p:sp>
        <p:nvSpPr>
          <p:cNvPr id="558" name="Freeform 343">
            <a:extLst>
              <a:ext uri="{FF2B5EF4-FFF2-40B4-BE49-F238E27FC236}">
                <a16:creationId xmlns:a16="http://schemas.microsoft.com/office/drawing/2014/main" id="{A56DC570-B8BC-DC7E-1F77-23E8CCF7A1D8}"/>
              </a:ext>
            </a:extLst>
          </p:cNvPr>
          <p:cNvSpPr>
            <a:spLocks/>
          </p:cNvSpPr>
          <p:nvPr/>
        </p:nvSpPr>
        <p:spPr bwMode="auto">
          <a:xfrm>
            <a:off x="3213055" y="1096441"/>
            <a:ext cx="2531250" cy="3528128"/>
          </a:xfrm>
          <a:custGeom>
            <a:avLst/>
            <a:gdLst>
              <a:gd name="T0" fmla="*/ 2147483646 w 860"/>
              <a:gd name="T1" fmla="*/ 2147483646 h 1328"/>
              <a:gd name="T2" fmla="*/ 2147483646 w 860"/>
              <a:gd name="T3" fmla="*/ 2147483646 h 1328"/>
              <a:gd name="T4" fmla="*/ 0 w 860"/>
              <a:gd name="T5" fmla="*/ 2147483646 h 1328"/>
              <a:gd name="T6" fmla="*/ 0 w 860"/>
              <a:gd name="T7" fmla="*/ 2147483646 h 1328"/>
              <a:gd name="T8" fmla="*/ 2147483646 w 860"/>
              <a:gd name="T9" fmla="*/ 0 h 1328"/>
              <a:gd name="T10" fmla="*/ 2147483646 w 860"/>
              <a:gd name="T11" fmla="*/ 0 h 1328"/>
              <a:gd name="T12" fmla="*/ 2147483646 w 860"/>
              <a:gd name="T13" fmla="*/ 2147483646 h 1328"/>
              <a:gd name="T14" fmla="*/ 2147483646 w 860"/>
              <a:gd name="T15" fmla="*/ 2147483646 h 1328"/>
              <a:gd name="T16" fmla="*/ 2147483646 w 860"/>
              <a:gd name="T17" fmla="*/ 2147483646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0" y="1328"/>
                  <a:pt x="50" y="1328"/>
                  <a:pt x="50" y="1328"/>
                </a:cubicBezTo>
                <a:cubicBezTo>
                  <a:pt x="22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7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7" y="1328"/>
                  <a:pt x="810" y="1328"/>
                </a:cubicBezTo>
                <a:close/>
              </a:path>
            </a:pathLst>
          </a:custGeom>
          <a:noFill/>
          <a:ln w="3175">
            <a:solidFill>
              <a:schemeClr val="accent1">
                <a:alpha val="53000"/>
              </a:schemeClr>
            </a:solidFill>
          </a:ln>
        </p:spPr>
        <p:txBody>
          <a:bodyPr/>
          <a:lstStyle/>
          <a:p>
            <a:pPr defTabSz="685766">
              <a:defRPr/>
            </a:pPr>
            <a:endParaRPr lang="en-US" sz="2157" kern="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6F79A294-9E21-E9EC-6B32-72292DA260C8}"/>
              </a:ext>
            </a:extLst>
          </p:cNvPr>
          <p:cNvSpPr/>
          <p:nvPr/>
        </p:nvSpPr>
        <p:spPr>
          <a:xfrm>
            <a:off x="3349693" y="1304142"/>
            <a:ext cx="2257976" cy="369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514313"/>
            <a:r>
              <a:rPr lang="en-US" sz="1000" b="1" dirty="0">
                <a:solidFill>
                  <a:srgbClr val="8B5CF6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Document Sensitivity Classifier Agent</a:t>
            </a:r>
          </a:p>
        </p:txBody>
      </p:sp>
      <p:grpSp>
        <p:nvGrpSpPr>
          <p:cNvPr id="900" name="WaveGroup"/>
          <p:cNvGrpSpPr/>
          <p:nvPr/>
        </p:nvGrpSpPr>
        <p:grpSpPr>
          <a:xfrm>
            <a:off x="3221970" y="4135235"/>
            <a:ext cx="2520817" cy="517073"/>
            <a:chOff x="8521463" y="5033898"/>
            <a:chExt cx="3191889" cy="1220199"/>
          </a:xfrm>
        </p:grpSpPr>
        <p:sp>
          <p:nvSpPr>
            <p:cNvPr id="950" name="Wave0"/>
            <p:cNvSpPr>
              <a:spLocks/>
            </p:cNvSpPr>
            <p:nvPr/>
          </p:nvSpPr>
          <p:spPr bwMode="auto">
            <a:xfrm>
              <a:off x="8521463" y="5033898"/>
              <a:ext cx="3191889" cy="1220199"/>
            </a:xfrm>
            <a:custGeom>
              <a:avLst/>
              <a:gdLst/>
              <a:ahLst/>
              <a:cxnLst/>
              <a:rect l="0" t="0" r="r" b="b"/>
              <a:pathLst>
                <a:path w="860" h="310">
                  <a:moveTo>
                    <a:pt x="50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7" y="310"/>
                    <a:pt x="860" y="287"/>
                    <a:pt x="860" y="259"/>
                  </a:cubicBezTo>
                  <a:cubicBezTo>
                    <a:pt x="860" y="10"/>
                    <a:pt x="860" y="10"/>
                    <a:pt x="860" y="10"/>
                  </a:cubicBezTo>
                  <a:cubicBezTo>
                    <a:pt x="860" y="10"/>
                    <a:pt x="680" y="60"/>
                    <a:pt x="500" y="0"/>
                  </a:cubicBezTo>
                  <a:cubicBezTo>
                    <a:pt x="200" y="50"/>
                    <a:pt x="0" y="20"/>
                    <a:pt x="0" y="20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2" y="310"/>
                    <a:pt x="50" y="310"/>
                  </a:cubicBezTo>
                  <a:close/>
                </a:path>
              </a:pathLst>
            </a:custGeom>
            <a:solidFill>
              <a:srgbClr val="BE82FF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1" name="Wave1"/>
            <p:cNvSpPr>
              <a:spLocks/>
            </p:cNvSpPr>
            <p:nvPr/>
          </p:nvSpPr>
          <p:spPr bwMode="auto">
            <a:xfrm>
              <a:off x="8521463" y="5073260"/>
              <a:ext cx="3191889" cy="1180837"/>
            </a:xfrm>
            <a:custGeom>
              <a:avLst/>
              <a:gdLst/>
              <a:ahLst/>
              <a:cxnLst/>
              <a:rect l="0" t="0" r="r" b="b"/>
              <a:pathLst>
                <a:path w="860" h="300">
                  <a:moveTo>
                    <a:pt x="50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7" y="300"/>
                    <a:pt x="860" y="277"/>
                    <a:pt x="860" y="249"/>
                  </a:cubicBezTo>
                  <a:cubicBezTo>
                    <a:pt x="860" y="50"/>
                    <a:pt x="860" y="50"/>
                    <a:pt x="860" y="50"/>
                  </a:cubicBezTo>
                  <a:cubicBezTo>
                    <a:pt x="860" y="50"/>
                    <a:pt x="700" y="0"/>
                    <a:pt x="430" y="90"/>
                  </a:cubicBezTo>
                  <a:cubicBezTo>
                    <a:pt x="180" y="30"/>
                    <a:pt x="0" y="70"/>
                    <a:pt x="0" y="70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2" y="300"/>
                    <a:pt x="50" y="300"/>
                  </a:cubicBezTo>
                  <a:close/>
                </a:path>
              </a:pathLst>
            </a:custGeom>
            <a:solidFill>
              <a:srgbClr val="A85CFF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2" name="Wave2"/>
            <p:cNvSpPr>
              <a:spLocks/>
            </p:cNvSpPr>
            <p:nvPr/>
          </p:nvSpPr>
          <p:spPr bwMode="auto">
            <a:xfrm>
              <a:off x="8521463" y="5317300"/>
              <a:ext cx="3191889" cy="936797"/>
            </a:xfrm>
            <a:custGeom>
              <a:avLst/>
              <a:gdLst/>
              <a:ahLst/>
              <a:cxnLst/>
              <a:rect l="0" t="0" r="r" b="b"/>
              <a:pathLst>
                <a:path w="860" h="238">
                  <a:moveTo>
                    <a:pt x="50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7" y="238"/>
                    <a:pt x="860" y="215"/>
                    <a:pt x="860" y="187"/>
                  </a:cubicBezTo>
                  <a:cubicBezTo>
                    <a:pt x="860" y="30"/>
                    <a:pt x="860" y="30"/>
                    <a:pt x="860" y="30"/>
                  </a:cubicBezTo>
                  <a:cubicBezTo>
                    <a:pt x="860" y="30"/>
                    <a:pt x="650" y="80"/>
                    <a:pt x="400" y="0"/>
                  </a:cubicBezTo>
                  <a:cubicBezTo>
                    <a:pt x="150" y="60"/>
                    <a:pt x="0" y="40"/>
                    <a:pt x="0" y="40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2" y="238"/>
                    <a:pt x="50" y="238"/>
                  </a:cubicBezTo>
                  <a:close/>
                </a:path>
              </a:pathLst>
            </a:custGeom>
            <a:solidFill>
              <a:srgbClr val="9236FF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3" name="Wave3"/>
            <p:cNvSpPr>
              <a:spLocks/>
            </p:cNvSpPr>
            <p:nvPr/>
          </p:nvSpPr>
          <p:spPr bwMode="auto">
            <a:xfrm>
              <a:off x="8521463" y="5439319"/>
              <a:ext cx="3191889" cy="814778"/>
            </a:xfrm>
            <a:custGeom>
              <a:avLst/>
              <a:gdLst/>
              <a:ahLst/>
              <a:cxnLst/>
              <a:rect l="0" t="0" r="r" b="b"/>
              <a:pathLst>
                <a:path w="860" h="207">
                  <a:moveTo>
                    <a:pt x="50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7" y="192"/>
                    <a:pt x="860" y="169"/>
                    <a:pt x="860" y="141"/>
                  </a:cubicBezTo>
                  <a:cubicBezTo>
                    <a:pt x="860" y="60"/>
                    <a:pt x="860" y="60"/>
                    <a:pt x="860" y="60"/>
                  </a:cubicBezTo>
                  <a:cubicBezTo>
                    <a:pt x="860" y="60"/>
                    <a:pt x="620" y="0"/>
                    <a:pt x="380" y="100"/>
                  </a:cubicBezTo>
                  <a:cubicBezTo>
                    <a:pt x="140" y="50"/>
                    <a:pt x="0" y="80"/>
                    <a:pt x="0" y="8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2" y="192"/>
                    <a:pt x="50" y="192"/>
                  </a:cubicBezTo>
                  <a:close/>
                </a:path>
              </a:pathLst>
            </a:custGeom>
            <a:solidFill>
              <a:srgbClr val="7500C0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54" name="Wave4"/>
            <p:cNvSpPr>
              <a:spLocks/>
            </p:cNvSpPr>
            <p:nvPr/>
          </p:nvSpPr>
          <p:spPr bwMode="auto">
            <a:xfrm>
              <a:off x="8521463" y="5651870"/>
              <a:ext cx="3191889" cy="602227"/>
            </a:xfrm>
            <a:custGeom>
              <a:avLst/>
              <a:gdLst/>
              <a:ahLst/>
              <a:cxnLst/>
              <a:rect l="0" t="0" r="r" b="b"/>
              <a:pathLst>
                <a:path w="860" h="153">
                  <a:moveTo>
                    <a:pt x="50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7" y="151"/>
                    <a:pt x="860" y="128"/>
                    <a:pt x="860" y="100"/>
                  </a:cubicBezTo>
                  <a:cubicBezTo>
                    <a:pt x="860" y="25"/>
                    <a:pt x="860" y="25"/>
                    <a:pt x="860" y="25"/>
                  </a:cubicBezTo>
                  <a:cubicBezTo>
                    <a:pt x="860" y="25"/>
                    <a:pt x="580" y="70"/>
                    <a:pt x="350" y="0"/>
                  </a:cubicBezTo>
                  <a:cubicBezTo>
                    <a:pt x="120" y="80"/>
                    <a:pt x="0" y="50"/>
                    <a:pt x="0" y="5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2" y="151"/>
                    <a:pt x="50" y="151"/>
                  </a:cubicBezTo>
                  <a:close/>
                </a:path>
              </a:pathLst>
            </a:custGeom>
            <a:solidFill>
              <a:srgbClr val="5E0099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11" name="Rectangle 311">
            <a:extLst>
              <a:ext uri="{FF2B5EF4-FFF2-40B4-BE49-F238E27FC236}">
                <a16:creationId xmlns:a16="http://schemas.microsoft.com/office/drawing/2014/main" id="{B180C492-8529-E96C-C5D2-C16CF36E2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9578" y="1777826"/>
            <a:ext cx="2533208" cy="6858"/>
          </a:xfrm>
          <a:prstGeom prst="rect">
            <a:avLst/>
          </a:prstGeom>
          <a:solidFill>
            <a:srgbClr val="DCAFFF">
              <a:lumMod val="9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defTabSz="514325">
              <a:defRPr/>
            </a:pPr>
            <a:endParaRPr lang="en-US" altLang="en-US" sz="675" kern="0" dirty="0">
              <a:latin typeface="Calibri" panose="020F0502020204030204" pitchFamily="34" charset="0"/>
            </a:endParaRPr>
          </a:p>
        </p:txBody>
      </p:sp>
      <p:sp>
        <p:nvSpPr>
          <p:cNvPr id="569" name="Freeform 345">
            <a:extLst>
              <a:ext uri="{FF2B5EF4-FFF2-40B4-BE49-F238E27FC236}">
                <a16:creationId xmlns:a16="http://schemas.microsoft.com/office/drawing/2014/main" id="{1B5860C5-988E-6AA6-C1E5-D9F59BC65DE3}"/>
              </a:ext>
            </a:extLst>
          </p:cNvPr>
          <p:cNvSpPr>
            <a:spLocks/>
          </p:cNvSpPr>
          <p:nvPr/>
        </p:nvSpPr>
        <p:spPr bwMode="auto">
          <a:xfrm>
            <a:off x="429068" y="1100254"/>
            <a:ext cx="2540164" cy="3528128"/>
          </a:xfrm>
          <a:custGeom>
            <a:avLst/>
            <a:gdLst>
              <a:gd name="T0" fmla="*/ 2147483646 w 860"/>
              <a:gd name="T1" fmla="*/ 2147483646 h 1328"/>
              <a:gd name="T2" fmla="*/ 2147483646 w 860"/>
              <a:gd name="T3" fmla="*/ 2147483646 h 1328"/>
              <a:gd name="T4" fmla="*/ 0 w 860"/>
              <a:gd name="T5" fmla="*/ 2147483646 h 1328"/>
              <a:gd name="T6" fmla="*/ 0 w 860"/>
              <a:gd name="T7" fmla="*/ 2147483646 h 1328"/>
              <a:gd name="T8" fmla="*/ 2147483646 w 860"/>
              <a:gd name="T9" fmla="*/ 0 h 1328"/>
              <a:gd name="T10" fmla="*/ 2147483646 w 860"/>
              <a:gd name="T11" fmla="*/ 0 h 1328"/>
              <a:gd name="T12" fmla="*/ 2147483646 w 860"/>
              <a:gd name="T13" fmla="*/ 2147483646 h 1328"/>
              <a:gd name="T14" fmla="*/ 2147483646 w 860"/>
              <a:gd name="T15" fmla="*/ 2147483646 h 1328"/>
              <a:gd name="T16" fmla="*/ 2147483646 w 860"/>
              <a:gd name="T17" fmla="*/ 2147483646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0" y="1328"/>
                  <a:pt x="50" y="1328"/>
                  <a:pt x="50" y="1328"/>
                </a:cubicBezTo>
                <a:cubicBezTo>
                  <a:pt x="22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8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8" y="1328"/>
                  <a:pt x="810" y="1328"/>
                </a:cubicBezTo>
                <a:close/>
              </a:path>
            </a:pathLst>
          </a:custGeom>
          <a:noFill/>
          <a:ln w="3175">
            <a:solidFill>
              <a:schemeClr val="accent1">
                <a:alpha val="53000"/>
              </a:schemeClr>
            </a:solidFill>
          </a:ln>
        </p:spPr>
        <p:txBody>
          <a:bodyPr/>
          <a:lstStyle/>
          <a:p>
            <a:pPr defTabSz="685766">
              <a:defRPr/>
            </a:pPr>
            <a:endParaRPr lang="en-US" sz="2157" kern="0">
              <a:solidFill>
                <a:srgbClr val="000000"/>
              </a:solidFill>
              <a:latin typeface="Graphik"/>
            </a:endParaRP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291C7C0D-1142-45F0-E36A-6D58502C1403}"/>
              </a:ext>
            </a:extLst>
          </p:cNvPr>
          <p:cNvSpPr/>
          <p:nvPr/>
        </p:nvSpPr>
        <p:spPr>
          <a:xfrm>
            <a:off x="518421" y="1304142"/>
            <a:ext cx="2391391" cy="369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514313"/>
            <a:r>
              <a:rPr lang="en-US" sz="1000" b="1" dirty="0">
                <a:solidFill>
                  <a:srgbClr val="8B5CF6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CGS Contributions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FA0CB192-FE96-0E97-DB3A-54E39495A96A}"/>
              </a:ext>
            </a:extLst>
          </p:cNvPr>
          <p:cNvSpPr/>
          <p:nvPr/>
        </p:nvSpPr>
        <p:spPr bwMode="auto">
          <a:xfrm>
            <a:off x="518420" y="2003725"/>
            <a:ext cx="2346450" cy="181389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42" indent="-171442" defTabSz="914355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8B5CF6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AI PoV Deck</a:t>
            </a:r>
            <a:r>
              <a:rPr lang="en-US" sz="900" dirty="0">
                <a:solidFill>
                  <a:srgbClr val="333344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: Developed a PoV on the shift from decision support to autonomous execution</a:t>
            </a:r>
          </a:p>
          <a:p>
            <a:pPr marL="171442" indent="-171442" defTabSz="914355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8B5CF6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Tool Landscape</a:t>
            </a:r>
            <a:r>
              <a:rPr lang="en-US" sz="900" dirty="0">
                <a:solidFill>
                  <a:srgbClr val="333344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: Built AI Tool Landscape 1-pager for enterprise AI tools</a:t>
            </a:r>
          </a:p>
          <a:p>
            <a:pPr marL="171442" indent="-171442" defTabSz="914355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8B5CF6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Profile Collation</a:t>
            </a:r>
            <a:r>
              <a:rPr lang="en-US" sz="900" dirty="0">
                <a:solidFill>
                  <a:srgbClr val="333344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: Vetted resource availability, maintained updated shortlist for leadership evaluation</a:t>
            </a:r>
          </a:p>
        </p:txBody>
      </p:sp>
      <p:grpSp>
        <p:nvGrpSpPr>
          <p:cNvPr id="6" name="WaveGroup"/>
          <p:cNvGrpSpPr/>
          <p:nvPr/>
        </p:nvGrpSpPr>
        <p:grpSpPr>
          <a:xfrm>
            <a:off x="429068" y="3960375"/>
            <a:ext cx="2540164" cy="695747"/>
            <a:chOff x="381000" y="5043280"/>
            <a:chExt cx="3190331" cy="1220199"/>
          </a:xfrm>
        </p:grpSpPr>
        <p:sp>
          <p:nvSpPr>
            <p:cNvPr id="960" name="Wave0"/>
            <p:cNvSpPr>
              <a:spLocks/>
            </p:cNvSpPr>
            <p:nvPr/>
          </p:nvSpPr>
          <p:spPr bwMode="auto">
            <a:xfrm>
              <a:off x="381000" y="5043280"/>
              <a:ext cx="3190331" cy="1220199"/>
            </a:xfrm>
            <a:custGeom>
              <a:avLst/>
              <a:gdLst/>
              <a:ahLst/>
              <a:cxnLst/>
              <a:rect l="0" t="0" r="r" b="b"/>
              <a:pathLst>
                <a:path w="860" h="310">
                  <a:moveTo>
                    <a:pt x="50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7" y="310"/>
                    <a:pt x="860" y="287"/>
                    <a:pt x="860" y="259"/>
                  </a:cubicBezTo>
                  <a:cubicBezTo>
                    <a:pt x="860" y="10"/>
                    <a:pt x="860" y="10"/>
                    <a:pt x="860" y="10"/>
                  </a:cubicBezTo>
                  <a:cubicBezTo>
                    <a:pt x="860" y="10"/>
                    <a:pt x="680" y="60"/>
                    <a:pt x="500" y="0"/>
                  </a:cubicBezTo>
                  <a:cubicBezTo>
                    <a:pt x="200" y="50"/>
                    <a:pt x="0" y="20"/>
                    <a:pt x="0" y="20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2" y="310"/>
                    <a:pt x="50" y="310"/>
                  </a:cubicBezTo>
                  <a:close/>
                </a:path>
              </a:pathLst>
            </a:custGeom>
            <a:solidFill>
              <a:srgbClr val="DCAFFF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1" name="Wave1"/>
            <p:cNvSpPr>
              <a:spLocks/>
            </p:cNvSpPr>
            <p:nvPr/>
          </p:nvSpPr>
          <p:spPr bwMode="auto">
            <a:xfrm>
              <a:off x="381000" y="5082642"/>
              <a:ext cx="3190331" cy="1180837"/>
            </a:xfrm>
            <a:custGeom>
              <a:avLst/>
              <a:gdLst/>
              <a:ahLst/>
              <a:cxnLst/>
              <a:rect l="0" t="0" r="r" b="b"/>
              <a:pathLst>
                <a:path w="860" h="300">
                  <a:moveTo>
                    <a:pt x="50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7" y="300"/>
                    <a:pt x="860" y="277"/>
                    <a:pt x="860" y="249"/>
                  </a:cubicBezTo>
                  <a:cubicBezTo>
                    <a:pt x="860" y="50"/>
                    <a:pt x="860" y="50"/>
                    <a:pt x="860" y="50"/>
                  </a:cubicBezTo>
                  <a:cubicBezTo>
                    <a:pt x="860" y="50"/>
                    <a:pt x="700" y="0"/>
                    <a:pt x="430" y="90"/>
                  </a:cubicBezTo>
                  <a:cubicBezTo>
                    <a:pt x="180" y="30"/>
                    <a:pt x="0" y="70"/>
                    <a:pt x="0" y="70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2" y="300"/>
                    <a:pt x="50" y="300"/>
                  </a:cubicBezTo>
                  <a:close/>
                </a:path>
              </a:pathLst>
            </a:custGeom>
            <a:solidFill>
              <a:srgbClr val="C88BFF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2" name="Wave2"/>
            <p:cNvSpPr>
              <a:spLocks/>
            </p:cNvSpPr>
            <p:nvPr/>
          </p:nvSpPr>
          <p:spPr bwMode="auto">
            <a:xfrm>
              <a:off x="381000" y="5326682"/>
              <a:ext cx="3190331" cy="936797"/>
            </a:xfrm>
            <a:custGeom>
              <a:avLst/>
              <a:gdLst/>
              <a:ahLst/>
              <a:cxnLst/>
              <a:rect l="0" t="0" r="r" b="b"/>
              <a:pathLst>
                <a:path w="860" h="238">
                  <a:moveTo>
                    <a:pt x="50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7" y="238"/>
                    <a:pt x="860" y="215"/>
                    <a:pt x="860" y="187"/>
                  </a:cubicBezTo>
                  <a:cubicBezTo>
                    <a:pt x="860" y="30"/>
                    <a:pt x="860" y="30"/>
                    <a:pt x="860" y="30"/>
                  </a:cubicBezTo>
                  <a:cubicBezTo>
                    <a:pt x="860" y="30"/>
                    <a:pt x="650" y="80"/>
                    <a:pt x="400" y="0"/>
                  </a:cubicBezTo>
                  <a:cubicBezTo>
                    <a:pt x="150" y="60"/>
                    <a:pt x="0" y="40"/>
                    <a:pt x="0" y="40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2" y="238"/>
                    <a:pt x="50" y="238"/>
                  </a:cubicBezTo>
                  <a:close/>
                </a:path>
              </a:pathLst>
            </a:custGeom>
            <a:solidFill>
              <a:srgbClr val="B566FF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3" name="Wave3"/>
            <p:cNvSpPr>
              <a:spLocks/>
            </p:cNvSpPr>
            <p:nvPr/>
          </p:nvSpPr>
          <p:spPr bwMode="auto">
            <a:xfrm>
              <a:off x="381000" y="5448701"/>
              <a:ext cx="3190331" cy="814778"/>
            </a:xfrm>
            <a:custGeom>
              <a:avLst/>
              <a:gdLst/>
              <a:ahLst/>
              <a:cxnLst/>
              <a:rect l="0" t="0" r="r" b="b"/>
              <a:pathLst>
                <a:path w="860" h="207">
                  <a:moveTo>
                    <a:pt x="50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7" y="192"/>
                    <a:pt x="860" y="169"/>
                    <a:pt x="860" y="141"/>
                  </a:cubicBezTo>
                  <a:cubicBezTo>
                    <a:pt x="860" y="60"/>
                    <a:pt x="860" y="60"/>
                    <a:pt x="860" y="60"/>
                  </a:cubicBezTo>
                  <a:cubicBezTo>
                    <a:pt x="860" y="60"/>
                    <a:pt x="620" y="0"/>
                    <a:pt x="380" y="100"/>
                  </a:cubicBezTo>
                  <a:cubicBezTo>
                    <a:pt x="140" y="50"/>
                    <a:pt x="0" y="80"/>
                    <a:pt x="0" y="80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2" y="192"/>
                    <a:pt x="50" y="192"/>
                  </a:cubicBez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964" name="Wave4"/>
            <p:cNvSpPr>
              <a:spLocks/>
            </p:cNvSpPr>
            <p:nvPr/>
          </p:nvSpPr>
          <p:spPr bwMode="auto">
            <a:xfrm>
              <a:off x="381000" y="5661252"/>
              <a:ext cx="3190331" cy="602227"/>
            </a:xfrm>
            <a:custGeom>
              <a:avLst/>
              <a:gdLst/>
              <a:ahLst/>
              <a:cxnLst/>
              <a:rect l="0" t="0" r="r" b="b"/>
              <a:pathLst>
                <a:path w="860" h="153">
                  <a:moveTo>
                    <a:pt x="50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7" y="151"/>
                    <a:pt x="860" y="128"/>
                    <a:pt x="860" y="100"/>
                  </a:cubicBezTo>
                  <a:cubicBezTo>
                    <a:pt x="860" y="25"/>
                    <a:pt x="860" y="25"/>
                    <a:pt x="860" y="25"/>
                  </a:cubicBezTo>
                  <a:cubicBezTo>
                    <a:pt x="860" y="25"/>
                    <a:pt x="580" y="70"/>
                    <a:pt x="350" y="0"/>
                  </a:cubicBezTo>
                  <a:cubicBezTo>
                    <a:pt x="120" y="80"/>
                    <a:pt x="0" y="50"/>
                    <a:pt x="0" y="5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2" y="151"/>
                    <a:pt x="50" y="151"/>
                  </a:cubicBezTo>
                  <a:close/>
                </a:path>
              </a:pathLst>
            </a:custGeom>
            <a:solidFill>
              <a:srgbClr val="8A00DB"/>
            </a:solidFill>
            <a:ln>
              <a:noFill/>
            </a:ln>
          </p:spPr>
          <p:txBody>
            <a:bodyPr/>
            <a:lstStyle/>
            <a:p>
              <a:pPr defTabSz="685783"/>
              <a:endParaRPr lang="en-US" sz="135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sp>
        <p:nvSpPr>
          <p:cNvPr id="2" name="Rectangle 311">
            <a:extLst>
              <a:ext uri="{FF2B5EF4-FFF2-40B4-BE49-F238E27FC236}">
                <a16:creationId xmlns:a16="http://schemas.microsoft.com/office/drawing/2014/main" id="{74787ABA-8A06-9B4C-F365-1BFEE2175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24" y="1777826"/>
            <a:ext cx="2533208" cy="6858"/>
          </a:xfrm>
          <a:prstGeom prst="rect">
            <a:avLst/>
          </a:prstGeom>
          <a:solidFill>
            <a:srgbClr val="DCAFFF">
              <a:lumMod val="90000"/>
            </a:srgbClr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defTabSz="514325">
              <a:defRPr/>
            </a:pPr>
            <a:endParaRPr lang="en-US" altLang="en-US" sz="675" kern="0" dirty="0">
              <a:latin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CF1274-065D-C476-E3AD-C0694D8D6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9625" y="857918"/>
            <a:ext cx="510647" cy="51064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AB7BD0-5D3A-6921-7125-C3B120921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2896" y="839036"/>
            <a:ext cx="507227" cy="5072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FE9BC91-0703-63E0-1DDB-64C3BE016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511" y="859492"/>
            <a:ext cx="509072" cy="509072"/>
          </a:xfrm>
          <a:prstGeom prst="rect">
            <a:avLst/>
          </a:prstGeom>
        </p:spPr>
      </p:pic>
      <p:sp>
        <p:nvSpPr>
          <p:cNvPr id="975" name="Rounded Rectangle 974"/>
          <p:cNvSpPr/>
          <p:nvPr/>
        </p:nvSpPr>
        <p:spPr>
          <a:xfrm>
            <a:off x="3655742" y="1842741"/>
            <a:ext cx="1645875" cy="301484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sz="700" b="1" kern="0" spc="-23" dirty="0">
                <a:solidFill>
                  <a:srgbClr val="FFFF00"/>
                </a:solidFill>
                <a:latin typeface="Graphik" panose="020B0503030202060203" pitchFamily="34" charset="0"/>
              </a:rPr>
              <a:t>Reads + scans document</a:t>
            </a:r>
          </a:p>
          <a:p>
            <a:pPr algn="ctr" defTabSz="685783"/>
            <a:r>
              <a:rPr sz="550" kern="0" spc="-23" dirty="0">
                <a:solidFill>
                  <a:srgbClr val="FFFFFF"/>
                </a:solidFill>
                <a:latin typeface="Graphik"/>
              </a:rPr>
              <a:t>PII · financials · client data · audience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51F9BF-C347-B93D-D0D0-259A4872E394}"/>
              </a:ext>
            </a:extLst>
          </p:cNvPr>
          <p:cNvGrpSpPr/>
          <p:nvPr/>
        </p:nvGrpSpPr>
        <p:grpSpPr>
          <a:xfrm>
            <a:off x="4448680" y="2145375"/>
            <a:ext cx="60000" cy="105000"/>
            <a:chOff x="5931573" y="2670000"/>
            <a:chExt cx="80000" cy="140000"/>
          </a:xfrm>
        </p:grpSpPr>
        <p:sp>
          <p:nvSpPr>
            <p:cNvPr id="976" name="Rectangle 975"/>
            <p:cNvSpPr/>
            <p:nvPr/>
          </p:nvSpPr>
          <p:spPr>
            <a:xfrm>
              <a:off x="5966573" y="2670000"/>
              <a:ext cx="10000" cy="100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77" name="Isosceles Triangle 976"/>
            <p:cNvSpPr/>
            <p:nvPr/>
          </p:nvSpPr>
          <p:spPr>
            <a:xfrm rot="10800000">
              <a:off x="5931573" y="2760000"/>
              <a:ext cx="80000" cy="5000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978" name="Rounded Rectangle 977"/>
          <p:cNvSpPr/>
          <p:nvPr/>
        </p:nvSpPr>
        <p:spPr>
          <a:xfrm>
            <a:off x="3655742" y="2257875"/>
            <a:ext cx="1645875" cy="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B2D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685800">
              <a:spcAft>
                <a:spcPts val="75"/>
              </a:spcAft>
            </a:pPr>
            <a:r>
              <a:rPr sz="675" b="1" dirty="0">
                <a:solidFill>
                  <a:srgbClr val="333344"/>
                </a:solidFill>
                <a:latin typeface="Graphik"/>
              </a:rPr>
              <a:t>Summary + clarification Qs</a:t>
            </a:r>
          </a:p>
          <a:p>
            <a:pPr algn="ctr" defTabSz="685800"/>
            <a:r>
              <a:rPr sz="525" dirty="0">
                <a:solidFill>
                  <a:srgbClr val="6B6960"/>
                </a:solidFill>
                <a:latin typeface="Graphik"/>
              </a:rPr>
              <a:t>2-4 targeted questions</a:t>
            </a:r>
            <a:r>
              <a:rPr lang="en-US" sz="525" dirty="0">
                <a:solidFill>
                  <a:srgbClr val="6B6960"/>
                </a:solidFill>
                <a:latin typeface="Graphik"/>
              </a:rPr>
              <a:t> to get more context</a:t>
            </a:r>
            <a:endParaRPr sz="525" dirty="0">
              <a:solidFill>
                <a:srgbClr val="6B6960"/>
              </a:solidFill>
              <a:latin typeface="Graphik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035F86-F8C8-033F-6025-6DEDEE4EDA9F}"/>
              </a:ext>
            </a:extLst>
          </p:cNvPr>
          <p:cNvGrpSpPr/>
          <p:nvPr/>
        </p:nvGrpSpPr>
        <p:grpSpPr>
          <a:xfrm>
            <a:off x="4448680" y="2535375"/>
            <a:ext cx="60000" cy="105000"/>
            <a:chOff x="5931573" y="3190000"/>
            <a:chExt cx="80000" cy="140000"/>
          </a:xfrm>
        </p:grpSpPr>
        <p:sp>
          <p:nvSpPr>
            <p:cNvPr id="979" name="Rectangle 978"/>
            <p:cNvSpPr/>
            <p:nvPr/>
          </p:nvSpPr>
          <p:spPr>
            <a:xfrm>
              <a:off x="5966573" y="3190000"/>
              <a:ext cx="10000" cy="100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80" name="Isosceles Triangle 979"/>
            <p:cNvSpPr/>
            <p:nvPr/>
          </p:nvSpPr>
          <p:spPr>
            <a:xfrm rot="10800000">
              <a:off x="5931573" y="3280000"/>
              <a:ext cx="80000" cy="5000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981" name="Rounded Rectangle 980"/>
          <p:cNvSpPr/>
          <p:nvPr/>
        </p:nvSpPr>
        <p:spPr>
          <a:xfrm>
            <a:off x="3902623" y="2647875"/>
            <a:ext cx="1152113" cy="119564"/>
          </a:xfrm>
          <a:prstGeom prst="roundRect">
            <a:avLst>
              <a:gd name="adj" fmla="val 8000"/>
            </a:avLst>
          </a:prstGeom>
          <a:solidFill>
            <a:srgbClr val="EBDEFF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685800"/>
            <a:r>
              <a:rPr lang="en-US" sz="675" b="1" dirty="0">
                <a:solidFill>
                  <a:srgbClr val="8B5CF6"/>
                </a:solidFill>
                <a:latin typeface="Graphik Semibold" panose="020B0703030202060203" pitchFamily="34" charset="0"/>
              </a:rPr>
              <a:t>User answers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22294F5-23BB-DE7E-219B-ED2B3566F468}"/>
              </a:ext>
            </a:extLst>
          </p:cNvPr>
          <p:cNvGrpSpPr/>
          <p:nvPr/>
        </p:nvGrpSpPr>
        <p:grpSpPr>
          <a:xfrm>
            <a:off x="4448680" y="2773025"/>
            <a:ext cx="60000" cy="105000"/>
            <a:chOff x="5931573" y="3600000"/>
            <a:chExt cx="80000" cy="140000"/>
          </a:xfrm>
        </p:grpSpPr>
        <p:sp>
          <p:nvSpPr>
            <p:cNvPr id="983" name="Rectangle 982"/>
            <p:cNvSpPr/>
            <p:nvPr/>
          </p:nvSpPr>
          <p:spPr>
            <a:xfrm>
              <a:off x="5966573" y="3600000"/>
              <a:ext cx="10000" cy="100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84" name="Isosceles Triangle 983"/>
            <p:cNvSpPr/>
            <p:nvPr/>
          </p:nvSpPr>
          <p:spPr>
            <a:xfrm rot="10800000">
              <a:off x="5931573" y="3690000"/>
              <a:ext cx="80000" cy="5000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72F999-1E0A-79FB-FA4A-0593F56ECEF2}"/>
              </a:ext>
            </a:extLst>
          </p:cNvPr>
          <p:cNvGrpSpPr/>
          <p:nvPr/>
        </p:nvGrpSpPr>
        <p:grpSpPr>
          <a:xfrm>
            <a:off x="3257720" y="2882900"/>
            <a:ext cx="2445816" cy="541561"/>
            <a:chOff x="3276770" y="2906001"/>
            <a:chExt cx="2445816" cy="51846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BE91CA6-857C-7D5A-83B3-8F36C86447DB}"/>
                </a:ext>
              </a:extLst>
            </p:cNvPr>
            <p:cNvSpPr/>
            <p:nvPr/>
          </p:nvSpPr>
          <p:spPr>
            <a:xfrm>
              <a:off x="3276770" y="2906001"/>
              <a:ext cx="2445816" cy="518460"/>
            </a:xfrm>
            <a:prstGeom prst="roundRect">
              <a:avLst/>
            </a:prstGeom>
            <a:solidFill>
              <a:srgbClr val="8B5CF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528499A-CBB6-B930-DD27-9BCFCB6C22E4}"/>
                </a:ext>
              </a:extLst>
            </p:cNvPr>
            <p:cNvGrpSpPr/>
            <p:nvPr/>
          </p:nvGrpSpPr>
          <p:grpSpPr>
            <a:xfrm>
              <a:off x="3325806" y="2952861"/>
              <a:ext cx="2332199" cy="420000"/>
              <a:chOff x="4429475" y="3750000"/>
              <a:chExt cx="3109598" cy="400000"/>
            </a:xfrm>
          </p:grpSpPr>
          <p:sp>
            <p:nvSpPr>
              <p:cNvPr id="985" name="Rounded Rectangle 984"/>
              <p:cNvSpPr/>
              <p:nvPr/>
            </p:nvSpPr>
            <p:spPr>
              <a:xfrm>
                <a:off x="4429475" y="3750000"/>
                <a:ext cx="1601113" cy="400000"/>
              </a:xfrm>
              <a:prstGeom prst="roundRect">
                <a:avLst>
                  <a:gd name="adj" fmla="val 8000"/>
                </a:avLst>
              </a:prstGeom>
              <a:solidFill>
                <a:srgbClr val="EBDEFF"/>
              </a:solidFill>
              <a:ln w="3175">
                <a:solidFill>
                  <a:srgbClr val="3C006C">
                    <a:alpha val="43000"/>
                  </a:srgb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 defTabSz="685800">
                  <a:spcAft>
                    <a:spcPts val="75"/>
                  </a:spcAft>
                </a:pPr>
                <a:r>
                  <a:rPr lang="en-US" sz="700" b="1" dirty="0">
                    <a:solidFill>
                      <a:srgbClr val="0F6E56"/>
                    </a:solidFill>
                    <a:latin typeface="Graphik"/>
                  </a:rPr>
                  <a:t>Classification Scheme</a:t>
                </a:r>
                <a:endParaRPr sz="700" b="1" dirty="0">
                  <a:solidFill>
                    <a:srgbClr val="0F6E56"/>
                  </a:solidFill>
                  <a:latin typeface="Graphik"/>
                </a:endParaRPr>
              </a:p>
              <a:p>
                <a:pPr algn="ctr" defTabSz="685800"/>
                <a:r>
                  <a:rPr lang="en-US" sz="600" dirty="0">
                    <a:solidFill>
                      <a:srgbClr val="6B6960"/>
                    </a:solidFill>
                    <a:latin typeface="Graphik"/>
                  </a:rPr>
                  <a:t>17 sensitivity sub-labels</a:t>
                </a:r>
              </a:p>
              <a:p>
                <a:pPr algn="ctr" defTabSz="685800"/>
                <a:r>
                  <a:rPr lang="en-US" sz="600" dirty="0">
                    <a:solidFill>
                      <a:srgbClr val="6B6960"/>
                    </a:solidFill>
                    <a:latin typeface="Graphik"/>
                  </a:rPr>
                  <a:t>5 Question decision tree</a:t>
                </a:r>
                <a:endParaRPr sz="600" dirty="0">
                  <a:solidFill>
                    <a:srgbClr val="6B6960"/>
                  </a:solidFill>
                  <a:latin typeface="Graphik"/>
                </a:endParaRPr>
              </a:p>
            </p:txBody>
          </p:sp>
          <p:sp>
            <p:nvSpPr>
              <p:cNvPr id="986" name="Rounded Rectangle 985"/>
              <p:cNvSpPr/>
              <p:nvPr/>
            </p:nvSpPr>
            <p:spPr>
              <a:xfrm>
                <a:off x="6125186" y="3750000"/>
                <a:ext cx="1413887" cy="400000"/>
              </a:xfrm>
              <a:prstGeom prst="roundRect">
                <a:avLst>
                  <a:gd name="adj" fmla="val 8000"/>
                </a:avLst>
              </a:prstGeom>
              <a:solidFill>
                <a:srgbClr val="EBDEFF"/>
              </a:solidFill>
              <a:ln w="3175">
                <a:solidFill>
                  <a:srgbClr val="3C006C">
                    <a:alpha val="43000"/>
                  </a:srgb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 defTabSz="685800">
                  <a:spcAft>
                    <a:spcPts val="75"/>
                  </a:spcAft>
                </a:pPr>
                <a:r>
                  <a:rPr lang="en-US" sz="700" b="1" dirty="0">
                    <a:solidFill>
                      <a:srgbClr val="0F6E56"/>
                    </a:solidFill>
                    <a:latin typeface="Graphik"/>
                  </a:rPr>
                  <a:t>Permissions guide</a:t>
                </a:r>
                <a:endParaRPr sz="700" b="1" dirty="0">
                  <a:solidFill>
                    <a:srgbClr val="0F6E56"/>
                  </a:solidFill>
                  <a:latin typeface="Graphik"/>
                </a:endParaRPr>
              </a:p>
              <a:p>
                <a:pPr algn="ctr" defTabSz="685800"/>
                <a:r>
                  <a:rPr lang="en-US" sz="600" dirty="0">
                    <a:solidFill>
                      <a:srgbClr val="6B6960"/>
                    </a:solidFill>
                    <a:latin typeface="Graphik"/>
                  </a:rPr>
                  <a:t>Access control rules</a:t>
                </a:r>
              </a:p>
              <a:p>
                <a:pPr algn="ctr" defTabSz="685800"/>
                <a:r>
                  <a:rPr lang="en-US" sz="600" dirty="0">
                    <a:solidFill>
                      <a:srgbClr val="6B6960"/>
                    </a:solidFill>
                    <a:latin typeface="Graphik"/>
                  </a:rPr>
                  <a:t>External sharing logic</a:t>
                </a:r>
                <a:endParaRPr sz="600" dirty="0">
                  <a:solidFill>
                    <a:srgbClr val="6B6960"/>
                  </a:solidFill>
                  <a:latin typeface="Graphik"/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C18A7A4-C194-9124-5037-F30A76A9F8FC}"/>
              </a:ext>
            </a:extLst>
          </p:cNvPr>
          <p:cNvGrpSpPr/>
          <p:nvPr/>
        </p:nvGrpSpPr>
        <p:grpSpPr>
          <a:xfrm>
            <a:off x="4448680" y="3427975"/>
            <a:ext cx="60000" cy="105000"/>
            <a:chOff x="5931573" y="4160000"/>
            <a:chExt cx="80000" cy="140000"/>
          </a:xfrm>
        </p:grpSpPr>
        <p:sp>
          <p:nvSpPr>
            <p:cNvPr id="987" name="Rectangle 986"/>
            <p:cNvSpPr/>
            <p:nvPr/>
          </p:nvSpPr>
          <p:spPr>
            <a:xfrm>
              <a:off x="5966573" y="4160000"/>
              <a:ext cx="10000" cy="100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88" name="Isosceles Triangle 987"/>
            <p:cNvSpPr/>
            <p:nvPr/>
          </p:nvSpPr>
          <p:spPr>
            <a:xfrm rot="10800000">
              <a:off x="5931573" y="4250000"/>
              <a:ext cx="80000" cy="5000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989" name="Rounded Rectangle 988"/>
          <p:cNvSpPr/>
          <p:nvPr/>
        </p:nvSpPr>
        <p:spPr>
          <a:xfrm>
            <a:off x="3655742" y="3542380"/>
            <a:ext cx="1645875" cy="144135"/>
          </a:xfrm>
          <a:prstGeom prst="roundRect">
            <a:avLst>
              <a:gd name="adj" fmla="val 8000"/>
            </a:avLst>
          </a:prstGeom>
          <a:solidFill>
            <a:srgbClr val="F3E8F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 defTabSz="685800">
              <a:spcAft>
                <a:spcPts val="75"/>
              </a:spcAft>
            </a:pPr>
            <a:r>
              <a:rPr lang="en-US" sz="675" b="1" dirty="0">
                <a:solidFill>
                  <a:srgbClr val="A855F7"/>
                </a:solidFill>
                <a:latin typeface="Graphik Semibold" panose="020B0703030202060203" pitchFamily="34" charset="0"/>
              </a:rPr>
              <a:t>Guardrails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3816EF-EA23-4882-F0F3-249C84501BAF}"/>
              </a:ext>
            </a:extLst>
          </p:cNvPr>
          <p:cNvGrpSpPr/>
          <p:nvPr/>
        </p:nvGrpSpPr>
        <p:grpSpPr>
          <a:xfrm>
            <a:off x="4448680" y="3701460"/>
            <a:ext cx="60000" cy="105000"/>
            <a:chOff x="5931573" y="4600000"/>
            <a:chExt cx="80000" cy="140000"/>
          </a:xfrm>
        </p:grpSpPr>
        <p:sp>
          <p:nvSpPr>
            <p:cNvPr id="990" name="Rectangle 989"/>
            <p:cNvSpPr/>
            <p:nvPr/>
          </p:nvSpPr>
          <p:spPr>
            <a:xfrm>
              <a:off x="5966573" y="4600000"/>
              <a:ext cx="10000" cy="10000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991" name="Isosceles Triangle 990"/>
            <p:cNvSpPr/>
            <p:nvPr/>
          </p:nvSpPr>
          <p:spPr>
            <a:xfrm rot="10800000">
              <a:off x="5931573" y="4690000"/>
              <a:ext cx="80000" cy="50000"/>
            </a:xfrm>
            <a:prstGeom prst="triangle">
              <a:avLst/>
            </a:prstGeom>
            <a:solidFill>
              <a:srgbClr val="7B2D8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/>
              <a:endParaRPr sz="135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992" name="Rounded Rectangle 991"/>
          <p:cNvSpPr/>
          <p:nvPr/>
        </p:nvSpPr>
        <p:spPr>
          <a:xfrm>
            <a:off x="3655742" y="3804435"/>
            <a:ext cx="1645875" cy="299756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1E265E"/>
              </a:gs>
              <a:gs pos="0">
                <a:srgbClr val="7400C0"/>
              </a:gs>
              <a:gs pos="100000">
                <a:srgbClr val="A000FF"/>
              </a:gs>
            </a:gsLst>
            <a:lin ang="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tIns="68580" bIns="68580" rtlCol="0" anchor="ctr"/>
          <a:lstStyle/>
          <a:p>
            <a:pPr algn="ctr" defTabSz="685783"/>
            <a:r>
              <a:rPr sz="700" b="1" kern="0" spc="-23" dirty="0">
                <a:solidFill>
                  <a:srgbClr val="FFFF00"/>
                </a:solidFill>
                <a:latin typeface="Graphik" panose="020B0503030202060203" pitchFamily="34" charset="0"/>
              </a:rPr>
              <a:t>Assessment + recommendation</a:t>
            </a:r>
          </a:p>
          <a:p>
            <a:pPr algn="ctr" defTabSz="685783"/>
            <a:r>
              <a:rPr sz="500" kern="0" spc="-23" dirty="0">
                <a:solidFill>
                  <a:srgbClr val="FFFFFF"/>
                </a:solidFill>
                <a:latin typeface="Graphik Semibold" panose="020B0703030202060203" pitchFamily="34" charset="0"/>
              </a:rPr>
              <a:t>Option A (best fit) · Option B (alt)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A575C98E-BF1D-06A0-95B0-8125CA1F61B8}"/>
              </a:ext>
            </a:extLst>
          </p:cNvPr>
          <p:cNvSpPr/>
          <p:nvPr/>
        </p:nvSpPr>
        <p:spPr bwMode="auto">
          <a:xfrm>
            <a:off x="6089453" y="1908658"/>
            <a:ext cx="2356047" cy="248159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wrap="square" lIns="0" tIns="0" rIns="0" bIns="0" rtlCol="0" anchor="t">
            <a:noAutofit/>
          </a:bodyPr>
          <a:lstStyle/>
          <a:p>
            <a:pPr marL="171446" indent="-171446" defTabSz="914378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33344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Claude Certified Architect, Foundations (Anthropic – waiting on results)</a:t>
            </a:r>
          </a:p>
          <a:p>
            <a:pPr marL="171446" indent="-171446" defTabSz="914378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8B5CF6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Reinvention with Agentic AI </a:t>
            </a:r>
            <a:r>
              <a:rPr lang="en-US" sz="900" dirty="0">
                <a:solidFill>
                  <a:srgbClr val="333344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program (Stanford HAI self-study + hands-on workshop)</a:t>
            </a:r>
          </a:p>
          <a:p>
            <a:pPr marL="171446" indent="-171446" defTabSz="914378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8B5CF6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900" dirty="0">
                <a:solidFill>
                  <a:srgbClr val="333344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 Anthropic courses (including Claude 101 and advanced modules)</a:t>
            </a:r>
          </a:p>
          <a:p>
            <a:pPr marL="171446" indent="-171446" defTabSz="914378">
              <a:lnSpc>
                <a:spcPct val="115000"/>
              </a:lnSpc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 dirty="0">
                <a:solidFill>
                  <a:srgbClr val="333344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Hands-on agent development in </a:t>
            </a:r>
            <a:r>
              <a:rPr lang="en-US" sz="900" dirty="0">
                <a:solidFill>
                  <a:srgbClr val="8B5CF6"/>
                </a:solidFill>
                <a:latin typeface="Graphik Semibold" panose="020B0703030202060203" pitchFamily="34" charset="0"/>
                <a:ea typeface="Calibri" pitchFamily="34" charset="-122"/>
                <a:cs typeface="Calibri" pitchFamily="34" charset="-120"/>
              </a:rPr>
              <a:t>multiple environments </a:t>
            </a:r>
            <a:r>
              <a:rPr lang="en-US" sz="900" dirty="0">
                <a:solidFill>
                  <a:srgbClr val="333344"/>
                </a:solidFill>
                <a:latin typeface="Graphik" panose="020B0503030202060203" pitchFamily="34" charset="0"/>
                <a:ea typeface="Calibri" pitchFamily="34" charset="-122"/>
                <a:cs typeface="Calibri" pitchFamily="34" charset="-120"/>
              </a:rPr>
              <a:t>(RCA system + sensitivity classifier)</a:t>
            </a:r>
          </a:p>
        </p:txBody>
      </p:sp>
    </p:spTree>
    <p:extLst>
      <p:ext uri="{BB962C8B-B14F-4D97-AF65-F5344CB8AC3E}">
        <p14:creationId xmlns:p14="http://schemas.microsoft.com/office/powerpoint/2010/main" val="2331981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77719952608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F30C430-67C1-C5B5-0625-D0E085CD2D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60215" y="4767263"/>
            <a:ext cx="3086100" cy="273844"/>
          </a:xfrm>
        </p:spPr>
        <p:txBody>
          <a:bodyPr/>
          <a:lstStyle/>
          <a:p>
            <a:pPr algn="r"/>
            <a:r>
              <a:rPr lang="en-US"/>
              <a:t>Copyright © 2026 Accenture. All rights reserved.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C766804C-067A-24D4-C75F-4FC7D533F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8100" y="4767263"/>
            <a:ext cx="320386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cVjnPhkwuM.nQDMUF38Z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_CoreTemplate_Graphik_100820" id="{49DBA5FE-D7D0-7E4B-91FA-5CF7CE14D163}" vid="{DBC2176E-0E90-094E-B41E-2DF55F5048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b6fc37-a1d1-4252-981c-63836d1ca50c}" enabled="1" method="Privileged" siteId="{e0793d39-0939-496d-b129-198edd916fe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807</TotalTime>
  <Words>2412</Words>
  <Application>Microsoft Office PowerPoint</Application>
  <PresentationFormat>On-screen Show (16:9)</PresentationFormat>
  <Paragraphs>310</Paragraphs>
  <Slides>14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8" baseType="lpstr">
      <vt:lpstr>SimSun</vt:lpstr>
      <vt:lpstr>Aptos</vt:lpstr>
      <vt:lpstr>Arial</vt:lpstr>
      <vt:lpstr>Arial Black</vt:lpstr>
      <vt:lpstr>Arial,Sans-Serif</vt:lpstr>
      <vt:lpstr>Calibri</vt:lpstr>
      <vt:lpstr>Calibri Light</vt:lpstr>
      <vt:lpstr>Graphik</vt:lpstr>
      <vt:lpstr>Graphik Semibold</vt:lpstr>
      <vt:lpstr>System Font</vt:lpstr>
      <vt:lpstr>Wingdings</vt:lpstr>
      <vt:lpstr>Office 2013 - 2022 Theme</vt:lpstr>
      <vt:lpstr>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 Response Program - Mid Review</dc:title>
  <dc:subject>PptxGenJS Presentation</dc:subject>
  <dc:creator>Yuvraj Singh</dc:creator>
  <cp:lastModifiedBy>Himanshu, Himanshu</cp:lastModifiedBy>
  <cp:revision>4</cp:revision>
  <dcterms:created xsi:type="dcterms:W3CDTF">2026-04-26T20:04:05Z</dcterms:created>
  <dcterms:modified xsi:type="dcterms:W3CDTF">2026-05-27T10:07:52Z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2013 - 2022 Theme:5\Office:9</vt:lpwstr>
  </property>
  <property fmtid="{D5CDD505-2E9C-101B-9397-08002B2CF9AE}" pid="3" name="ClassificationContentMarkingHeaderText">
    <vt:lpwstr>***Confidential***</vt:lpwstr>
  </property>
</Properties>
</file>