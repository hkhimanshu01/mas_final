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6ACF9-57BA-4F85-8921-1C9D055AD57B}" v="90" dt="2026-05-26T13:40:23.010"/>
    <p1510:client id="{97E201E5-046E-4276-888B-A9304E0CF83A}" v="64" dt="2026-05-26T13:33:58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el, Shekhar" userId="9191bf6c-c4f9-44c0-a8f1-0cd1769564e9" providerId="ADAL" clId="{8CDCAFCB-BABB-42C0-BC70-3894F58311BC}"/>
    <pc:docChg chg="modSld">
      <pc:chgData name="Goel, Shekhar" userId="9191bf6c-c4f9-44c0-a8f1-0cd1769564e9" providerId="ADAL" clId="{8CDCAFCB-BABB-42C0-BC70-3894F58311BC}" dt="2026-05-26T13:40:23.010" v="89" actId="20577"/>
      <pc:docMkLst>
        <pc:docMk/>
      </pc:docMkLst>
      <pc:sldChg chg="addSp modSp mod">
        <pc:chgData name="Goel, Shekhar" userId="9191bf6c-c4f9-44c0-a8f1-0cd1769564e9" providerId="ADAL" clId="{8CDCAFCB-BABB-42C0-BC70-3894F58311BC}" dt="2026-05-26T13:40:23.010" v="89" actId="20577"/>
        <pc:sldMkLst>
          <pc:docMk/>
          <pc:sldMk cId="471217873" sldId="290"/>
        </pc:sldMkLst>
        <pc:spChg chg="mod">
          <ac:chgData name="Goel, Shekhar" userId="9191bf6c-c4f9-44c0-a8f1-0cd1769564e9" providerId="ADAL" clId="{8CDCAFCB-BABB-42C0-BC70-3894F58311BC}" dt="2026-05-26T13:40:23.010" v="89" actId="20577"/>
          <ac:spMkLst>
            <pc:docMk/>
            <pc:sldMk cId="471217873" sldId="290"/>
            <ac:spMk id="2" creationId="{0294CA75-709E-62DF-2CAE-BF423D22A12C}"/>
          </ac:spMkLst>
        </pc:spChg>
        <pc:spChg chg="add mod">
          <ac:chgData name="Goel, Shekhar" userId="9191bf6c-c4f9-44c0-a8f1-0cd1769564e9" providerId="ADAL" clId="{8CDCAFCB-BABB-42C0-BC70-3894F58311BC}" dt="2026-05-26T13:36:36.524" v="86" actId="20577"/>
          <ac:spMkLst>
            <pc:docMk/>
            <pc:sldMk cId="471217873" sldId="290"/>
            <ac:spMk id="3" creationId="{22326C11-3399-02ED-E52A-F0B181A1AA4B}"/>
          </ac:spMkLst>
        </pc:spChg>
        <pc:spChg chg="mod">
          <ac:chgData name="Goel, Shekhar" userId="9191bf6c-c4f9-44c0-a8f1-0cd1769564e9" providerId="ADAL" clId="{8CDCAFCB-BABB-42C0-BC70-3894F58311BC}" dt="2026-05-26T13:33:48.908" v="1" actId="20577"/>
          <ac:spMkLst>
            <pc:docMk/>
            <pc:sldMk cId="471217873" sldId="290"/>
            <ac:spMk id="143" creationId="{22BA232B-C35F-72C2-BEDE-620ADC983248}"/>
          </ac:spMkLst>
        </pc:spChg>
      </pc:sldChg>
    </pc:docChg>
  </pc:docChgLst>
  <pc:docChgLst>
    <pc:chgData name="Himanshu, Himanshu" userId="242c93c2-ba29-433a-8a73-46892f18ac02" providerId="ADAL" clId="{80D33FFF-6763-40B3-878E-33492D07173B}"/>
    <pc:docChg chg="modSld">
      <pc:chgData name="Himanshu, Himanshu" userId="242c93c2-ba29-433a-8a73-46892f18ac02" providerId="ADAL" clId="{80D33FFF-6763-40B3-878E-33492D07173B}" dt="2026-05-26T13:33:58.901" v="63" actId="20577"/>
      <pc:docMkLst>
        <pc:docMk/>
      </pc:docMkLst>
      <pc:sldChg chg="modSp mod">
        <pc:chgData name="Himanshu, Himanshu" userId="242c93c2-ba29-433a-8a73-46892f18ac02" providerId="ADAL" clId="{80D33FFF-6763-40B3-878E-33492D07173B}" dt="2026-05-26T13:33:58.901" v="63" actId="20577"/>
        <pc:sldMkLst>
          <pc:docMk/>
          <pc:sldMk cId="471217873" sldId="290"/>
        </pc:sldMkLst>
        <pc:spChg chg="mod">
          <ac:chgData name="Himanshu, Himanshu" userId="242c93c2-ba29-433a-8a73-46892f18ac02" providerId="ADAL" clId="{80D33FFF-6763-40B3-878E-33492D07173B}" dt="2026-05-26T11:52:34.263" v="61" actId="20577"/>
          <ac:spMkLst>
            <pc:docMk/>
            <pc:sldMk cId="471217873" sldId="290"/>
            <ac:spMk id="4" creationId="{E21E904E-87CF-F547-41B4-49EB363D444E}"/>
          </ac:spMkLst>
        </pc:spChg>
        <pc:spChg chg="mod">
          <ac:chgData name="Himanshu, Himanshu" userId="242c93c2-ba29-433a-8a73-46892f18ac02" providerId="ADAL" clId="{80D33FFF-6763-40B3-878E-33492D07173B}" dt="2026-05-26T11:26:08.748" v="37" actId="20577"/>
          <ac:spMkLst>
            <pc:docMk/>
            <pc:sldMk cId="471217873" sldId="290"/>
            <ac:spMk id="134" creationId="{69C7A2A3-50CE-FBDB-51F2-AC029A9233AE}"/>
          </ac:spMkLst>
        </pc:spChg>
        <pc:spChg chg="mod">
          <ac:chgData name="Himanshu, Himanshu" userId="242c93c2-ba29-433a-8a73-46892f18ac02" providerId="ADAL" clId="{80D33FFF-6763-40B3-878E-33492D07173B}" dt="2026-05-26T11:51:52.119" v="55" actId="20577"/>
          <ac:spMkLst>
            <pc:docMk/>
            <pc:sldMk cId="471217873" sldId="290"/>
            <ac:spMk id="137" creationId="{62B39FC8-3BA6-D1A6-D2E0-E03F4916A93C}"/>
          </ac:spMkLst>
        </pc:spChg>
        <pc:spChg chg="mod">
          <ac:chgData name="Himanshu, Himanshu" userId="242c93c2-ba29-433a-8a73-46892f18ac02" providerId="ADAL" clId="{80D33FFF-6763-40B3-878E-33492D07173B}" dt="2026-05-26T13:33:58.901" v="63" actId="20577"/>
          <ac:spMkLst>
            <pc:docMk/>
            <pc:sldMk cId="471217873" sldId="290"/>
            <ac:spMk id="143" creationId="{22BA232B-C35F-72C2-BEDE-620ADC9832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3D7B6FC-C076-85AC-5249-DFE4FC872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1B3256E-94D7-57D7-C2FB-1654E270C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9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4D76A7B-D438-C44B-16F8-1A4ABD686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87E403F-5617-F988-F30C-B49AD91F2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3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5BA871E-B5AE-A3A9-87F7-36CC852C1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CDBC49D-02D2-DAFF-B953-4445E08AA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8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6470657-A617-3908-16DB-88D8FDE5D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8C265B-DA99-2E9E-D358-90367E8EA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7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84EB48-D8AD-6EFD-5957-CE09D833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B1E2B7-FB75-6170-DDBB-2A0A4997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4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774EEC7-6FB5-D2CD-B797-B6CA506A1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031289-0F19-22A8-9680-D0EED8E45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5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6DEF7D-269A-5244-3044-B5A8A44B9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BD8A1B7-92DC-05EC-DE40-BD80C485B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8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A7B7-DA17-D11D-275E-D5955837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946CA-E49F-9EE8-A8BA-DC9728BD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A49D6-93F4-CDDA-0633-A181E4812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6EDDE5D-44DA-3C8D-7ECE-37C102622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7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448AB5-BD5A-54B6-7B72-847B2908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132FFB9-2DB2-9EF8-0AA1-5348BAFC4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2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C280776-7052-FEB7-CAA6-5BD5E2F34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1EE0321-5A0D-AF4E-BD05-8D83D0C3C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4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0F174DF-510F-6BA3-410C-F834C3866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751D4C4-0811-7F28-932A-197BA034E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08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7B3D6B-A06F-5C91-E36E-FC301053A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247DF6-FB25-7B06-01C9-7C1613B2D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54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0AD0422-8087-7210-12D5-5D9D7D859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5F1E182-46B6-8B36-A5FA-20E7B9702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1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1">
            <a:extLst>
              <a:ext uri="{FF2B5EF4-FFF2-40B4-BE49-F238E27FC236}">
                <a16:creationId xmlns:a16="http://schemas.microsoft.com/office/drawing/2014/main" id="{3090DB6F-7FC0-8288-4649-274CEBDD87BA}"/>
              </a:ext>
            </a:extLst>
          </p:cNvPr>
          <p:cNvSpPr>
            <a:spLocks/>
          </p:cNvSpPr>
          <p:nvPr userDrawn="1"/>
        </p:nvSpPr>
        <p:spPr>
          <a:xfrm>
            <a:off x="365760" y="6233796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2933" b="1">
                <a:solidFill>
                  <a:srgbClr val="A100FF"/>
                </a:solidFill>
                <a:latin typeface="Graphik" panose="020B0503030202060203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933">
              <a:latin typeface="Graphik" panose="020B0503030202060203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F587A06-1330-ED3A-CDEC-A174F5080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98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139C83-9F20-7754-AEC8-74478D014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6980" y="6356351"/>
            <a:ext cx="427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1442E-BD9B-C30A-EA1C-3B9942A920B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44584" y="84667"/>
            <a:ext cx="1540933" cy="225767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467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***Confidential***</a:t>
            </a:r>
          </a:p>
        </p:txBody>
      </p:sp>
    </p:spTree>
    <p:extLst>
      <p:ext uri="{BB962C8B-B14F-4D97-AF65-F5344CB8AC3E}">
        <p14:creationId xmlns:p14="http://schemas.microsoft.com/office/powerpoint/2010/main" val="351977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F0DD-C3F4-0558-F979-0FAF501F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1E904E-87CF-F547-41B4-49EB363D444E}"/>
              </a:ext>
            </a:extLst>
          </p:cNvPr>
          <p:cNvSpPr txBox="1"/>
          <p:nvPr/>
        </p:nvSpPr>
        <p:spPr>
          <a:xfrm>
            <a:off x="572090" y="953647"/>
            <a:ext cx="100620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1200">
                <a:solidFill>
                  <a:prstClr val="black"/>
                </a:solidFill>
                <a:latin typeface="Graphik" panose="020B0503030202060203" pitchFamily="34" charset="0"/>
              </a:rPr>
              <a:t>Diagnoses bugs, proposes the fix, verifies with tests. Projected savings:</a:t>
            </a:r>
            <a:r>
              <a:rPr sz="1200">
                <a:solidFill>
                  <a:srgbClr val="7B8794"/>
                </a:solidFill>
                <a:latin typeface="Graphik" panose="020B0503030202060203" pitchFamily="34" charset="0"/>
              </a:rPr>
              <a:t> </a:t>
            </a:r>
            <a:r>
              <a:rPr lang="en-US" sz="1200" b="1">
                <a:solidFill>
                  <a:srgbClr val="460073"/>
                </a:solidFill>
                <a:latin typeface="Graphik Semibold" panose="020B0703030202060203" pitchFamily="34" charset="0"/>
              </a:rPr>
              <a:t>~$12K/dev (IN dev)/ ~$45K (US dev) projected at 500 bugs/yr</a:t>
            </a:r>
            <a:endParaRPr sz="1200">
              <a:solidFill>
                <a:srgbClr val="7B8794"/>
              </a:solidFill>
              <a:latin typeface="Graphik" panose="020B0503030202060203" pitchFamily="34" charset="0"/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A3A4200-8043-EE93-5C58-9581A24725A1}"/>
              </a:ext>
            </a:extLst>
          </p:cNvPr>
          <p:cNvGrpSpPr/>
          <p:nvPr/>
        </p:nvGrpSpPr>
        <p:grpSpPr>
          <a:xfrm>
            <a:off x="10744199" y="792481"/>
            <a:ext cx="960031" cy="637459"/>
            <a:chOff x="9001957" y="710214"/>
            <a:chExt cx="2774040" cy="29162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F229E5D-D7FC-0D80-428E-E4458397DAAB}"/>
                </a:ext>
              </a:extLst>
            </p:cNvPr>
            <p:cNvSpPr/>
            <p:nvPr/>
          </p:nvSpPr>
          <p:spPr>
            <a:xfrm>
              <a:off x="9001957" y="710214"/>
              <a:ext cx="2656643" cy="291626"/>
            </a:xfrm>
            <a:prstGeom prst="roundRect">
              <a:avLst>
                <a:gd name="adj" fmla="val 12617"/>
              </a:avLst>
            </a:prstGeom>
            <a:gradFill flip="none" rotWithShape="1">
              <a:gsLst>
                <a:gs pos="0">
                  <a:srgbClr val="F8F0FF"/>
                </a:gs>
                <a:gs pos="100000">
                  <a:srgbClr val="EDE0F5"/>
                </a:gs>
              </a:gsLst>
              <a:lin ang="8100000" scaled="0"/>
            </a:gradFill>
            <a:ln w="31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F0BCF9-3F8A-1CF7-325D-B9AE88115B96}"/>
                </a:ext>
              </a:extLst>
            </p:cNvPr>
            <p:cNvSpPr txBox="1"/>
            <p:nvPr/>
          </p:nvSpPr>
          <p:spPr>
            <a:xfrm>
              <a:off x="9332233" y="738347"/>
              <a:ext cx="2443764" cy="2393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sz="600" b="1" spc="151">
                  <a:solidFill>
                    <a:srgbClr val="7030A0"/>
                  </a:solidFill>
                  <a:latin typeface="Graphik Semibold" panose="020B0703030202060203" pitchFamily="34" charset="0"/>
                </a:rPr>
                <a:t>VALIDATED</a:t>
              </a:r>
            </a:p>
            <a:p>
              <a:pPr defTabSz="1219170"/>
              <a:r>
                <a:rPr sz="700" b="1">
                  <a:solidFill>
                    <a:srgbClr val="44546A"/>
                  </a:solidFill>
                  <a:latin typeface="Graphik Semibold" panose="020B0703030202060203" pitchFamily="34" charset="0"/>
                </a:rPr>
                <a:t>Tested on complex, buggy</a:t>
              </a:r>
              <a:r>
                <a:rPr lang="en-US" sz="700" b="1">
                  <a:solidFill>
                    <a:srgbClr val="44546A"/>
                  </a:solidFill>
                  <a:latin typeface="Graphik Semibold" panose="020B0703030202060203" pitchFamily="34" charset="0"/>
                </a:rPr>
                <a:t> </a:t>
              </a:r>
              <a:r>
                <a:rPr sz="700" b="1">
                  <a:solidFill>
                    <a:srgbClr val="44546A"/>
                  </a:solidFill>
                  <a:latin typeface="Graphik Semibold" panose="020B0703030202060203" pitchFamily="34" charset="0"/>
                </a:rPr>
                <a:t>open-source GitHub repos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0D93F9-C244-915C-E673-DBE480E5E5B7}"/>
              </a:ext>
            </a:extLst>
          </p:cNvPr>
          <p:cNvSpPr/>
          <p:nvPr/>
        </p:nvSpPr>
        <p:spPr>
          <a:xfrm>
            <a:off x="533400" y="1503291"/>
            <a:ext cx="2895600" cy="3817352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F8F0FF"/>
              </a:gs>
              <a:gs pos="100000">
                <a:srgbClr val="FFFFFF"/>
              </a:gs>
            </a:gsLst>
            <a:lin ang="10800000" scaled="0"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E5B638-189A-6C00-9E4F-8507BA97B9DD}"/>
              </a:ext>
            </a:extLst>
          </p:cNvPr>
          <p:cNvSpPr txBox="1"/>
          <p:nvPr/>
        </p:nvSpPr>
        <p:spPr>
          <a:xfrm>
            <a:off x="685800" y="1655691"/>
            <a:ext cx="2590800" cy="115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751" b="1" spc="151">
                <a:solidFill>
                  <a:srgbClr val="6B7280"/>
                </a:solidFill>
                <a:latin typeface="Graphik Semibold" panose="020B0703030202060203" pitchFamily="34" charset="0"/>
              </a:rPr>
              <a:t>OPTION 1: MANUAL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B5718-D837-BC4A-83C6-AB20B4D06112}"/>
              </a:ext>
            </a:extLst>
          </p:cNvPr>
          <p:cNvSpPr txBox="1"/>
          <p:nvPr/>
        </p:nvSpPr>
        <p:spPr>
          <a:xfrm>
            <a:off x="685800" y="1808090"/>
            <a:ext cx="160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1100" b="1">
                <a:solidFill>
                  <a:prstClr val="black"/>
                </a:solidFill>
                <a:latin typeface="Graphik Semibold" panose="020B0703030202060203" pitchFamily="34" charset="0"/>
              </a:rPr>
              <a:t>Developer alone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FC16B-4F19-E6BA-AF0B-9C1966015AD6}"/>
              </a:ext>
            </a:extLst>
          </p:cNvPr>
          <p:cNvSpPr txBox="1"/>
          <p:nvPr/>
        </p:nvSpPr>
        <p:spPr>
          <a:xfrm>
            <a:off x="2514600" y="171718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 defTabSz="1219170"/>
            <a:r>
              <a:rPr sz="2200" b="1">
                <a:solidFill>
                  <a:srgbClr val="6B7280"/>
                </a:solidFill>
                <a:latin typeface="Graphik" panose="020B0503030202060203" pitchFamily="34" charset="0"/>
              </a:rPr>
              <a:t>75</a:t>
            </a:r>
            <a:r>
              <a:rPr sz="900" b="1">
                <a:solidFill>
                  <a:srgbClr val="7B8794"/>
                </a:solidFill>
                <a:latin typeface="Graphik" panose="020B0503030202060203" pitchFamily="34" charset="0"/>
              </a:rPr>
              <a:t> min</a:t>
            </a:r>
            <a:r>
              <a:rPr lang="en-US" sz="900" b="1">
                <a:solidFill>
                  <a:srgbClr val="7B8794"/>
                </a:solidFill>
                <a:latin typeface="Graphik" panose="020B0503030202060203" pitchFamily="34" charset="0"/>
              </a:rPr>
              <a:t>s</a:t>
            </a:r>
            <a:endParaRPr sz="900" b="1">
              <a:solidFill>
                <a:srgbClr val="7B8794"/>
              </a:solidFill>
              <a:latin typeface="Graphik" panose="020B0503030202060203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A854F75-A8B2-BF55-B495-345077EC1274}"/>
              </a:ext>
            </a:extLst>
          </p:cNvPr>
          <p:cNvSpPr/>
          <p:nvPr/>
        </p:nvSpPr>
        <p:spPr>
          <a:xfrm>
            <a:off x="3562351" y="1503291"/>
            <a:ext cx="2895600" cy="3817352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F8F0FF"/>
              </a:gs>
              <a:gs pos="100000">
                <a:srgbClr val="FFFFFF"/>
              </a:gs>
            </a:gsLst>
            <a:lin ang="10800000" scaled="0"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4FF939-CA0B-EBA0-0E0B-4901E593C0F3}"/>
              </a:ext>
            </a:extLst>
          </p:cNvPr>
          <p:cNvSpPr txBox="1"/>
          <p:nvPr/>
        </p:nvSpPr>
        <p:spPr>
          <a:xfrm>
            <a:off x="3714751" y="1655691"/>
            <a:ext cx="2590800" cy="115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lang="en-US" sz="751" b="1" spc="151">
                <a:solidFill>
                  <a:srgbClr val="8350A8"/>
                </a:solidFill>
                <a:latin typeface="Graphik Semibold" panose="020B0703030202060203" pitchFamily="34" charset="0"/>
              </a:rPr>
              <a:t>OPTION 2: VIBE CODING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B1F20-AFDD-C18F-FACE-67AD45FF5F16}"/>
              </a:ext>
            </a:extLst>
          </p:cNvPr>
          <p:cNvSpPr txBox="1"/>
          <p:nvPr/>
        </p:nvSpPr>
        <p:spPr>
          <a:xfrm>
            <a:off x="3714751" y="1808090"/>
            <a:ext cx="1828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1100" b="1">
                <a:solidFill>
                  <a:prstClr val="black"/>
                </a:solidFill>
                <a:latin typeface="Graphik Semibold" panose="020B0703030202060203" pitchFamily="34" charset="0"/>
              </a:rPr>
              <a:t>Dev + Claude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F870E8-644F-8583-6C2A-51C3D349C460}"/>
              </a:ext>
            </a:extLst>
          </p:cNvPr>
          <p:cNvSpPr txBox="1"/>
          <p:nvPr/>
        </p:nvSpPr>
        <p:spPr>
          <a:xfrm>
            <a:off x="5543551" y="171718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 defTabSz="1219170"/>
            <a:r>
              <a:rPr lang="en-US" sz="2200" b="1">
                <a:solidFill>
                  <a:srgbClr val="8350A8"/>
                </a:solidFill>
                <a:latin typeface="Graphik" panose="020B0503030202060203" pitchFamily="34" charset="0"/>
              </a:rPr>
              <a:t>40</a:t>
            </a:r>
            <a:r>
              <a:rPr sz="900" b="1">
                <a:solidFill>
                  <a:srgbClr val="7B8794"/>
                </a:solidFill>
                <a:latin typeface="Graphik" panose="020B0503030202060203" pitchFamily="34" charset="0"/>
              </a:rPr>
              <a:t> min</a:t>
            </a:r>
            <a:r>
              <a:rPr lang="en-US" sz="900" b="1">
                <a:solidFill>
                  <a:srgbClr val="7B8794"/>
                </a:solidFill>
                <a:latin typeface="Graphik" panose="020B0503030202060203" pitchFamily="34" charset="0"/>
              </a:rPr>
              <a:t>s</a:t>
            </a:r>
            <a:endParaRPr sz="900" b="1">
              <a:solidFill>
                <a:srgbClr val="7B8794"/>
              </a:solidFill>
              <a:latin typeface="Graphik" panose="020B0503030202060203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FA95411-14CD-A606-42DB-577B9AD98C30}"/>
              </a:ext>
            </a:extLst>
          </p:cNvPr>
          <p:cNvSpPr/>
          <p:nvPr/>
        </p:nvSpPr>
        <p:spPr>
          <a:xfrm>
            <a:off x="6591301" y="1503291"/>
            <a:ext cx="5067300" cy="3817352"/>
          </a:xfrm>
          <a:prstGeom prst="roundRect">
            <a:avLst>
              <a:gd name="adj" fmla="val 2608"/>
            </a:avLst>
          </a:prstGeom>
          <a:gradFill flip="none" rotWithShape="1">
            <a:gsLst>
              <a:gs pos="0">
                <a:srgbClr val="F0E5F8"/>
              </a:gs>
              <a:gs pos="100000">
                <a:srgbClr val="FFFFFF"/>
              </a:gs>
            </a:gsLst>
            <a:lin ang="10800000" scaled="0"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3BB9C0-630E-C394-036A-044A95D5F986}"/>
              </a:ext>
            </a:extLst>
          </p:cNvPr>
          <p:cNvSpPr txBox="1"/>
          <p:nvPr/>
        </p:nvSpPr>
        <p:spPr>
          <a:xfrm>
            <a:off x="6743701" y="1655691"/>
            <a:ext cx="4762500" cy="115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lang="en-US" sz="751" b="1" spc="151">
                <a:solidFill>
                  <a:srgbClr val="460073"/>
                </a:solidFill>
                <a:latin typeface="Graphik Semibold" panose="020B0703030202060203" pitchFamily="34" charset="0"/>
              </a:rPr>
              <a:t>OPTION 3: AGENTIC WORKFLOW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472C6A-B2FA-0B6C-DA97-73CE3BACE84B}"/>
              </a:ext>
            </a:extLst>
          </p:cNvPr>
          <p:cNvSpPr txBox="1"/>
          <p:nvPr/>
        </p:nvSpPr>
        <p:spPr>
          <a:xfrm>
            <a:off x="6743701" y="1808090"/>
            <a:ext cx="295275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1100" b="1">
                <a:solidFill>
                  <a:prstClr val="black"/>
                </a:solidFill>
                <a:latin typeface="Graphik Semibold" panose="020B0703030202060203" pitchFamily="34" charset="0"/>
              </a:rPr>
              <a:t>Purpose-built RCA multi-agent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6E0722-CC26-3E04-098E-9A2DFF4AA246}"/>
              </a:ext>
            </a:extLst>
          </p:cNvPr>
          <p:cNvSpPr txBox="1"/>
          <p:nvPr/>
        </p:nvSpPr>
        <p:spPr>
          <a:xfrm>
            <a:off x="10744200" y="1717186"/>
            <a:ext cx="762000" cy="33855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 defTabSz="1219170"/>
            <a:r>
              <a:rPr lang="en-US" sz="2200" b="1">
                <a:solidFill>
                  <a:srgbClr val="460073"/>
                </a:solidFill>
                <a:latin typeface="Graphik" panose="020B0503030202060203" pitchFamily="34" charset="0"/>
              </a:rPr>
              <a:t>5</a:t>
            </a:r>
            <a:r>
              <a:rPr sz="900" b="1">
                <a:solidFill>
                  <a:srgbClr val="7B8794"/>
                </a:solidFill>
                <a:latin typeface="Graphik" panose="020B0503030202060203" pitchFamily="34" charset="0"/>
              </a:rPr>
              <a:t> min</a:t>
            </a:r>
            <a:r>
              <a:rPr lang="en-US" sz="900" b="1">
                <a:solidFill>
                  <a:srgbClr val="7B8794"/>
                </a:solidFill>
                <a:latin typeface="Graphik" panose="020B0503030202060203" pitchFamily="34" charset="0"/>
              </a:rPr>
              <a:t>s</a:t>
            </a:r>
            <a:r>
              <a:rPr sz="900" b="1">
                <a:solidFill>
                  <a:srgbClr val="7B8794"/>
                </a:solidFill>
                <a:latin typeface="Graphik" panose="020B0503030202060203" pitchFamily="34" charset="0"/>
              </a:rPr>
              <a:t> dev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9AB6A06-4AC9-A401-419F-6838CC3ECB64}"/>
              </a:ext>
            </a:extLst>
          </p:cNvPr>
          <p:cNvGrpSpPr/>
          <p:nvPr/>
        </p:nvGrpSpPr>
        <p:grpSpPr>
          <a:xfrm>
            <a:off x="6743700" y="2157340"/>
            <a:ext cx="1085851" cy="171451"/>
            <a:chOff x="6743700" y="1485900"/>
            <a:chExt cx="1085850" cy="17145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CAC3F81-7B1B-0EFF-DE73-C834EC70B07A}"/>
                </a:ext>
              </a:extLst>
            </p:cNvPr>
            <p:cNvSpPr/>
            <p:nvPr/>
          </p:nvSpPr>
          <p:spPr>
            <a:xfrm>
              <a:off x="6743700" y="1485900"/>
              <a:ext cx="1085850" cy="171450"/>
            </a:xfrm>
            <a:prstGeom prst="roundRect">
              <a:avLst>
                <a:gd name="adj" fmla="val 22222"/>
              </a:avLst>
            </a:prstGeom>
            <a:solidFill>
              <a:srgbClr val="F0E5F8"/>
            </a:solidFill>
            <a:ln w="9525">
              <a:solidFill>
                <a:srgbClr val="E8D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20A948-8DD8-C956-E364-1ADB5F40455C}"/>
                </a:ext>
              </a:extLst>
            </p:cNvPr>
            <p:cNvSpPr txBox="1"/>
            <p:nvPr/>
          </p:nvSpPr>
          <p:spPr>
            <a:xfrm>
              <a:off x="6743700" y="1513853"/>
              <a:ext cx="1085850" cy="115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defTabSz="1219170"/>
              <a:r>
                <a:rPr sz="751" b="1" spc="40">
                  <a:solidFill>
                    <a:srgbClr val="460073"/>
                  </a:solidFill>
                  <a:latin typeface="Graphik Semibold" panose="020B0703030202060203" pitchFamily="34" charset="0"/>
                </a:rPr>
                <a:t>Auto-Triggered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862A1AE-22A9-B913-D26F-32B081F4C7A4}"/>
              </a:ext>
            </a:extLst>
          </p:cNvPr>
          <p:cNvGrpSpPr/>
          <p:nvPr/>
        </p:nvGrpSpPr>
        <p:grpSpPr>
          <a:xfrm>
            <a:off x="7902673" y="2157342"/>
            <a:ext cx="1121915" cy="171451"/>
            <a:chOff x="7867650" y="1485900"/>
            <a:chExt cx="1352550" cy="17145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FA88CF69-0B33-F37E-8A26-8B8D62D7E454}"/>
                </a:ext>
              </a:extLst>
            </p:cNvPr>
            <p:cNvSpPr/>
            <p:nvPr/>
          </p:nvSpPr>
          <p:spPr>
            <a:xfrm>
              <a:off x="7867650" y="1485900"/>
              <a:ext cx="1352550" cy="171450"/>
            </a:xfrm>
            <a:prstGeom prst="roundRect">
              <a:avLst>
                <a:gd name="adj" fmla="val 22222"/>
              </a:avLst>
            </a:prstGeom>
            <a:solidFill>
              <a:srgbClr val="F0E5F8"/>
            </a:solidFill>
            <a:ln w="9525">
              <a:solidFill>
                <a:srgbClr val="E8D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74AA01-40D7-66F7-BB98-CB70826E5F5C}"/>
                </a:ext>
              </a:extLst>
            </p:cNvPr>
            <p:cNvSpPr txBox="1"/>
            <p:nvPr/>
          </p:nvSpPr>
          <p:spPr>
            <a:xfrm>
              <a:off x="7867650" y="1513852"/>
              <a:ext cx="1352550" cy="115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defTabSz="1219170"/>
              <a:r>
                <a:rPr sz="751" b="1" spc="40">
                  <a:solidFill>
                    <a:srgbClr val="460073"/>
                  </a:solidFill>
                  <a:latin typeface="Graphik Semibold" panose="020B0703030202060203" pitchFamily="34" charset="0"/>
                </a:rPr>
                <a:t>Engineered Context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8005A15-2873-CA4A-AC08-8FAC5D102771}"/>
              </a:ext>
            </a:extLst>
          </p:cNvPr>
          <p:cNvGrpSpPr/>
          <p:nvPr/>
        </p:nvGrpSpPr>
        <p:grpSpPr>
          <a:xfrm>
            <a:off x="9097711" y="2157342"/>
            <a:ext cx="1092200" cy="171451"/>
            <a:chOff x="9258300" y="1485900"/>
            <a:chExt cx="1352550" cy="171450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0C9BE60-6ED9-0ABF-A8F2-D45DBEEF089B}"/>
                </a:ext>
              </a:extLst>
            </p:cNvPr>
            <p:cNvSpPr/>
            <p:nvPr/>
          </p:nvSpPr>
          <p:spPr>
            <a:xfrm>
              <a:off x="9258300" y="1485900"/>
              <a:ext cx="1352550" cy="171450"/>
            </a:xfrm>
            <a:prstGeom prst="roundRect">
              <a:avLst>
                <a:gd name="adj" fmla="val 22222"/>
              </a:avLst>
            </a:prstGeom>
            <a:solidFill>
              <a:srgbClr val="F0E5F8"/>
            </a:solidFill>
            <a:ln w="9525">
              <a:solidFill>
                <a:srgbClr val="E8D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560697-1054-BF5D-A0F7-F2C7E0A8D79B}"/>
                </a:ext>
              </a:extLst>
            </p:cNvPr>
            <p:cNvSpPr txBox="1"/>
            <p:nvPr/>
          </p:nvSpPr>
          <p:spPr>
            <a:xfrm>
              <a:off x="9258300" y="1513852"/>
              <a:ext cx="1352550" cy="115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defTabSz="1219170"/>
              <a:r>
                <a:rPr sz="751" b="1" spc="40">
                  <a:solidFill>
                    <a:srgbClr val="460073"/>
                  </a:solidFill>
                  <a:latin typeface="Graphik Semibold" panose="020B0703030202060203" pitchFamily="34" charset="0"/>
                </a:rPr>
                <a:t>Specialised Agents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ED87B33-4592-3F29-4E8C-EF2EDD26C7C0}"/>
              </a:ext>
            </a:extLst>
          </p:cNvPr>
          <p:cNvGrpSpPr/>
          <p:nvPr/>
        </p:nvGrpSpPr>
        <p:grpSpPr>
          <a:xfrm>
            <a:off x="10263034" y="2157342"/>
            <a:ext cx="1190933" cy="171451"/>
            <a:chOff x="6743700" y="1695450"/>
            <a:chExt cx="1419225" cy="171450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E4669F68-CB92-B9EC-2055-74EFFA6772A3}"/>
                </a:ext>
              </a:extLst>
            </p:cNvPr>
            <p:cNvSpPr/>
            <p:nvPr/>
          </p:nvSpPr>
          <p:spPr>
            <a:xfrm>
              <a:off x="6743700" y="1695450"/>
              <a:ext cx="1419225" cy="171450"/>
            </a:xfrm>
            <a:prstGeom prst="roundRect">
              <a:avLst>
                <a:gd name="adj" fmla="val 22222"/>
              </a:avLst>
            </a:prstGeom>
            <a:solidFill>
              <a:srgbClr val="F0E5F8"/>
            </a:solidFill>
            <a:ln w="9525">
              <a:solidFill>
                <a:srgbClr val="E8D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233ECA9-D201-6E78-6248-F5C61797BAF4}"/>
                </a:ext>
              </a:extLst>
            </p:cNvPr>
            <p:cNvSpPr txBox="1"/>
            <p:nvPr/>
          </p:nvSpPr>
          <p:spPr>
            <a:xfrm>
              <a:off x="6743700" y="1723402"/>
              <a:ext cx="1419225" cy="115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defTabSz="1219170"/>
              <a:r>
                <a:rPr sz="751" b="1" spc="40">
                  <a:solidFill>
                    <a:srgbClr val="460073"/>
                  </a:solidFill>
                  <a:latin typeface="Graphik Semibold" panose="020B0703030202060203" pitchFamily="34" charset="0"/>
                </a:rPr>
                <a:t>Built-in Guardrails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6074C07-4006-032B-6021-E86E2C21EDCD}"/>
              </a:ext>
            </a:extLst>
          </p:cNvPr>
          <p:cNvSpPr/>
          <p:nvPr/>
        </p:nvSpPr>
        <p:spPr>
          <a:xfrm>
            <a:off x="666751" y="2150990"/>
            <a:ext cx="2628900" cy="361951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EA295B-42B0-9112-1870-9401070895AB}"/>
              </a:ext>
            </a:extLst>
          </p:cNvPr>
          <p:cNvSpPr txBox="1"/>
          <p:nvPr/>
        </p:nvSpPr>
        <p:spPr>
          <a:xfrm>
            <a:off x="1066801" y="2198615"/>
            <a:ext cx="1562100" cy="146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951" b="1">
                <a:solidFill>
                  <a:prstClr val="black"/>
                </a:solidFill>
                <a:latin typeface="Graphik Semibold" panose="020B0703030202060203" pitchFamily="34" charset="0"/>
              </a:rPr>
              <a:t>Read bug report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4918EE-3641-89FF-78A4-BCCF27D5266D}"/>
              </a:ext>
            </a:extLst>
          </p:cNvPr>
          <p:cNvSpPr txBox="1"/>
          <p:nvPr/>
        </p:nvSpPr>
        <p:spPr>
          <a:xfrm>
            <a:off x="1066801" y="2331966"/>
            <a:ext cx="1562100" cy="13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851">
                <a:solidFill>
                  <a:srgbClr val="7B8794"/>
                </a:solidFill>
                <a:latin typeface="Graphik" panose="020B0503030202060203" pitchFamily="34" charset="0"/>
              </a:rPr>
              <a:t>Pick up the QA ticket.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4AC01E2-5CEB-E50D-1892-091F8A612B28}"/>
              </a:ext>
            </a:extLst>
          </p:cNvPr>
          <p:cNvSpPr/>
          <p:nvPr/>
        </p:nvSpPr>
        <p:spPr>
          <a:xfrm>
            <a:off x="2762249" y="2246240"/>
            <a:ext cx="476251" cy="171451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C7DCD0-4BFA-B261-6F62-959CADBE8371}"/>
              </a:ext>
            </a:extLst>
          </p:cNvPr>
          <p:cNvSpPr txBox="1"/>
          <p:nvPr/>
        </p:nvSpPr>
        <p:spPr>
          <a:xfrm>
            <a:off x="2762249" y="2262717"/>
            <a:ext cx="4762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1219170"/>
            <a:r>
              <a:rPr sz="900" b="1">
                <a:solidFill>
                  <a:srgbClr val="6B7280"/>
                </a:solidFill>
                <a:latin typeface="Graphik Semibold" panose="020B0703030202060203" pitchFamily="34" charset="0"/>
              </a:rPr>
              <a:t>5 min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9B6A24A-822D-8D24-4477-005EED0CC6EB}"/>
              </a:ext>
            </a:extLst>
          </p:cNvPr>
          <p:cNvSpPr/>
          <p:nvPr/>
        </p:nvSpPr>
        <p:spPr>
          <a:xfrm>
            <a:off x="666751" y="2589141"/>
            <a:ext cx="2628900" cy="361951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36092D-5969-67D0-7BEA-60B72E784BF6}"/>
              </a:ext>
            </a:extLst>
          </p:cNvPr>
          <p:cNvSpPr txBox="1"/>
          <p:nvPr/>
        </p:nvSpPr>
        <p:spPr>
          <a:xfrm>
            <a:off x="1066801" y="2636765"/>
            <a:ext cx="1562100" cy="146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951" b="1">
                <a:solidFill>
                  <a:prstClr val="black"/>
                </a:solidFill>
                <a:latin typeface="Graphik Semibold" panose="020B0703030202060203" pitchFamily="34" charset="0"/>
              </a:rPr>
              <a:t>Investigate codebase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5A8643-F463-A2CE-9F15-037A352B495D}"/>
              </a:ext>
            </a:extLst>
          </p:cNvPr>
          <p:cNvSpPr txBox="1"/>
          <p:nvPr/>
        </p:nvSpPr>
        <p:spPr>
          <a:xfrm>
            <a:off x="1066801" y="2770115"/>
            <a:ext cx="1562100" cy="13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851">
                <a:solidFill>
                  <a:srgbClr val="7B8794"/>
                </a:solidFill>
                <a:latin typeface="Graphik" panose="020B0503030202060203" pitchFamily="34" charset="0"/>
              </a:rPr>
              <a:t>Hunts the cause across files.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3BCAF59-6326-CF28-DD7D-A8EA43A59859}"/>
              </a:ext>
            </a:extLst>
          </p:cNvPr>
          <p:cNvSpPr/>
          <p:nvPr/>
        </p:nvSpPr>
        <p:spPr>
          <a:xfrm>
            <a:off x="2762249" y="2684389"/>
            <a:ext cx="476251" cy="171451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47C479-BCCE-2376-3006-D280814CA39E}"/>
              </a:ext>
            </a:extLst>
          </p:cNvPr>
          <p:cNvSpPr txBox="1"/>
          <p:nvPr/>
        </p:nvSpPr>
        <p:spPr>
          <a:xfrm>
            <a:off x="2762249" y="2700866"/>
            <a:ext cx="4762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1219170"/>
            <a:r>
              <a:rPr sz="900" b="1">
                <a:solidFill>
                  <a:srgbClr val="6B7280"/>
                </a:solidFill>
                <a:latin typeface="Graphik Semibold" panose="020B0703030202060203" pitchFamily="34" charset="0"/>
              </a:rPr>
              <a:t>45 min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E207DA3-3C87-C732-4D1E-4CA5F5880C93}"/>
              </a:ext>
            </a:extLst>
          </p:cNvPr>
          <p:cNvSpPr/>
          <p:nvPr/>
        </p:nvSpPr>
        <p:spPr>
          <a:xfrm>
            <a:off x="666751" y="3027290"/>
            <a:ext cx="2628900" cy="361951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ECD211-72DC-48CC-0E37-0CCE49E80EE6}"/>
              </a:ext>
            </a:extLst>
          </p:cNvPr>
          <p:cNvSpPr txBox="1"/>
          <p:nvPr/>
        </p:nvSpPr>
        <p:spPr>
          <a:xfrm>
            <a:off x="1066801" y="3074915"/>
            <a:ext cx="1562100" cy="146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951" b="1">
                <a:solidFill>
                  <a:prstClr val="black"/>
                </a:solidFill>
                <a:latin typeface="Graphik Semibold" panose="020B0703030202060203" pitchFamily="34" charset="0"/>
              </a:rPr>
              <a:t>Write the fix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3501F1-9937-3E4C-FD6A-1F80B0E71F8C}"/>
              </a:ext>
            </a:extLst>
          </p:cNvPr>
          <p:cNvSpPr txBox="1"/>
          <p:nvPr/>
        </p:nvSpPr>
        <p:spPr>
          <a:xfrm>
            <a:off x="1066801" y="3208266"/>
            <a:ext cx="1562100" cy="13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851">
                <a:solidFill>
                  <a:srgbClr val="7B8794"/>
                </a:solidFill>
                <a:latin typeface="Graphik" panose="020B0503030202060203" pitchFamily="34" charset="0"/>
              </a:rPr>
              <a:t>Makes the code change.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050340F-279B-1246-5066-65DF463E706E}"/>
              </a:ext>
            </a:extLst>
          </p:cNvPr>
          <p:cNvSpPr/>
          <p:nvPr/>
        </p:nvSpPr>
        <p:spPr>
          <a:xfrm>
            <a:off x="2762249" y="3122540"/>
            <a:ext cx="476251" cy="171451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2556FB-7C0E-D614-E0FD-03091456C1F1}"/>
              </a:ext>
            </a:extLst>
          </p:cNvPr>
          <p:cNvSpPr txBox="1"/>
          <p:nvPr/>
        </p:nvSpPr>
        <p:spPr>
          <a:xfrm>
            <a:off x="2762249" y="3139017"/>
            <a:ext cx="4762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1219170"/>
            <a:r>
              <a:rPr sz="900" b="1">
                <a:solidFill>
                  <a:srgbClr val="6B7280"/>
                </a:solidFill>
                <a:latin typeface="Graphik Semibold" panose="020B0703030202060203" pitchFamily="34" charset="0"/>
              </a:rPr>
              <a:t>15 min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ED074E9-CBB3-CD69-1389-536160C72185}"/>
              </a:ext>
            </a:extLst>
          </p:cNvPr>
          <p:cNvSpPr/>
          <p:nvPr/>
        </p:nvSpPr>
        <p:spPr>
          <a:xfrm>
            <a:off x="666751" y="3465441"/>
            <a:ext cx="2628900" cy="361951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7F37CE-E2D7-FF59-2940-85452379E3A5}"/>
              </a:ext>
            </a:extLst>
          </p:cNvPr>
          <p:cNvSpPr txBox="1"/>
          <p:nvPr/>
        </p:nvSpPr>
        <p:spPr>
          <a:xfrm>
            <a:off x="1066801" y="3513065"/>
            <a:ext cx="1562100" cy="146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951" b="1">
                <a:solidFill>
                  <a:prstClr val="black"/>
                </a:solidFill>
                <a:latin typeface="Graphik Semibold" panose="020B0703030202060203" pitchFamily="34" charset="0"/>
              </a:rPr>
              <a:t>Test the fix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76B6BA-55DB-DCB5-FDF8-68C739AF76DF}"/>
              </a:ext>
            </a:extLst>
          </p:cNvPr>
          <p:cNvSpPr txBox="1"/>
          <p:nvPr/>
        </p:nvSpPr>
        <p:spPr>
          <a:xfrm>
            <a:off x="1066801" y="3646416"/>
            <a:ext cx="1562100" cy="13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851">
                <a:solidFill>
                  <a:srgbClr val="7B8794"/>
                </a:solidFill>
                <a:latin typeface="Graphik" panose="020B0503030202060203" pitchFamily="34" charset="0"/>
              </a:rPr>
              <a:t>Runs tests to confirm.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16775BC-42AB-FBE1-E723-D919482788A1}"/>
              </a:ext>
            </a:extLst>
          </p:cNvPr>
          <p:cNvSpPr/>
          <p:nvPr/>
        </p:nvSpPr>
        <p:spPr>
          <a:xfrm>
            <a:off x="2762249" y="3560689"/>
            <a:ext cx="476251" cy="171451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589745-3963-262F-7B5C-AD9FAC900155}"/>
              </a:ext>
            </a:extLst>
          </p:cNvPr>
          <p:cNvSpPr txBox="1"/>
          <p:nvPr/>
        </p:nvSpPr>
        <p:spPr>
          <a:xfrm>
            <a:off x="2762249" y="3577166"/>
            <a:ext cx="4762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1219170"/>
            <a:r>
              <a:rPr sz="900" b="1">
                <a:solidFill>
                  <a:srgbClr val="6B7280"/>
                </a:solidFill>
                <a:latin typeface="Graphik Semibold" panose="020B0703030202060203" pitchFamily="34" charset="0"/>
              </a:rPr>
              <a:t>10 min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B573D3A-A067-29D7-1036-ADD5D690A912}"/>
              </a:ext>
            </a:extLst>
          </p:cNvPr>
          <p:cNvSpPr/>
          <p:nvPr/>
        </p:nvSpPr>
        <p:spPr>
          <a:xfrm>
            <a:off x="3695701" y="2150990"/>
            <a:ext cx="2628900" cy="361951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A53B5C-1378-AC91-F926-C9E61FEF2DFB}"/>
              </a:ext>
            </a:extLst>
          </p:cNvPr>
          <p:cNvSpPr txBox="1"/>
          <p:nvPr/>
        </p:nvSpPr>
        <p:spPr>
          <a:xfrm>
            <a:off x="4095751" y="2198615"/>
            <a:ext cx="1562100" cy="146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951" b="1">
                <a:solidFill>
                  <a:prstClr val="black"/>
                </a:solidFill>
                <a:latin typeface="Graphik Semibold" panose="020B0703030202060203" pitchFamily="34" charset="0"/>
              </a:rPr>
              <a:t>Read bug report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B20DF8-3FC5-59BC-AB78-18E6365600F8}"/>
              </a:ext>
            </a:extLst>
          </p:cNvPr>
          <p:cNvSpPr txBox="1"/>
          <p:nvPr/>
        </p:nvSpPr>
        <p:spPr>
          <a:xfrm>
            <a:off x="4095751" y="2331966"/>
            <a:ext cx="1562100" cy="13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851">
                <a:solidFill>
                  <a:srgbClr val="7B8794"/>
                </a:solidFill>
                <a:latin typeface="Graphik" panose="020B0503030202060203" pitchFamily="34" charset="0"/>
              </a:rPr>
              <a:t>Pick up the QA ticket.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12931F1-B555-EA64-B0DA-07F5D28C0660}"/>
              </a:ext>
            </a:extLst>
          </p:cNvPr>
          <p:cNvSpPr/>
          <p:nvPr/>
        </p:nvSpPr>
        <p:spPr>
          <a:xfrm>
            <a:off x="5791200" y="2246240"/>
            <a:ext cx="476251" cy="171451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A4BB43-26AD-7123-CF27-454B5C7A0FA5}"/>
              </a:ext>
            </a:extLst>
          </p:cNvPr>
          <p:cNvSpPr txBox="1"/>
          <p:nvPr/>
        </p:nvSpPr>
        <p:spPr>
          <a:xfrm>
            <a:off x="5791200" y="2262717"/>
            <a:ext cx="4762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1219170"/>
            <a:r>
              <a:rPr lang="en-US" sz="900" b="1">
                <a:solidFill>
                  <a:srgbClr val="8350A8"/>
                </a:solidFill>
                <a:latin typeface="Graphik Semibold" panose="020B0703030202060203" pitchFamily="34" charset="0"/>
              </a:rPr>
              <a:t>3 min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550739E-92CE-9564-D073-3383ACC6B99B}"/>
              </a:ext>
            </a:extLst>
          </p:cNvPr>
          <p:cNvSpPr/>
          <p:nvPr/>
        </p:nvSpPr>
        <p:spPr>
          <a:xfrm>
            <a:off x="3695701" y="2581520"/>
            <a:ext cx="2628900" cy="511403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F49BDD-997B-6BFF-99E0-E7125121B86C}"/>
              </a:ext>
            </a:extLst>
          </p:cNvPr>
          <p:cNvSpPr txBox="1"/>
          <p:nvPr/>
        </p:nvSpPr>
        <p:spPr>
          <a:xfrm>
            <a:off x="4095751" y="2636765"/>
            <a:ext cx="1562100" cy="146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951" b="1">
                <a:solidFill>
                  <a:prstClr val="black"/>
                </a:solidFill>
                <a:latin typeface="Graphik Semibold" panose="020B0703030202060203" pitchFamily="34" charset="0"/>
              </a:rPr>
              <a:t>Prompt &amp; investigate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D43F47-7553-6C32-2549-C86BED65246A}"/>
              </a:ext>
            </a:extLst>
          </p:cNvPr>
          <p:cNvSpPr txBox="1"/>
          <p:nvPr/>
        </p:nvSpPr>
        <p:spPr>
          <a:xfrm>
            <a:off x="4095751" y="2770115"/>
            <a:ext cx="1562100" cy="261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851">
                <a:solidFill>
                  <a:srgbClr val="7B8794"/>
                </a:solidFill>
                <a:latin typeface="Graphik" panose="020B0503030202060203" pitchFamily="34" charset="0"/>
              </a:rPr>
              <a:t>Dev guides the AI turn by turn.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1E902FA-8B6C-8FC1-F96F-103511C0BC86}"/>
              </a:ext>
            </a:extLst>
          </p:cNvPr>
          <p:cNvSpPr/>
          <p:nvPr/>
        </p:nvSpPr>
        <p:spPr>
          <a:xfrm>
            <a:off x="5791200" y="2684389"/>
            <a:ext cx="476251" cy="171451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00CDF4-FD86-1120-ED80-945A6336B357}"/>
              </a:ext>
            </a:extLst>
          </p:cNvPr>
          <p:cNvSpPr txBox="1"/>
          <p:nvPr/>
        </p:nvSpPr>
        <p:spPr>
          <a:xfrm>
            <a:off x="5791200" y="2700866"/>
            <a:ext cx="4762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1219170"/>
            <a:r>
              <a:rPr lang="en-US" sz="900" b="1">
                <a:solidFill>
                  <a:srgbClr val="8350A8"/>
                </a:solidFill>
                <a:latin typeface="Graphik Semibold" panose="020B0703030202060203" pitchFamily="34" charset="0"/>
              </a:rPr>
              <a:t>25 min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BB7D693-BB6F-8096-9EC2-A595E2E3C475}"/>
              </a:ext>
            </a:extLst>
          </p:cNvPr>
          <p:cNvGrpSpPr/>
          <p:nvPr/>
        </p:nvGrpSpPr>
        <p:grpSpPr>
          <a:xfrm>
            <a:off x="3695701" y="4919591"/>
            <a:ext cx="2628900" cy="304800"/>
            <a:chOff x="3695700" y="3276600"/>
            <a:chExt cx="2628900" cy="3048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27D8C97B-0962-03E5-DD7E-36682BE2E6DD}"/>
                </a:ext>
              </a:extLst>
            </p:cNvPr>
            <p:cNvSpPr/>
            <p:nvPr/>
          </p:nvSpPr>
          <p:spPr>
            <a:xfrm>
              <a:off x="3695700" y="3276600"/>
              <a:ext cx="2628900" cy="304800"/>
            </a:xfrm>
            <a:prstGeom prst="roundRect">
              <a:avLst>
                <a:gd name="adj" fmla="val 12500"/>
              </a:avLst>
            </a:prstGeom>
            <a:solidFill>
              <a:srgbClr val="F8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E336AE6-1A7D-645A-E4AE-426E3CEE26D4}"/>
                </a:ext>
              </a:extLst>
            </p:cNvPr>
            <p:cNvSpPr txBox="1"/>
            <p:nvPr/>
          </p:nvSpPr>
          <p:spPr>
            <a:xfrm>
              <a:off x="3771900" y="3314697"/>
              <a:ext cx="2495551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sz="800" b="1">
                  <a:solidFill>
                    <a:srgbClr val="44546A"/>
                  </a:solidFill>
                  <a:latin typeface="Graphik" panose="020B0503030202060203" pitchFamily="34" charset="0"/>
                </a:rPr>
                <a:t>The catch: </a:t>
              </a:r>
              <a:r>
                <a:rPr sz="800">
                  <a:solidFill>
                    <a:srgbClr val="44546A"/>
                  </a:solidFill>
                  <a:latin typeface="Graphik" panose="020B0503030202060203" pitchFamily="34" charset="0"/>
                </a:rPr>
                <a:t>dev prompts ad-hoc, AI has no structure. On large repos it wanders and stalls.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71665FE-788F-9ABD-0363-A0578CDBB7F6}"/>
              </a:ext>
            </a:extLst>
          </p:cNvPr>
          <p:cNvGrpSpPr/>
          <p:nvPr/>
        </p:nvGrpSpPr>
        <p:grpSpPr>
          <a:xfrm>
            <a:off x="6724651" y="2514493"/>
            <a:ext cx="4800600" cy="361951"/>
            <a:chOff x="6762750" y="4681954"/>
            <a:chExt cx="4800600" cy="361950"/>
          </a:xfrm>
        </p:grpSpPr>
        <p:sp>
          <p:nvSpPr>
            <p:cNvPr id="172" name="Rounded Rectangle 121">
              <a:extLst>
                <a:ext uri="{FF2B5EF4-FFF2-40B4-BE49-F238E27FC236}">
                  <a16:creationId xmlns:a16="http://schemas.microsoft.com/office/drawing/2014/main" id="{115610E0-20B8-EAC2-38B0-C6C7B075354F}"/>
                </a:ext>
              </a:extLst>
            </p:cNvPr>
            <p:cNvSpPr/>
            <p:nvPr/>
          </p:nvSpPr>
          <p:spPr>
            <a:xfrm>
              <a:off x="6762750" y="4681954"/>
              <a:ext cx="48006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CA1208CC-6D98-BD02-67CA-565DC6A06717}"/>
                </a:ext>
              </a:extLst>
            </p:cNvPr>
            <p:cNvSpPr txBox="1"/>
            <p:nvPr/>
          </p:nvSpPr>
          <p:spPr>
            <a:xfrm>
              <a:off x="7162801" y="4729579"/>
              <a:ext cx="3733800" cy="1463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lang="en-US" sz="951" b="1">
                  <a:solidFill>
                    <a:prstClr val="black"/>
                  </a:solidFill>
                  <a:latin typeface="Graphik Semibold" panose="020B0703030202060203" pitchFamily="34" charset="0"/>
                </a:rPr>
                <a:t>Hand bug to the agent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9F3E0B51-42F6-BBE4-020E-F9654A57FFAE}"/>
                </a:ext>
              </a:extLst>
            </p:cNvPr>
            <p:cNvSpPr txBox="1"/>
            <p:nvPr/>
          </p:nvSpPr>
          <p:spPr>
            <a:xfrm>
              <a:off x="7162801" y="4862928"/>
              <a:ext cx="3733800" cy="1309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lang="en-US" sz="851">
                  <a:solidFill>
                    <a:srgbClr val="7B8794"/>
                  </a:solidFill>
                  <a:latin typeface="Graphik" panose="020B0503030202060203" pitchFamily="34" charset="0"/>
                </a:rPr>
                <a:t>QA report dropped into the tool.</a:t>
              </a:r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150E5950-6E26-5B8B-F993-B9BF2C9F18E4}"/>
                </a:ext>
              </a:extLst>
            </p:cNvPr>
            <p:cNvGrpSpPr/>
            <p:nvPr/>
          </p:nvGrpSpPr>
          <p:grpSpPr>
            <a:xfrm>
              <a:off x="10991850" y="4767906"/>
              <a:ext cx="476250" cy="171450"/>
              <a:chOff x="10991850" y="4324350"/>
              <a:chExt cx="476250" cy="171450"/>
            </a:xfrm>
          </p:grpSpPr>
          <p:sp>
            <p:nvSpPr>
              <p:cNvPr id="177" name="Rounded Rectangle 126">
                <a:extLst>
                  <a:ext uri="{FF2B5EF4-FFF2-40B4-BE49-F238E27FC236}">
                    <a16:creationId xmlns:a16="http://schemas.microsoft.com/office/drawing/2014/main" id="{994A194A-1502-26D6-73D6-0E3336C0C16C}"/>
                  </a:ext>
                </a:extLst>
              </p:cNvPr>
              <p:cNvSpPr/>
              <p:nvPr/>
            </p:nvSpPr>
            <p:spPr>
              <a:xfrm>
                <a:off x="10991850" y="432435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F0E5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 defTabSz="1219170"/>
                <a:endParaRPr>
                  <a:solidFill>
                    <a:prstClr val="white"/>
                  </a:solidFill>
                  <a:latin typeface="Graphik Semibold" panose="020B0703030202060203" pitchFamily="34" charset="0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0CD2393-A82E-5D43-31ED-605845E09B59}"/>
                  </a:ext>
                </a:extLst>
              </p:cNvPr>
              <p:cNvSpPr txBox="1"/>
              <p:nvPr/>
            </p:nvSpPr>
            <p:spPr>
              <a:xfrm>
                <a:off x="10991850" y="4328725"/>
                <a:ext cx="476250" cy="13849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1219170"/>
                <a:r>
                  <a:rPr lang="en-US" sz="900" b="1">
                    <a:solidFill>
                      <a:srgbClr val="460073"/>
                    </a:solidFill>
                    <a:latin typeface="Graphik Semibold" panose="020B0703030202060203" pitchFamily="34" charset="0"/>
                  </a:rPr>
                  <a:t>1</a:t>
                </a:r>
                <a:r>
                  <a:rPr sz="900" b="1">
                    <a:solidFill>
                      <a:srgbClr val="460073"/>
                    </a:solidFill>
                    <a:latin typeface="Graphik Semibold" panose="020B0703030202060203" pitchFamily="34" charset="0"/>
                  </a:rPr>
                  <a:t> min</a:t>
                </a:r>
              </a:p>
            </p:txBody>
          </p:sp>
        </p:grpSp>
      </p:grp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0DD6BE40-0F27-7F2F-73E0-F3BAA8730F04}"/>
              </a:ext>
            </a:extLst>
          </p:cNvPr>
          <p:cNvSpPr/>
          <p:nvPr/>
        </p:nvSpPr>
        <p:spPr>
          <a:xfrm>
            <a:off x="6781801" y="298921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CC89431-8768-8899-C551-5D0A8561EA12}"/>
              </a:ext>
            </a:extLst>
          </p:cNvPr>
          <p:cNvSpPr/>
          <p:nvPr/>
        </p:nvSpPr>
        <p:spPr>
          <a:xfrm>
            <a:off x="10991849" y="3017789"/>
            <a:ext cx="476251" cy="171451"/>
          </a:xfrm>
          <a:prstGeom prst="roundRect">
            <a:avLst>
              <a:gd name="adj" fmla="val 27777"/>
            </a:avLst>
          </a:prstGeom>
          <a:solidFill>
            <a:srgbClr val="F0E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1275A93-D8D9-7511-62D5-AE7717D3F349}"/>
              </a:ext>
            </a:extLst>
          </p:cNvPr>
          <p:cNvGrpSpPr/>
          <p:nvPr/>
        </p:nvGrpSpPr>
        <p:grpSpPr>
          <a:xfrm>
            <a:off x="6724651" y="2941590"/>
            <a:ext cx="4800600" cy="1333500"/>
            <a:chOff x="6724650" y="2276499"/>
            <a:chExt cx="4800600" cy="1333500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5654903E-B5E1-56B8-A69C-09831697198B}"/>
                </a:ext>
              </a:extLst>
            </p:cNvPr>
            <p:cNvSpPr/>
            <p:nvPr/>
          </p:nvSpPr>
          <p:spPr>
            <a:xfrm>
              <a:off x="6724650" y="2276499"/>
              <a:ext cx="4800600" cy="1333500"/>
            </a:xfrm>
            <a:prstGeom prst="roundRect">
              <a:avLst>
                <a:gd name="adj" fmla="val 5714"/>
              </a:avLst>
            </a:prstGeom>
            <a:solidFill>
              <a:srgbClr val="F8F0FF"/>
            </a:solidFill>
            <a:ln w="12700">
              <a:solidFill>
                <a:srgbClr val="7030A0">
                  <a:alpha val="28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17D5658-6B91-DD6D-401C-390006F59906}"/>
                </a:ext>
              </a:extLst>
            </p:cNvPr>
            <p:cNvSpPr txBox="1"/>
            <p:nvPr/>
          </p:nvSpPr>
          <p:spPr>
            <a:xfrm>
              <a:off x="7124701" y="2386918"/>
              <a:ext cx="3848100" cy="1463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lang="en-US" sz="951" b="1">
                  <a:solidFill>
                    <a:prstClr val="black"/>
                  </a:solidFill>
                  <a:latin typeface="Graphik Semibold" panose="020B0703030202060203" pitchFamily="34" charset="0"/>
                </a:rPr>
                <a:t>Agent investigates, finds root cause, fixes &amp; tests</a:t>
              </a:r>
              <a:endParaRPr sz="951" b="1">
                <a:solidFill>
                  <a:prstClr val="black"/>
                </a:solidFill>
                <a:latin typeface="Graphik Semibold" panose="020B0703030202060203" pitchFamily="34" charset="0"/>
              </a:endParaRPr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48B69A6C-68D7-830A-6756-815560B56511}"/>
                </a:ext>
              </a:extLst>
            </p:cNvPr>
            <p:cNvGrpSpPr/>
            <p:nvPr/>
          </p:nvGrpSpPr>
          <p:grpSpPr>
            <a:xfrm>
              <a:off x="6851650" y="2682971"/>
              <a:ext cx="4572000" cy="819078"/>
              <a:chOff x="6851650" y="2682971"/>
              <a:chExt cx="4572000" cy="819078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131FC62B-F39E-C176-6203-8734E3614C5B}"/>
                  </a:ext>
                </a:extLst>
              </p:cNvPr>
              <p:cNvGrpSpPr/>
              <p:nvPr/>
            </p:nvGrpSpPr>
            <p:grpSpPr>
              <a:xfrm>
                <a:off x="7658100" y="3104139"/>
                <a:ext cx="2924175" cy="190500"/>
                <a:chOff x="7658100" y="3092450"/>
                <a:chExt cx="2924175" cy="190500"/>
              </a:xfrm>
            </p:grpSpPr>
            <p:sp>
              <p:nvSpPr>
                <p:cNvPr id="109" name="Rounded Rectangle 108">
                  <a:extLst>
                    <a:ext uri="{FF2B5EF4-FFF2-40B4-BE49-F238E27FC236}">
                      <a16:creationId xmlns:a16="http://schemas.microsoft.com/office/drawing/2014/main" id="{96D15C28-95D9-0991-4BDA-1740F72BAA33}"/>
                    </a:ext>
                  </a:extLst>
                </p:cNvPr>
                <p:cNvSpPr/>
                <p:nvPr/>
              </p:nvSpPr>
              <p:spPr>
                <a:xfrm>
                  <a:off x="7658100" y="3092450"/>
                  <a:ext cx="2924175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A100FF"/>
                    </a:gs>
                    <a:gs pos="100000">
                      <a:srgbClr val="7030A0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defTabSz="1219170"/>
                  <a:endParaRPr>
                    <a:solidFill>
                      <a:prstClr val="white"/>
                    </a:solidFill>
                    <a:latin typeface="Graphik Semibold" panose="020B0703030202060203" pitchFamily="34" charset="0"/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1F46BF0-8B87-555B-367A-9062204B2C71}"/>
                    </a:ext>
                  </a:extLst>
                </p:cNvPr>
                <p:cNvSpPr txBox="1"/>
                <p:nvPr/>
              </p:nvSpPr>
              <p:spPr>
                <a:xfrm>
                  <a:off x="7753351" y="3122233"/>
                  <a:ext cx="2305050" cy="1309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defTabSz="1219170"/>
                  <a:r>
                    <a:rPr lang="en-US" sz="851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Finds </a:t>
                  </a:r>
                  <a:r>
                    <a:rPr sz="851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Fix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03AC2531-736C-6F99-5AED-2C1132AA5C93}"/>
                    </a:ext>
                  </a:extLst>
                </p:cNvPr>
                <p:cNvSpPr txBox="1"/>
                <p:nvPr/>
              </p:nvSpPr>
              <p:spPr>
                <a:xfrm>
                  <a:off x="8077200" y="3137623"/>
                  <a:ext cx="2409826" cy="1155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 defTabSz="1219170"/>
                  <a:r>
                    <a:rPr lang="en-US" sz="751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writes code change</a:t>
                  </a:r>
                  <a:endParaRPr sz="751" b="1">
                    <a:solidFill>
                      <a:srgbClr val="FFFFFF"/>
                    </a:solidFill>
                    <a:latin typeface="Graphik Semibold" panose="020B0703030202060203" pitchFamily="34" charset="0"/>
                  </a:endParaRPr>
                </a:p>
              </p:txBody>
            </p: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B5A81A1E-B132-1A8F-E75B-473B85F0BC6C}"/>
                  </a:ext>
                </a:extLst>
              </p:cNvPr>
              <p:cNvGrpSpPr/>
              <p:nvPr/>
            </p:nvGrpSpPr>
            <p:grpSpPr>
              <a:xfrm>
                <a:off x="7981950" y="3311549"/>
                <a:ext cx="2286000" cy="190500"/>
                <a:chOff x="7981950" y="3302000"/>
                <a:chExt cx="2286000" cy="190500"/>
              </a:xfrm>
            </p:grpSpPr>
            <p:sp>
              <p:nvSpPr>
                <p:cNvPr id="112" name="Rounded Rectangle 111">
                  <a:extLst>
                    <a:ext uri="{FF2B5EF4-FFF2-40B4-BE49-F238E27FC236}">
                      <a16:creationId xmlns:a16="http://schemas.microsoft.com/office/drawing/2014/main" id="{AB211752-27ED-12F8-8AE8-DC9E2A881F7F}"/>
                    </a:ext>
                  </a:extLst>
                </p:cNvPr>
                <p:cNvSpPr/>
                <p:nvPr/>
              </p:nvSpPr>
              <p:spPr>
                <a:xfrm>
                  <a:off x="7981950" y="3302000"/>
                  <a:ext cx="2286000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7030A0"/>
                    </a:gs>
                    <a:gs pos="100000">
                      <a:srgbClr val="460073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defTabSz="1219170"/>
                  <a:endParaRPr>
                    <a:solidFill>
                      <a:prstClr val="white"/>
                    </a:solidFill>
                    <a:latin typeface="Graphik" panose="020B0503030202060203" pitchFamily="34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ECC3F44-75DD-3DC5-ABD7-447476F9D252}"/>
                    </a:ext>
                  </a:extLst>
                </p:cNvPr>
                <p:cNvSpPr txBox="1"/>
                <p:nvPr/>
              </p:nvSpPr>
              <p:spPr>
                <a:xfrm>
                  <a:off x="8077201" y="3337323"/>
                  <a:ext cx="1619251" cy="1309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defTabSz="1219170"/>
                  <a:r>
                    <a:rPr sz="851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Verify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6F09F3F1-D057-5A72-F015-39E58150163B}"/>
                    </a:ext>
                  </a:extLst>
                </p:cNvPr>
                <p:cNvSpPr txBox="1"/>
                <p:nvPr/>
              </p:nvSpPr>
              <p:spPr>
                <a:xfrm>
                  <a:off x="8426450" y="3343325"/>
                  <a:ext cx="1746251" cy="1155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 defTabSz="1219170"/>
                  <a:r>
                    <a:rPr sz="751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tests pass</a:t>
                  </a:r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EA751C8A-1D86-D9EA-A117-3E21A2BF516D}"/>
                  </a:ext>
                </a:extLst>
              </p:cNvPr>
              <p:cNvGrpSpPr/>
              <p:nvPr/>
            </p:nvGrpSpPr>
            <p:grpSpPr>
              <a:xfrm>
                <a:off x="7343775" y="2896730"/>
                <a:ext cx="3562350" cy="190500"/>
                <a:chOff x="7343775" y="2882900"/>
                <a:chExt cx="3562350" cy="190500"/>
              </a:xfrm>
            </p:grpSpPr>
            <p:sp>
              <p:nvSpPr>
                <p:cNvPr id="106" name="Rounded Rectangle 105">
                  <a:extLst>
                    <a:ext uri="{FF2B5EF4-FFF2-40B4-BE49-F238E27FC236}">
                      <a16:creationId xmlns:a16="http://schemas.microsoft.com/office/drawing/2014/main" id="{2125E53B-0004-3BF8-EBE2-B326C46C9DA7}"/>
                    </a:ext>
                  </a:extLst>
                </p:cNvPr>
                <p:cNvSpPr/>
                <p:nvPr/>
              </p:nvSpPr>
              <p:spPr>
                <a:xfrm>
                  <a:off x="7343775" y="2882900"/>
                  <a:ext cx="3562350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D0B8E8"/>
                    </a:gs>
                    <a:gs pos="100000">
                      <a:srgbClr val="A100FF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defTabSz="1219170"/>
                  <a:endParaRPr>
                    <a:solidFill>
                      <a:prstClr val="white"/>
                    </a:solidFill>
                    <a:latin typeface="Graphik Semibold" panose="020B0703030202060203" pitchFamily="34" charset="0"/>
                  </a:endParaRP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F3B034C3-5395-67DA-EC01-0B5DB4CFF4CC}"/>
                    </a:ext>
                  </a:extLst>
                </p:cNvPr>
                <p:cNvSpPr txBox="1"/>
                <p:nvPr/>
              </p:nvSpPr>
              <p:spPr>
                <a:xfrm>
                  <a:off x="7931150" y="2930912"/>
                  <a:ext cx="2879725" cy="1155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 defTabSz="1219170"/>
                  <a:r>
                    <a:rPr lang="en-US" sz="751" b="1">
                      <a:solidFill>
                        <a:srgbClr val="FFFFFF"/>
                      </a:solidFill>
                      <a:latin typeface="Graphik" panose="020B0503030202060203" pitchFamily="34" charset="0"/>
                    </a:rPr>
                    <a:t>finds root cause</a:t>
                  </a:r>
                  <a:endParaRPr sz="751" b="1">
                    <a:solidFill>
                      <a:srgbClr val="FFFFFF"/>
                    </a:solidFill>
                    <a:latin typeface="Graphik" panose="020B0503030202060203" pitchFamily="34" charset="0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F69A276A-FDCD-2429-9185-556FD2BF9DFF}"/>
                    </a:ext>
                  </a:extLst>
                </p:cNvPr>
                <p:cNvSpPr txBox="1"/>
                <p:nvPr/>
              </p:nvSpPr>
              <p:spPr>
                <a:xfrm>
                  <a:off x="7439026" y="2904989"/>
                  <a:ext cx="2879725" cy="1309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defTabSz="1219170"/>
                  <a:r>
                    <a:rPr sz="851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Diagnose</a:t>
                  </a:r>
                </a:p>
              </p:txBody>
            </p:sp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F0402E41-7AA2-6DBB-A192-AA23FDE6BB73}"/>
                  </a:ext>
                </a:extLst>
              </p:cNvPr>
              <p:cNvGrpSpPr/>
              <p:nvPr/>
            </p:nvGrpSpPr>
            <p:grpSpPr>
              <a:xfrm>
                <a:off x="6851650" y="2682971"/>
                <a:ext cx="4572000" cy="190500"/>
                <a:chOff x="6851650" y="2825822"/>
                <a:chExt cx="4572000" cy="190500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72104F1F-BA8D-1D83-73F5-D7FB69C91D41}"/>
                    </a:ext>
                  </a:extLst>
                </p:cNvPr>
                <p:cNvGrpSpPr/>
                <p:nvPr/>
              </p:nvGrpSpPr>
              <p:grpSpPr>
                <a:xfrm>
                  <a:off x="6851650" y="2825822"/>
                  <a:ext cx="4572000" cy="190500"/>
                  <a:chOff x="6838950" y="2667000"/>
                  <a:chExt cx="4572000" cy="190500"/>
                </a:xfrm>
              </p:grpSpPr>
              <p:sp>
                <p:nvSpPr>
                  <p:cNvPr id="103" name="Rounded Rectangle 102">
                    <a:extLst>
                      <a:ext uri="{FF2B5EF4-FFF2-40B4-BE49-F238E27FC236}">
                        <a16:creationId xmlns:a16="http://schemas.microsoft.com/office/drawing/2014/main" id="{AB2E6471-D594-BF76-6CE6-1E4653D14C9F}"/>
                      </a:ext>
                    </a:extLst>
                  </p:cNvPr>
                  <p:cNvSpPr/>
                  <p:nvPr/>
                </p:nvSpPr>
                <p:spPr>
                  <a:xfrm>
                    <a:off x="6838950" y="2667000"/>
                    <a:ext cx="4572000" cy="190500"/>
                  </a:xfrm>
                  <a:prstGeom prst="roundRect">
                    <a:avLst>
                      <a:gd name="adj" fmla="val 20000"/>
                    </a:avLst>
                  </a:prstGeom>
                  <a:gradFill flip="none" rotWithShape="1">
                    <a:gsLst>
                      <a:gs pos="0">
                        <a:srgbClr val="E8D5F5"/>
                      </a:gs>
                      <a:gs pos="100000">
                        <a:srgbClr val="D0B8E8"/>
                      </a:gs>
                    </a:gsLst>
                    <a:lin ang="5400000" scaled="0"/>
                  </a:gra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 defTabSz="1219170"/>
                    <a:endParaRPr>
                      <a:solidFill>
                        <a:prstClr val="white"/>
                      </a:solidFill>
                      <a:latin typeface="Graphik" panose="020B0503030202060203" pitchFamily="34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7EAF1186-6B11-75E8-E426-330B1E085442}"/>
                      </a:ext>
                    </a:extLst>
                  </p:cNvPr>
                  <p:cNvSpPr txBox="1"/>
                  <p:nvPr/>
                </p:nvSpPr>
                <p:spPr>
                  <a:xfrm>
                    <a:off x="6934201" y="2704478"/>
                    <a:ext cx="4381500" cy="1155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r" defTabSz="1219170"/>
                    <a:r>
                      <a:rPr sz="751" b="1">
                        <a:solidFill>
                          <a:srgbClr val="44546A"/>
                        </a:solidFill>
                        <a:latin typeface="Graphik Semibold" panose="020B0703030202060203" pitchFamily="34" charset="0"/>
                      </a:rPr>
                      <a:t>whole repo</a:t>
                    </a:r>
                  </a:p>
                </p:txBody>
              </p:sp>
            </p:grp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80D7419-3851-6A47-F775-C06B458293E8}"/>
                    </a:ext>
                  </a:extLst>
                </p:cNvPr>
                <p:cNvSpPr txBox="1"/>
                <p:nvPr/>
              </p:nvSpPr>
              <p:spPr>
                <a:xfrm>
                  <a:off x="6940550" y="2846011"/>
                  <a:ext cx="3870324" cy="1309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defTabSz="1219170"/>
                  <a:r>
                    <a:rPr sz="851" b="1">
                      <a:solidFill>
                        <a:srgbClr val="44546A"/>
                      </a:solidFill>
                      <a:latin typeface="Graphik Semibold" panose="020B0703030202060203" pitchFamily="34" charset="0"/>
                    </a:rPr>
                    <a:t>QA Bug › Investigate</a:t>
                  </a:r>
                </a:p>
              </p:txBody>
            </p:sp>
          </p:grpSp>
        </p:grpSp>
      </p:grp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5A95848A-2C4E-6142-81D8-0085625A0286}"/>
              </a:ext>
            </a:extLst>
          </p:cNvPr>
          <p:cNvSpPr/>
          <p:nvPr/>
        </p:nvSpPr>
        <p:spPr>
          <a:xfrm>
            <a:off x="6724651" y="4767334"/>
            <a:ext cx="4800600" cy="361951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2255CFF-1B39-3CA1-0CA9-15212B33DB06}"/>
              </a:ext>
            </a:extLst>
          </p:cNvPr>
          <p:cNvSpPr txBox="1"/>
          <p:nvPr/>
        </p:nvSpPr>
        <p:spPr>
          <a:xfrm>
            <a:off x="7124700" y="4814959"/>
            <a:ext cx="3733800" cy="146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951" b="1">
                <a:solidFill>
                  <a:prstClr val="black"/>
                </a:solidFill>
                <a:latin typeface="Graphik Semibold" panose="020B0703030202060203" pitchFamily="34" charset="0"/>
              </a:rPr>
              <a:t>Approve &amp; ship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30F4632-EBB2-A642-601F-76954604F5DD}"/>
              </a:ext>
            </a:extLst>
          </p:cNvPr>
          <p:cNvSpPr txBox="1"/>
          <p:nvPr/>
        </p:nvSpPr>
        <p:spPr>
          <a:xfrm>
            <a:off x="7124700" y="4948310"/>
            <a:ext cx="3733800" cy="130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219170"/>
            <a:r>
              <a:rPr sz="851">
                <a:solidFill>
                  <a:srgbClr val="7B8794"/>
                </a:solidFill>
                <a:latin typeface="Graphik" panose="020B0503030202060203" pitchFamily="34" charset="0"/>
              </a:rPr>
              <a:t>Tests already passed in the agent run.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249F18-0214-CEC7-6D50-67349BB2C41B}"/>
              </a:ext>
            </a:extLst>
          </p:cNvPr>
          <p:cNvGrpSpPr/>
          <p:nvPr/>
        </p:nvGrpSpPr>
        <p:grpSpPr>
          <a:xfrm>
            <a:off x="10953749" y="4853288"/>
            <a:ext cx="476251" cy="171451"/>
            <a:chOff x="10991850" y="4324350"/>
            <a:chExt cx="476250" cy="171450"/>
          </a:xfrm>
        </p:grpSpPr>
        <p:sp>
          <p:nvSpPr>
            <p:cNvPr id="127" name="Rounded Rectangle 126">
              <a:extLst>
                <a:ext uri="{FF2B5EF4-FFF2-40B4-BE49-F238E27FC236}">
                  <a16:creationId xmlns:a16="http://schemas.microsoft.com/office/drawing/2014/main" id="{1E65B0D7-AD12-217F-FFE9-3F9BDB6C2874}"/>
                </a:ext>
              </a:extLst>
            </p:cNvPr>
            <p:cNvSpPr/>
            <p:nvPr/>
          </p:nvSpPr>
          <p:spPr>
            <a:xfrm>
              <a:off x="10991850" y="4324350"/>
              <a:ext cx="476250" cy="171450"/>
            </a:xfrm>
            <a:prstGeom prst="roundRect">
              <a:avLst>
                <a:gd name="adj" fmla="val 27777"/>
              </a:avLst>
            </a:prstGeom>
            <a:solidFill>
              <a:srgbClr val="F0E5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4A3C98D-F38F-4FFA-120D-F8236F4E633E}"/>
                </a:ext>
              </a:extLst>
            </p:cNvPr>
            <p:cNvSpPr txBox="1"/>
            <p:nvPr/>
          </p:nvSpPr>
          <p:spPr>
            <a:xfrm>
              <a:off x="10991850" y="4328725"/>
              <a:ext cx="476250" cy="13849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defTabSz="1219170"/>
              <a:r>
                <a:rPr sz="900" b="1">
                  <a:solidFill>
                    <a:srgbClr val="460073"/>
                  </a:solidFill>
                  <a:latin typeface="Graphik Semibold" panose="020B0703030202060203" pitchFamily="34" charset="0"/>
                </a:rPr>
                <a:t>2 min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96162BB-4C8D-EBF5-1143-04B87E62B160}"/>
              </a:ext>
            </a:extLst>
          </p:cNvPr>
          <p:cNvGrpSpPr/>
          <p:nvPr/>
        </p:nvGrpSpPr>
        <p:grpSpPr>
          <a:xfrm>
            <a:off x="6724651" y="4340237"/>
            <a:ext cx="4800600" cy="361951"/>
            <a:chOff x="6762750" y="4681954"/>
            <a:chExt cx="4800600" cy="361950"/>
          </a:xfrm>
        </p:grpSpPr>
        <p:sp>
          <p:nvSpPr>
            <p:cNvPr id="193" name="Rounded Rectangle 121">
              <a:extLst>
                <a:ext uri="{FF2B5EF4-FFF2-40B4-BE49-F238E27FC236}">
                  <a16:creationId xmlns:a16="http://schemas.microsoft.com/office/drawing/2014/main" id="{E1158E93-FB3E-2D2C-66F0-B870EB0311DF}"/>
                </a:ext>
              </a:extLst>
            </p:cNvPr>
            <p:cNvSpPr/>
            <p:nvPr/>
          </p:nvSpPr>
          <p:spPr>
            <a:xfrm>
              <a:off x="6762750" y="4681954"/>
              <a:ext cx="48006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0494C6CD-A622-A682-2004-0BAF5B32C997}"/>
                </a:ext>
              </a:extLst>
            </p:cNvPr>
            <p:cNvSpPr txBox="1"/>
            <p:nvPr/>
          </p:nvSpPr>
          <p:spPr>
            <a:xfrm>
              <a:off x="7162801" y="4729579"/>
              <a:ext cx="3733800" cy="1463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lang="en-US" sz="951" b="1">
                  <a:solidFill>
                    <a:prstClr val="black"/>
                  </a:solidFill>
                  <a:latin typeface="Graphik Semibold" panose="020B0703030202060203" pitchFamily="34" charset="0"/>
                </a:rPr>
                <a:t>Dev reviews the report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B9657AD-FBAC-F363-5717-214382F8A5B4}"/>
                </a:ext>
              </a:extLst>
            </p:cNvPr>
            <p:cNvSpPr txBox="1"/>
            <p:nvPr/>
          </p:nvSpPr>
          <p:spPr>
            <a:xfrm>
              <a:off x="7162801" y="4862928"/>
              <a:ext cx="3733800" cy="1309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lang="en-US" sz="851">
                  <a:solidFill>
                    <a:srgbClr val="7B8794"/>
                  </a:solidFill>
                  <a:latin typeface="Graphik" panose="020B0503030202060203" pitchFamily="34" charset="0"/>
                </a:rPr>
                <a:t>Reads findings, approves the fix.</a:t>
              </a: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6DE7B9FA-3DB2-6212-2F94-5000FF8FC6D0}"/>
                </a:ext>
              </a:extLst>
            </p:cNvPr>
            <p:cNvGrpSpPr/>
            <p:nvPr/>
          </p:nvGrpSpPr>
          <p:grpSpPr>
            <a:xfrm>
              <a:off x="10991850" y="4767906"/>
              <a:ext cx="476250" cy="171450"/>
              <a:chOff x="10991850" y="4324350"/>
              <a:chExt cx="476250" cy="171450"/>
            </a:xfrm>
          </p:grpSpPr>
          <p:sp>
            <p:nvSpPr>
              <p:cNvPr id="198" name="Rounded Rectangle 126">
                <a:extLst>
                  <a:ext uri="{FF2B5EF4-FFF2-40B4-BE49-F238E27FC236}">
                    <a16:creationId xmlns:a16="http://schemas.microsoft.com/office/drawing/2014/main" id="{D7BEA7EB-5EE2-AA9A-BE84-ED5C099144C7}"/>
                  </a:ext>
                </a:extLst>
              </p:cNvPr>
              <p:cNvSpPr/>
              <p:nvPr/>
            </p:nvSpPr>
            <p:spPr>
              <a:xfrm>
                <a:off x="10991850" y="432435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F0E5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 defTabSz="1219170"/>
                <a:endParaRPr>
                  <a:solidFill>
                    <a:prstClr val="white"/>
                  </a:solidFill>
                  <a:latin typeface="Graphik" panose="020B0503030202060203" pitchFamily="34" charset="0"/>
                </a:endParaRPr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F3B9B18-EBDD-EAC0-2F21-5AD619A4768F}"/>
                  </a:ext>
                </a:extLst>
              </p:cNvPr>
              <p:cNvSpPr txBox="1"/>
              <p:nvPr/>
            </p:nvSpPr>
            <p:spPr>
              <a:xfrm>
                <a:off x="10991850" y="4328725"/>
                <a:ext cx="476250" cy="13849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1219170"/>
                <a:r>
                  <a:rPr lang="en-US" sz="900" b="1">
                    <a:solidFill>
                      <a:srgbClr val="460073"/>
                    </a:solidFill>
                    <a:latin typeface="Graphik Semibold" panose="020B0703030202060203" pitchFamily="34" charset="0"/>
                  </a:rPr>
                  <a:t>3</a:t>
                </a:r>
                <a:r>
                  <a:rPr sz="900" b="1">
                    <a:solidFill>
                      <a:srgbClr val="460073"/>
                    </a:solidFill>
                    <a:latin typeface="Graphik Semibold" panose="020B0703030202060203" pitchFamily="34" charset="0"/>
                  </a:rPr>
                  <a:t> min</a:t>
                </a:r>
              </a:p>
            </p:txBody>
          </p:sp>
        </p:grp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DD680A0-6E5B-942B-046D-8BBF632BFBC1}"/>
              </a:ext>
            </a:extLst>
          </p:cNvPr>
          <p:cNvGrpSpPr/>
          <p:nvPr/>
        </p:nvGrpSpPr>
        <p:grpSpPr>
          <a:xfrm>
            <a:off x="542925" y="5369584"/>
            <a:ext cx="11125200" cy="761141"/>
            <a:chOff x="533400" y="5295916"/>
            <a:chExt cx="11125200" cy="666750"/>
          </a:xfrm>
        </p:grpSpPr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28BA1B6E-F944-24E7-8E58-3C2355DBA888}"/>
                </a:ext>
              </a:extLst>
            </p:cNvPr>
            <p:cNvSpPr/>
            <p:nvPr/>
          </p:nvSpPr>
          <p:spPr>
            <a:xfrm>
              <a:off x="533400" y="5295916"/>
              <a:ext cx="11125200" cy="666750"/>
            </a:xfrm>
            <a:prstGeom prst="roundRect">
              <a:avLst>
                <a:gd name="adj" fmla="val 17142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7030A0"/>
                </a:gs>
              </a:gsLst>
              <a:lin ang="8100000" scaled="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162ABF-F181-8AA3-F7FE-50EDA000D2E8}"/>
                </a:ext>
              </a:extLst>
            </p:cNvPr>
            <p:cNvSpPr txBox="1"/>
            <p:nvPr/>
          </p:nvSpPr>
          <p:spPr>
            <a:xfrm>
              <a:off x="533400" y="5391150"/>
              <a:ext cx="2781300" cy="1012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751" b="1" spc="151">
                  <a:solidFill>
                    <a:srgbClr val="AB71FC"/>
                  </a:solidFill>
                  <a:latin typeface="Graphik" panose="020B0503030202060203" pitchFamily="34" charset="0"/>
                </a:rPr>
                <a:t>COST / BUG: MANUAL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9C7A2A3-50CE-FBDB-51F2-AC029A9233AE}"/>
                </a:ext>
              </a:extLst>
            </p:cNvPr>
            <p:cNvSpPr txBox="1"/>
            <p:nvPr/>
          </p:nvSpPr>
          <p:spPr>
            <a:xfrm>
              <a:off x="533400" y="5546349"/>
              <a:ext cx="2781300" cy="1796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13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$</a:t>
              </a:r>
              <a:r>
                <a:rPr lang="en-US" sz="13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50</a:t>
              </a:r>
              <a:r>
                <a:rPr lang="en-US" sz="9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(IN dev)</a:t>
              </a:r>
              <a:r>
                <a:rPr lang="en-US" sz="13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/$200</a:t>
              </a:r>
              <a:r>
                <a:rPr lang="en-US" sz="9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(US dev)</a:t>
              </a:r>
              <a:endParaRPr sz="1867" b="1">
                <a:solidFill>
                  <a:srgbClr val="FFFFFF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FB5496E-E8FF-97A8-B3F0-2ADBD2C3FC6B}"/>
                </a:ext>
              </a:extLst>
            </p:cNvPr>
            <p:cNvSpPr txBox="1"/>
            <p:nvPr/>
          </p:nvSpPr>
          <p:spPr>
            <a:xfrm>
              <a:off x="533400" y="5772150"/>
              <a:ext cx="2781300" cy="1078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800">
                  <a:solidFill>
                    <a:srgbClr val="E8D5F5"/>
                  </a:solidFill>
                  <a:latin typeface="Graphik" panose="020B0503030202060203" pitchFamily="34" charset="0"/>
                </a:rPr>
                <a:t>75</a:t>
              </a:r>
              <a:r>
                <a:rPr lang="en-US" sz="800">
                  <a:solidFill>
                    <a:srgbClr val="E8D5F5"/>
                  </a:solidFill>
                  <a:latin typeface="Graphik" panose="020B0503030202060203" pitchFamily="34" charset="0"/>
                </a:rPr>
                <a:t> mins</a:t>
              </a:r>
              <a:endParaRPr sz="800">
                <a:solidFill>
                  <a:srgbClr val="E8D5F5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0FFF665-01A0-74BD-B0C3-0DD6FFE6C2FC}"/>
                </a:ext>
              </a:extLst>
            </p:cNvPr>
            <p:cNvSpPr txBox="1"/>
            <p:nvPr/>
          </p:nvSpPr>
          <p:spPr>
            <a:xfrm>
              <a:off x="3314700" y="5391150"/>
              <a:ext cx="2781300" cy="1012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751" b="1" spc="151">
                  <a:solidFill>
                    <a:srgbClr val="AB71FC"/>
                  </a:solidFill>
                  <a:latin typeface="Graphik" panose="020B0503030202060203" pitchFamily="34" charset="0"/>
                </a:rPr>
                <a:t>COST / BUG: VIBE CODING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2B39FC8-3BA6-D1A6-D2E0-E03F4916A93C}"/>
                </a:ext>
              </a:extLst>
            </p:cNvPr>
            <p:cNvSpPr txBox="1"/>
            <p:nvPr/>
          </p:nvSpPr>
          <p:spPr>
            <a:xfrm>
              <a:off x="3305175" y="5546349"/>
              <a:ext cx="2781300" cy="1796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lang="en-US" sz="13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$30</a:t>
              </a:r>
              <a:r>
                <a:rPr lang="en-US" sz="9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(IN dev)</a:t>
              </a:r>
              <a:r>
                <a:rPr lang="en-US" sz="13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/$110</a:t>
              </a:r>
              <a:r>
                <a:rPr lang="en-US" sz="933" b="1">
                  <a:solidFill>
                    <a:srgbClr val="FFFFFF"/>
                  </a:solidFill>
                  <a:latin typeface="Graphik Semibold" panose="020B0703030202060203" pitchFamily="34" charset="0"/>
                </a:rPr>
                <a:t>(US dev)</a:t>
              </a:r>
              <a:endParaRPr sz="933" b="1">
                <a:solidFill>
                  <a:srgbClr val="FFFFFF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379A1D3-9FCB-3EEA-0ED0-959E47D0FF1E}"/>
                </a:ext>
              </a:extLst>
            </p:cNvPr>
            <p:cNvSpPr txBox="1"/>
            <p:nvPr/>
          </p:nvSpPr>
          <p:spPr>
            <a:xfrm>
              <a:off x="3314700" y="5772150"/>
              <a:ext cx="2781300" cy="1078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800">
                  <a:solidFill>
                    <a:srgbClr val="E8D5F5"/>
                  </a:solidFill>
                  <a:latin typeface="Graphik" panose="020B0503030202060203" pitchFamily="34" charset="0"/>
                </a:rPr>
                <a:t>40 min</a:t>
              </a:r>
              <a:r>
                <a:rPr lang="en-US" sz="800">
                  <a:solidFill>
                    <a:srgbClr val="E8D5F5"/>
                  </a:solidFill>
                  <a:latin typeface="Graphik" panose="020B0503030202060203" pitchFamily="34" charset="0"/>
                </a:rPr>
                <a:t>s</a:t>
              </a:r>
              <a:r>
                <a:rPr sz="800">
                  <a:solidFill>
                    <a:srgbClr val="E8D5F5"/>
                  </a:solidFill>
                  <a:latin typeface="Graphik" panose="020B0503030202060203" pitchFamily="34" charset="0"/>
                </a:rPr>
                <a:t> dev + ~$4 AI tokens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49D9411A-772A-18E4-D726-F8BAE5AF2C77}"/>
                </a:ext>
              </a:extLst>
            </p:cNvPr>
            <p:cNvSpPr txBox="1"/>
            <p:nvPr/>
          </p:nvSpPr>
          <p:spPr>
            <a:xfrm>
              <a:off x="6096000" y="5391150"/>
              <a:ext cx="2781300" cy="1012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751" b="1" spc="151">
                  <a:solidFill>
                    <a:srgbClr val="AB71FC"/>
                  </a:solidFill>
                  <a:latin typeface="Graphik" panose="020B0503030202060203" pitchFamily="34" charset="0"/>
                </a:rPr>
                <a:t>COST / BUG: AGENTIC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A1A4532-656C-EB6C-195F-CB22CB8F2CEA}"/>
                </a:ext>
              </a:extLst>
            </p:cNvPr>
            <p:cNvSpPr txBox="1"/>
            <p:nvPr/>
          </p:nvSpPr>
          <p:spPr>
            <a:xfrm>
              <a:off x="6096000" y="5546349"/>
              <a:ext cx="2781300" cy="1796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1333" b="1">
                  <a:solidFill>
                    <a:srgbClr val="FFD966"/>
                  </a:solidFill>
                  <a:latin typeface="Graphik Semibold" panose="020B0703030202060203" pitchFamily="34" charset="0"/>
                </a:rPr>
                <a:t>$</a:t>
              </a:r>
              <a:r>
                <a:rPr lang="en-US" sz="1333" b="1">
                  <a:solidFill>
                    <a:srgbClr val="FFD966"/>
                  </a:solidFill>
                  <a:latin typeface="Graphik Semibold" panose="020B0703030202060203" pitchFamily="34" charset="0"/>
                </a:rPr>
                <a:t>7</a:t>
              </a:r>
              <a:r>
                <a:rPr lang="en-US" sz="933" b="1">
                  <a:solidFill>
                    <a:srgbClr val="FFD966"/>
                  </a:solidFill>
                  <a:latin typeface="Graphik Semibold" panose="020B0703030202060203" pitchFamily="34" charset="0"/>
                </a:rPr>
                <a:t>(IN dev)</a:t>
              </a:r>
              <a:r>
                <a:rPr lang="en-US" sz="1333" b="1">
                  <a:solidFill>
                    <a:srgbClr val="FFD966"/>
                  </a:solidFill>
                  <a:latin typeface="Graphik Semibold" panose="020B0703030202060203" pitchFamily="34" charset="0"/>
                </a:rPr>
                <a:t>/$15</a:t>
              </a:r>
              <a:r>
                <a:rPr lang="en-US" sz="933" b="1">
                  <a:solidFill>
                    <a:srgbClr val="FFD966"/>
                  </a:solidFill>
                  <a:latin typeface="Graphik Semibold" panose="020B0703030202060203" pitchFamily="34" charset="0"/>
                </a:rPr>
                <a:t>(US dev)</a:t>
              </a:r>
              <a:endParaRPr sz="933" b="1">
                <a:solidFill>
                  <a:srgbClr val="FFD966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E583CE0-28F9-CCDC-D273-5F42B0FAF6C4}"/>
                </a:ext>
              </a:extLst>
            </p:cNvPr>
            <p:cNvSpPr txBox="1"/>
            <p:nvPr/>
          </p:nvSpPr>
          <p:spPr>
            <a:xfrm>
              <a:off x="6096000" y="5772150"/>
              <a:ext cx="2781300" cy="1078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800">
                  <a:solidFill>
                    <a:srgbClr val="E8D5F5"/>
                  </a:solidFill>
                  <a:latin typeface="Graphik" panose="020B0503030202060203" pitchFamily="34" charset="0"/>
                </a:rPr>
                <a:t>5 min dev time + ~$2 agent run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929FBA3-7194-62BA-BA62-AEA5BACEA2D6}"/>
                </a:ext>
              </a:extLst>
            </p:cNvPr>
            <p:cNvSpPr txBox="1"/>
            <p:nvPr/>
          </p:nvSpPr>
          <p:spPr>
            <a:xfrm>
              <a:off x="8877300" y="5391150"/>
              <a:ext cx="2781300" cy="1012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751" b="1" spc="151">
                  <a:solidFill>
                    <a:srgbClr val="AB71FC"/>
                  </a:solidFill>
                  <a:latin typeface="Graphik" panose="020B0503030202060203" pitchFamily="34" charset="0"/>
                </a:rPr>
                <a:t>NET SAVINGS: AGENTIC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2BA232B-C35F-72C2-BEDE-620ADC983248}"/>
                </a:ext>
              </a:extLst>
            </p:cNvPr>
            <p:cNvSpPr txBox="1"/>
            <p:nvPr/>
          </p:nvSpPr>
          <p:spPr>
            <a:xfrm>
              <a:off x="8877300" y="5546349"/>
              <a:ext cx="2781300" cy="1796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1333" b="1">
                  <a:solidFill>
                    <a:srgbClr val="FFC000"/>
                  </a:solidFill>
                  <a:latin typeface="Graphik Semibold" panose="020B0703030202060203" pitchFamily="34" charset="0"/>
                </a:rPr>
                <a:t>$</a:t>
              </a:r>
              <a:r>
                <a:rPr lang="en-US" sz="1333" b="1">
                  <a:solidFill>
                    <a:srgbClr val="FFC000"/>
                  </a:solidFill>
                  <a:latin typeface="Graphik Semibold" panose="020B0703030202060203" pitchFamily="34" charset="0"/>
                </a:rPr>
                <a:t>23 </a:t>
              </a:r>
              <a:r>
                <a:rPr lang="en-US" sz="933" b="1">
                  <a:solidFill>
                    <a:srgbClr val="FFC000"/>
                  </a:solidFill>
                  <a:latin typeface="Graphik Semibold" panose="020B0703030202060203" pitchFamily="34" charset="0"/>
                </a:rPr>
                <a:t>(IN dev)</a:t>
              </a:r>
              <a:r>
                <a:rPr lang="en-US" sz="1333" b="1">
                  <a:solidFill>
                    <a:srgbClr val="FFC000"/>
                  </a:solidFill>
                  <a:latin typeface="Graphik Semibold" panose="020B0703030202060203" pitchFamily="34" charset="0"/>
                </a:rPr>
                <a:t>/$95</a:t>
              </a:r>
              <a:r>
                <a:rPr lang="en-US" sz="933" b="1">
                  <a:solidFill>
                    <a:srgbClr val="FFC000"/>
                  </a:solidFill>
                  <a:latin typeface="Graphik Semibold" panose="020B0703030202060203" pitchFamily="34" charset="0"/>
                </a:rPr>
                <a:t>(US dev)</a:t>
              </a:r>
              <a:endParaRPr sz="933" b="1">
                <a:solidFill>
                  <a:srgbClr val="EDE0F5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B5DDFF0-7AF8-C26A-8262-3235A1021332}"/>
                </a:ext>
              </a:extLst>
            </p:cNvPr>
            <p:cNvSpPr txBox="1"/>
            <p:nvPr/>
          </p:nvSpPr>
          <p:spPr>
            <a:xfrm>
              <a:off x="8877300" y="5772150"/>
              <a:ext cx="2781300" cy="1078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defTabSz="1219170"/>
              <a:r>
                <a:rPr sz="800">
                  <a:solidFill>
                    <a:srgbClr val="E8D5F5"/>
                  </a:solidFill>
                  <a:latin typeface="Graphik" panose="020B0503030202060203" pitchFamily="34" charset="0"/>
                </a:rPr>
                <a:t>vs </a:t>
              </a:r>
              <a:r>
                <a:rPr lang="en-US" sz="800">
                  <a:solidFill>
                    <a:srgbClr val="E8D5F5"/>
                  </a:solidFill>
                  <a:latin typeface="Graphik" panose="020B0503030202060203" pitchFamily="34" charset="0"/>
                </a:rPr>
                <a:t>Vibe Coding</a:t>
              </a:r>
              <a:endParaRPr sz="800" b="1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9753FF0-1C2E-16F8-37BE-7089C5D1F75E}"/>
              </a:ext>
            </a:extLst>
          </p:cNvPr>
          <p:cNvSpPr/>
          <p:nvPr/>
        </p:nvSpPr>
        <p:spPr>
          <a:xfrm>
            <a:off x="3324226" y="5600065"/>
            <a:ext cx="9525" cy="691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B6BA3B4-7E16-4F10-4E5A-3F8D51DBBB88}"/>
              </a:ext>
            </a:extLst>
          </p:cNvPr>
          <p:cNvSpPr/>
          <p:nvPr/>
        </p:nvSpPr>
        <p:spPr>
          <a:xfrm>
            <a:off x="6105526" y="5586062"/>
            <a:ext cx="9525" cy="691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6186860-AF00-DDE2-2184-69B748645215}"/>
              </a:ext>
            </a:extLst>
          </p:cNvPr>
          <p:cNvSpPr/>
          <p:nvPr/>
        </p:nvSpPr>
        <p:spPr>
          <a:xfrm>
            <a:off x="8886826" y="5586062"/>
            <a:ext cx="9525" cy="691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defTabSz="1219170"/>
            <a:endParaRPr>
              <a:solidFill>
                <a:prstClr val="white"/>
              </a:solidFill>
              <a:latin typeface="Graphik" panose="020B0503030202060203" pitchFamily="34" charset="0"/>
            </a:endParaRP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CE66F5B-864D-05ED-E54A-1935BC54CF52}"/>
              </a:ext>
            </a:extLst>
          </p:cNvPr>
          <p:cNvGrpSpPr/>
          <p:nvPr/>
        </p:nvGrpSpPr>
        <p:grpSpPr>
          <a:xfrm>
            <a:off x="10962640" y="3058838"/>
            <a:ext cx="476251" cy="171451"/>
            <a:chOff x="10991850" y="4324350"/>
            <a:chExt cx="476250" cy="171450"/>
          </a:xfrm>
        </p:grpSpPr>
        <p:sp>
          <p:nvSpPr>
            <p:cNvPr id="215" name="Rounded Rectangle 126">
              <a:extLst>
                <a:ext uri="{FF2B5EF4-FFF2-40B4-BE49-F238E27FC236}">
                  <a16:creationId xmlns:a16="http://schemas.microsoft.com/office/drawing/2014/main" id="{0C11B386-B159-7339-A277-1B93F6258E8A}"/>
                </a:ext>
              </a:extLst>
            </p:cNvPr>
            <p:cNvSpPr/>
            <p:nvPr/>
          </p:nvSpPr>
          <p:spPr>
            <a:xfrm>
              <a:off x="10991850" y="4324350"/>
              <a:ext cx="476250" cy="171450"/>
            </a:xfrm>
            <a:prstGeom prst="roundRect">
              <a:avLst>
                <a:gd name="adj" fmla="val 27777"/>
              </a:avLst>
            </a:prstGeom>
            <a:solidFill>
              <a:srgbClr val="F0E5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white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78011157-D4EF-907A-F9EE-8011A492F594}"/>
                </a:ext>
              </a:extLst>
            </p:cNvPr>
            <p:cNvSpPr txBox="1"/>
            <p:nvPr/>
          </p:nvSpPr>
          <p:spPr>
            <a:xfrm>
              <a:off x="10991850" y="4328725"/>
              <a:ext cx="476250" cy="13849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 defTabSz="1219170"/>
              <a:r>
                <a:rPr lang="en-US" sz="900" b="1">
                  <a:solidFill>
                    <a:srgbClr val="460073"/>
                  </a:solidFill>
                  <a:latin typeface="Graphik Semibold" panose="020B0703030202060203" pitchFamily="34" charset="0"/>
                </a:rPr>
                <a:t>9</a:t>
              </a:r>
              <a:r>
                <a:rPr sz="900" b="1">
                  <a:solidFill>
                    <a:srgbClr val="460073"/>
                  </a:solidFill>
                  <a:latin typeface="Graphik Semibold" panose="020B0703030202060203" pitchFamily="34" charset="0"/>
                </a:rPr>
                <a:t> min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9F1AD99-B5F8-5547-557C-A2DFC003F49A}"/>
              </a:ext>
            </a:extLst>
          </p:cNvPr>
          <p:cNvGrpSpPr/>
          <p:nvPr/>
        </p:nvGrpSpPr>
        <p:grpSpPr>
          <a:xfrm>
            <a:off x="3695701" y="3156141"/>
            <a:ext cx="2628900" cy="361950"/>
            <a:chOff x="3695700" y="2646290"/>
            <a:chExt cx="2628900" cy="361950"/>
          </a:xfrm>
        </p:grpSpPr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816115AF-9BFD-513C-2F63-5F3BA4E6CA36}"/>
                </a:ext>
              </a:extLst>
            </p:cNvPr>
            <p:cNvSpPr/>
            <p:nvPr/>
          </p:nvSpPr>
          <p:spPr>
            <a:xfrm>
              <a:off x="3695700" y="2646290"/>
              <a:ext cx="26289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black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8DD77DB-02AE-D117-53A5-53369D70C6C2}"/>
                </a:ext>
              </a:extLst>
            </p:cNvPr>
            <p:cNvSpPr txBox="1"/>
            <p:nvPr/>
          </p:nvSpPr>
          <p:spPr>
            <a:xfrm>
              <a:off x="4095751" y="2693915"/>
              <a:ext cx="1562100" cy="1463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sz="951" b="1">
                  <a:solidFill>
                    <a:prstClr val="black"/>
                  </a:solidFill>
                  <a:latin typeface="Graphik Semibold" panose="020B0703030202060203" pitchFamily="34" charset="0"/>
                </a:rPr>
                <a:t>Write the fix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ACBDB45-6DCE-FAB4-A953-3A0C687380DB}"/>
                </a:ext>
              </a:extLst>
            </p:cNvPr>
            <p:cNvSpPr txBox="1"/>
            <p:nvPr/>
          </p:nvSpPr>
          <p:spPr>
            <a:xfrm>
              <a:off x="4095751" y="2827264"/>
              <a:ext cx="1562100" cy="1309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sz="851">
                  <a:solidFill>
                    <a:srgbClr val="7B8794"/>
                  </a:solidFill>
                  <a:latin typeface="Graphik" panose="020B0503030202060203" pitchFamily="34" charset="0"/>
                </a:rPr>
                <a:t>Dev refines the AI draft.</a:t>
              </a:r>
            </a:p>
          </p:txBody>
        </p: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0313A95A-DFC1-26E3-5E0A-7126C60DF256}"/>
                </a:ext>
              </a:extLst>
            </p:cNvPr>
            <p:cNvGrpSpPr/>
            <p:nvPr/>
          </p:nvGrpSpPr>
          <p:grpSpPr>
            <a:xfrm>
              <a:off x="5791200" y="2741540"/>
              <a:ext cx="476250" cy="171450"/>
              <a:chOff x="5791200" y="2741540"/>
              <a:chExt cx="476250" cy="171450"/>
            </a:xfrm>
          </p:grpSpPr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48BDDB62-444E-DFE6-B7D6-9C1035DCA64E}"/>
                  </a:ext>
                </a:extLst>
              </p:cNvPr>
              <p:cNvSpPr/>
              <p:nvPr/>
            </p:nvSpPr>
            <p:spPr>
              <a:xfrm>
                <a:off x="5791200" y="274154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F8F0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 defTabSz="1219170"/>
                <a:endParaRPr>
                  <a:solidFill>
                    <a:prstClr val="black"/>
                  </a:solidFill>
                  <a:latin typeface="Graphik Semibold" panose="020B0703030202060203" pitchFamily="34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27428EA-76E3-D97C-9131-E5B68FD606DC}"/>
                  </a:ext>
                </a:extLst>
              </p:cNvPr>
              <p:cNvSpPr txBox="1"/>
              <p:nvPr/>
            </p:nvSpPr>
            <p:spPr>
              <a:xfrm>
                <a:off x="5791200" y="2758015"/>
                <a:ext cx="4762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1219170"/>
                <a:r>
                  <a:rPr sz="900" b="1">
                    <a:solidFill>
                      <a:prstClr val="black"/>
                    </a:solidFill>
                    <a:latin typeface="Graphik Semibold" panose="020B0703030202060203" pitchFamily="34" charset="0"/>
                  </a:rPr>
                  <a:t>7 min</a:t>
                </a:r>
              </a:p>
            </p:txBody>
          </p:sp>
        </p:grp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76BA35D-6D13-476C-19D7-A5B70ED4C812}"/>
              </a:ext>
            </a:extLst>
          </p:cNvPr>
          <p:cNvGrpSpPr/>
          <p:nvPr/>
        </p:nvGrpSpPr>
        <p:grpSpPr>
          <a:xfrm>
            <a:off x="3695701" y="3586162"/>
            <a:ext cx="2628900" cy="361951"/>
            <a:chOff x="3695700" y="2646290"/>
            <a:chExt cx="2628900" cy="361950"/>
          </a:xfrm>
        </p:grpSpPr>
        <p:sp>
          <p:nvSpPr>
            <p:cNvPr id="221" name="Rounded Rectangle 72">
              <a:extLst>
                <a:ext uri="{FF2B5EF4-FFF2-40B4-BE49-F238E27FC236}">
                  <a16:creationId xmlns:a16="http://schemas.microsoft.com/office/drawing/2014/main" id="{A9FEE63E-3438-393D-C0F5-C1F83FFDE6DC}"/>
                </a:ext>
              </a:extLst>
            </p:cNvPr>
            <p:cNvSpPr/>
            <p:nvPr/>
          </p:nvSpPr>
          <p:spPr>
            <a:xfrm>
              <a:off x="3695700" y="2646290"/>
              <a:ext cx="26289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 defTabSz="1219170"/>
              <a:endParaRPr>
                <a:solidFill>
                  <a:prstClr val="black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D3AA1FF2-E776-3498-9CB7-50C2E946E0CD}"/>
                </a:ext>
              </a:extLst>
            </p:cNvPr>
            <p:cNvSpPr txBox="1"/>
            <p:nvPr/>
          </p:nvSpPr>
          <p:spPr>
            <a:xfrm>
              <a:off x="4095751" y="2693915"/>
              <a:ext cx="1562100" cy="1463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lang="en-US" sz="951" b="1">
                  <a:solidFill>
                    <a:prstClr val="black"/>
                  </a:solidFill>
                  <a:latin typeface="Graphik Semibold" panose="020B0703030202060203" pitchFamily="34" charset="0"/>
                </a:rPr>
                <a:t>Test the fix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C807A60-1E83-7B6F-AAAF-2E77C2FE522F}"/>
                </a:ext>
              </a:extLst>
            </p:cNvPr>
            <p:cNvSpPr txBox="1"/>
            <p:nvPr/>
          </p:nvSpPr>
          <p:spPr>
            <a:xfrm>
              <a:off x="4095751" y="2827264"/>
              <a:ext cx="1562100" cy="1309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defTabSz="1219170"/>
              <a:r>
                <a:rPr lang="en-US" sz="851">
                  <a:solidFill>
                    <a:srgbClr val="7B8794"/>
                  </a:solidFill>
                  <a:latin typeface="Graphik" panose="020B0503030202060203" pitchFamily="34" charset="0"/>
                </a:rPr>
                <a:t>Runs tests to confirm.</a:t>
              </a:r>
            </a:p>
          </p:txBody>
        </p: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FD9A8EFB-14B4-FE6A-1C96-5791BF1740DA}"/>
                </a:ext>
              </a:extLst>
            </p:cNvPr>
            <p:cNvGrpSpPr/>
            <p:nvPr/>
          </p:nvGrpSpPr>
          <p:grpSpPr>
            <a:xfrm>
              <a:off x="5791200" y="2741540"/>
              <a:ext cx="476250" cy="171450"/>
              <a:chOff x="5791200" y="2741540"/>
              <a:chExt cx="476250" cy="171450"/>
            </a:xfrm>
          </p:grpSpPr>
          <p:sp>
            <p:nvSpPr>
              <p:cNvPr id="226" name="Rounded Rectangle 77">
                <a:extLst>
                  <a:ext uri="{FF2B5EF4-FFF2-40B4-BE49-F238E27FC236}">
                    <a16:creationId xmlns:a16="http://schemas.microsoft.com/office/drawing/2014/main" id="{FADD1387-5FDC-0D9F-15B4-C73EDDD229BE}"/>
                  </a:ext>
                </a:extLst>
              </p:cNvPr>
              <p:cNvSpPr/>
              <p:nvPr/>
            </p:nvSpPr>
            <p:spPr>
              <a:xfrm>
                <a:off x="5791200" y="274154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F8F0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 defTabSz="1219170"/>
                <a:endParaRPr>
                  <a:solidFill>
                    <a:prstClr val="black"/>
                  </a:solidFill>
                  <a:latin typeface="Graphik" panose="020B0503030202060203" pitchFamily="34" charset="0"/>
                </a:endParaRP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AB9762E6-754C-2E08-F466-52FA36C33B2B}"/>
                  </a:ext>
                </a:extLst>
              </p:cNvPr>
              <p:cNvSpPr txBox="1"/>
              <p:nvPr/>
            </p:nvSpPr>
            <p:spPr>
              <a:xfrm>
                <a:off x="5791200" y="2758015"/>
                <a:ext cx="476250" cy="13849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1219170"/>
                <a:r>
                  <a:rPr lang="en-US" sz="900" b="1">
                    <a:solidFill>
                      <a:prstClr val="black"/>
                    </a:solidFill>
                    <a:latin typeface="Graphik Semibold" panose="020B0703030202060203" pitchFamily="34" charset="0"/>
                  </a:rPr>
                  <a:t>5</a:t>
                </a:r>
                <a:r>
                  <a:rPr sz="900" b="1">
                    <a:solidFill>
                      <a:prstClr val="black"/>
                    </a:solidFill>
                    <a:latin typeface="Graphik Semibold" panose="020B0703030202060203" pitchFamily="34" charset="0"/>
                  </a:rPr>
                  <a:t> min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E82B9CD-3F47-D261-1E14-65653F06DBA6}"/>
              </a:ext>
            </a:extLst>
          </p:cNvPr>
          <p:cNvSpPr txBox="1"/>
          <p:nvPr/>
        </p:nvSpPr>
        <p:spPr>
          <a:xfrm>
            <a:off x="3562352" y="6092620"/>
            <a:ext cx="51748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800">
                <a:solidFill>
                  <a:prstClr val="black"/>
                </a:solidFill>
                <a:latin typeface="Graphik" panose="020B0503030202060203" pitchFamily="34" charset="0"/>
              </a:rPr>
              <a:t>*Per-run AI costs reflect typical compute. Agent advantage compounds on large, complex codebases.</a:t>
            </a:r>
          </a:p>
        </p:txBody>
      </p:sp>
      <p:pic>
        <p:nvPicPr>
          <p:cNvPr id="84" name="Graphic 83">
            <a:extLst>
              <a:ext uri="{FF2B5EF4-FFF2-40B4-BE49-F238E27FC236}">
                <a16:creationId xmlns:a16="http://schemas.microsoft.com/office/drawing/2014/main" id="{EDA6CED6-C0A3-95C4-EB2C-23316A1FA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1309" y="2224481"/>
            <a:ext cx="226244" cy="226244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E709E1A8-9244-232D-1217-B6CD5F7A6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127" y="2218842"/>
            <a:ext cx="226244" cy="226244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EAD80C85-1949-E29E-F1BE-FA7F49706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02027" y="2579030"/>
            <a:ext cx="226244" cy="226244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2F228338-68E5-87C3-11E1-A7701098C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127" y="2677567"/>
            <a:ext cx="205205" cy="205205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F50A99AC-AD03-8846-87B0-DE23B6C71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3170" y="2736285"/>
            <a:ext cx="244703" cy="244703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8D2417E9-F312-0770-C97F-6806C57A7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09742" y="4410859"/>
            <a:ext cx="226244" cy="226244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51C4C295-49C5-5975-B49F-118654C4AB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2309" y="3241041"/>
            <a:ext cx="220359" cy="220359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B9E4B751-081F-C9EA-7423-63F9CAE9B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127" y="3098321"/>
            <a:ext cx="220359" cy="220359"/>
          </a:xfrm>
          <a:prstGeom prst="rect">
            <a:avLst/>
          </a:prstGeom>
        </p:spPr>
      </p:pic>
      <p:pic>
        <p:nvPicPr>
          <p:cNvPr id="152" name="Graphic 151">
            <a:extLst>
              <a:ext uri="{FF2B5EF4-FFF2-40B4-BE49-F238E27FC236}">
                <a16:creationId xmlns:a16="http://schemas.microsoft.com/office/drawing/2014/main" id="{EA57F7D7-A607-C4A5-E2D3-769A4C1A35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841" y="3501063"/>
            <a:ext cx="250815" cy="250815"/>
          </a:xfrm>
          <a:prstGeom prst="rect">
            <a:avLst/>
          </a:prstGeom>
        </p:spPr>
      </p:pic>
      <p:pic>
        <p:nvPicPr>
          <p:cNvPr id="153" name="Graphic 152">
            <a:extLst>
              <a:ext uri="{FF2B5EF4-FFF2-40B4-BE49-F238E27FC236}">
                <a16:creationId xmlns:a16="http://schemas.microsoft.com/office/drawing/2014/main" id="{93CA3C03-1697-FC57-0EC3-5750E785E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7777" y="4822901"/>
            <a:ext cx="250815" cy="250815"/>
          </a:xfrm>
          <a:prstGeom prst="rect">
            <a:avLst/>
          </a:prstGeom>
        </p:spPr>
      </p:pic>
      <p:pic>
        <p:nvPicPr>
          <p:cNvPr id="154" name="Graphic 153">
            <a:extLst>
              <a:ext uri="{FF2B5EF4-FFF2-40B4-BE49-F238E27FC236}">
                <a16:creationId xmlns:a16="http://schemas.microsoft.com/office/drawing/2014/main" id="{7460186F-8B41-421F-21E5-1EE41D32B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1901" y="3643822"/>
            <a:ext cx="250815" cy="250815"/>
          </a:xfrm>
          <a:prstGeom prst="rect">
            <a:avLst/>
          </a:prstGeom>
        </p:spPr>
      </p:pic>
      <p:pic>
        <p:nvPicPr>
          <p:cNvPr id="156" name="Graphic 155">
            <a:extLst>
              <a:ext uri="{FF2B5EF4-FFF2-40B4-BE49-F238E27FC236}">
                <a16:creationId xmlns:a16="http://schemas.microsoft.com/office/drawing/2014/main" id="{76425BEE-A021-5BE3-8CB2-A20E8CA17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3618" y="3019189"/>
            <a:ext cx="226244" cy="226244"/>
          </a:xfrm>
          <a:prstGeom prst="rect">
            <a:avLst/>
          </a:prstGeom>
        </p:spPr>
      </p:pic>
      <p:sp>
        <p:nvSpPr>
          <p:cNvPr id="159" name="F1">
            <a:extLst>
              <a:ext uri="{FF2B5EF4-FFF2-40B4-BE49-F238E27FC236}">
                <a16:creationId xmlns:a16="http://schemas.microsoft.com/office/drawing/2014/main" id="{D654681F-076E-338A-139A-D68FFAE75001}"/>
              </a:ext>
            </a:extLst>
          </p:cNvPr>
          <p:cNvSpPr>
            <a:spLocks/>
          </p:cNvSpPr>
          <p:nvPr/>
        </p:nvSpPr>
        <p:spPr>
          <a:xfrm>
            <a:off x="365760" y="6217920"/>
            <a:ext cx="487680" cy="487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defTabSz="1219170"/>
            <a:r>
              <a:rPr lang="en-US" sz="2933" b="1">
                <a:solidFill>
                  <a:srgbClr val="A100FF"/>
                </a:solidFill>
                <a:latin typeface="Graphik"/>
              </a:rPr>
              <a:t>&gt;</a:t>
            </a:r>
          </a:p>
        </p:txBody>
      </p:sp>
      <p:sp>
        <p:nvSpPr>
          <p:cNvPr id="162" name="Footer Placeholder 5">
            <a:extLst>
              <a:ext uri="{FF2B5EF4-FFF2-40B4-BE49-F238E27FC236}">
                <a16:creationId xmlns:a16="http://schemas.microsoft.com/office/drawing/2014/main" id="{9A606E6F-AC46-DF5A-1986-96639E498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0287" y="6356351"/>
            <a:ext cx="4114800" cy="365125"/>
          </a:xfrm>
        </p:spPr>
        <p:txBody>
          <a:bodyPr/>
          <a:lstStyle/>
          <a:p>
            <a:pPr algn="r" defTabSz="1219170"/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Copyright © 2026 Accenture. All rights reserved.</a:t>
            </a:r>
          </a:p>
        </p:txBody>
      </p:sp>
      <p:sp>
        <p:nvSpPr>
          <p:cNvPr id="163" name="Slide Number Placeholder 8">
            <a:extLst>
              <a:ext uri="{FF2B5EF4-FFF2-40B4-BE49-F238E27FC236}">
                <a16:creationId xmlns:a16="http://schemas.microsoft.com/office/drawing/2014/main" id="{36FD5513-FAEB-878D-01D5-3397F0DDF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7467" y="6356351"/>
            <a:ext cx="427181" cy="365125"/>
          </a:xfrm>
        </p:spPr>
        <p:txBody>
          <a:bodyPr/>
          <a:lstStyle/>
          <a:p>
            <a:pPr defTabSz="1219170"/>
            <a:fld id="{48F63A3B-78C7-47BE-AE5E-E10140E04643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1219170"/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0294CA75-709E-62DF-2CAE-BF423D22A12C}"/>
              </a:ext>
            </a:extLst>
          </p:cNvPr>
          <p:cNvSpPr/>
          <p:nvPr/>
        </p:nvSpPr>
        <p:spPr>
          <a:xfrm>
            <a:off x="572089" y="243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Bug Diagnosis and Resolution Multi-Agent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26C11-3399-02ED-E52A-F0B181A1AA4B}"/>
              </a:ext>
            </a:extLst>
          </p:cNvPr>
          <p:cNvSpPr txBox="1"/>
          <p:nvPr/>
        </p:nvSpPr>
        <p:spPr>
          <a:xfrm>
            <a:off x="483036" y="6599178"/>
            <a:ext cx="1446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800">
                <a:solidFill>
                  <a:prstClr val="black"/>
                </a:solidFill>
                <a:latin typeface="Graphik" panose="020B0503030202060203" pitchFamily="34" charset="0"/>
              </a:rPr>
              <a:t>Source: Primary Research</a:t>
            </a:r>
          </a:p>
        </p:txBody>
      </p:sp>
    </p:spTree>
    <p:extLst>
      <p:ext uri="{BB962C8B-B14F-4D97-AF65-F5344CB8AC3E}">
        <p14:creationId xmlns:p14="http://schemas.microsoft.com/office/powerpoint/2010/main" val="471217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Widescreen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Graphik</vt:lpstr>
      <vt:lpstr>Graphik Semibold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Himanshu, Himanshu</dc:creator>
  <cp:lastModifiedBy>Himanshu, Himanshu</cp:lastModifiedBy>
  <cp:revision>1</cp:revision>
  <dcterms:created xsi:type="dcterms:W3CDTF">2026-05-26T11:23:18Z</dcterms:created>
  <dcterms:modified xsi:type="dcterms:W3CDTF">2026-05-26T13:40:52Z</dcterms:modified>
</cp:coreProperties>
</file>